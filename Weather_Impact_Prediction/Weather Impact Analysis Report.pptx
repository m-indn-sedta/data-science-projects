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91" r:id="rId3"/>
    <p:sldId id="292" r:id="rId4"/>
    <p:sldId id="257" r:id="rId5"/>
    <p:sldId id="314" r:id="rId6"/>
    <p:sldId id="324" r:id="rId7"/>
    <p:sldId id="318" r:id="rId8"/>
    <p:sldId id="323" r:id="rId9"/>
    <p:sldId id="325" r:id="rId10"/>
    <p:sldId id="317" r:id="rId11"/>
    <p:sldId id="321" r:id="rId12"/>
    <p:sldId id="326" r:id="rId13"/>
    <p:sldId id="320" r:id="rId14"/>
    <p:sldId id="327" r:id="rId15"/>
    <p:sldId id="328" r:id="rId16"/>
    <p:sldId id="329" r:id="rId17"/>
    <p:sldId id="332" r:id="rId18"/>
    <p:sldId id="333" r:id="rId19"/>
    <p:sldId id="334" r:id="rId20"/>
    <p:sldId id="335" r:id="rId21"/>
    <p:sldId id="336" r:id="rId22"/>
    <p:sldId id="337" r:id="rId23"/>
    <p:sldId id="338"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4472C4"/>
    <a:srgbClr val="BDD7EE"/>
    <a:srgbClr val="9D87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75" d="100"/>
          <a:sy n="75" d="100"/>
        </p:scale>
        <p:origin x="965"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77FDA9-FBCD-4689-B8E9-84058218D47B}"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5E1CD-D5C2-4E7F-9782-93A3F3066127}" type="slidenum">
              <a:rPr lang="en-US" smtClean="0"/>
              <a:t>‹#›</a:t>
            </a:fld>
            <a:endParaRPr lang="en-US"/>
          </a:p>
        </p:txBody>
      </p:sp>
    </p:spTree>
    <p:extLst>
      <p:ext uri="{BB962C8B-B14F-4D97-AF65-F5344CB8AC3E}">
        <p14:creationId xmlns:p14="http://schemas.microsoft.com/office/powerpoint/2010/main" val="358487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2724-F0E0-4915-A620-695E8F1ACF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3ED2B3-A9AD-4218-834C-3543891931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D2F14-306E-445E-85E3-8487FF20FF61}"/>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5" name="Footer Placeholder 4">
            <a:extLst>
              <a:ext uri="{FF2B5EF4-FFF2-40B4-BE49-F238E27FC236}">
                <a16:creationId xmlns:a16="http://schemas.microsoft.com/office/drawing/2014/main" id="{BD2A38A8-F1F8-4E09-BE36-A886C4BD0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89D22-0BB1-43A7-9773-A05FE6D1982D}"/>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3695138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9FFC-B07E-4021-8A87-21BBDA67D5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ED4F85-6AD3-440B-8337-6A6E0C438E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218037-4720-4103-9586-53973E8DE1EF}"/>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5" name="Footer Placeholder 4">
            <a:extLst>
              <a:ext uri="{FF2B5EF4-FFF2-40B4-BE49-F238E27FC236}">
                <a16:creationId xmlns:a16="http://schemas.microsoft.com/office/drawing/2014/main" id="{AB26FAA1-6840-4409-8FF9-7445335518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9B7C4C-99A4-4C10-8260-F65C1528A66F}"/>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983137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4940A-5B41-436C-AEF8-3A82B087E3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6AC7DB-56ED-482F-A923-7110CCECD3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FB1CBF-64D9-4045-9631-45A055DD2F13}"/>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5" name="Footer Placeholder 4">
            <a:extLst>
              <a:ext uri="{FF2B5EF4-FFF2-40B4-BE49-F238E27FC236}">
                <a16:creationId xmlns:a16="http://schemas.microsoft.com/office/drawing/2014/main" id="{7334DCBD-5D4F-48C1-97DD-6372C1A24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99E532-CB74-49CA-8627-57497BCFAB17}"/>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154982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85E9-D55A-453E-9295-ABEFEE9881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DD2EA0-F7EB-4A10-AB06-C84CACD95A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84AD23-18A1-4E27-BA03-E1FEE31B47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83D2EC-4E2C-4D97-B2C2-83115CD75436}"/>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6" name="Footer Placeholder 5">
            <a:extLst>
              <a:ext uri="{FF2B5EF4-FFF2-40B4-BE49-F238E27FC236}">
                <a16:creationId xmlns:a16="http://schemas.microsoft.com/office/drawing/2014/main" id="{FC9493EA-74CD-40BA-B282-DC8E920752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ACFE0A-3A5B-45B0-85B4-282010648358}"/>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3061436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56850-C826-4B89-8BF9-B3C761894D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4F08DE-8E8D-4CE3-B2AA-2088054D7B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F66CBF-7D16-40F1-9CAD-044676E217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55C72E-47BB-4A0C-BA63-88976E2D54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8C687E-FD1C-4B3F-92DE-08CB81785F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556196-165A-407B-B92A-C1194E1C5BE3}"/>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8" name="Footer Placeholder 7">
            <a:extLst>
              <a:ext uri="{FF2B5EF4-FFF2-40B4-BE49-F238E27FC236}">
                <a16:creationId xmlns:a16="http://schemas.microsoft.com/office/drawing/2014/main" id="{2BDA5F7A-28AB-4ADE-A9CD-6463C25215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7A7735-D9C3-4871-8037-A26FDCB9EFC8}"/>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316216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8E5F-4BBA-4251-AF0C-D6F5F8D1C9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6A3ABE-2AB7-433D-9651-A829FED92E59}"/>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4" name="Footer Placeholder 3">
            <a:extLst>
              <a:ext uri="{FF2B5EF4-FFF2-40B4-BE49-F238E27FC236}">
                <a16:creationId xmlns:a16="http://schemas.microsoft.com/office/drawing/2014/main" id="{B04703ED-DB56-4F86-B169-86E613F20E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003C40-18BA-449A-98D5-59F09047EA3F}"/>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891585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25D209-9B73-4D84-BD92-0EF122B0A352}"/>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3" name="Footer Placeholder 2">
            <a:extLst>
              <a:ext uri="{FF2B5EF4-FFF2-40B4-BE49-F238E27FC236}">
                <a16:creationId xmlns:a16="http://schemas.microsoft.com/office/drawing/2014/main" id="{7ADBF7C4-35B5-4FFF-AECB-CDA63DF03C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0063D3-4832-470E-84F1-C3CE186260D1}"/>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535396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39F46-E959-441C-9062-B2C703EEB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DB1F66-2737-4D64-AF77-B379FA5198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26D999-C920-4D84-ABBE-588FE14C8E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A05577-EAE4-455A-B697-DA0200968297}"/>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6" name="Footer Placeholder 5">
            <a:extLst>
              <a:ext uri="{FF2B5EF4-FFF2-40B4-BE49-F238E27FC236}">
                <a16:creationId xmlns:a16="http://schemas.microsoft.com/office/drawing/2014/main" id="{CAA08372-F0AE-4BEC-B457-91C9E29EB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EBD426-811F-451B-BED3-E377D8991F0C}"/>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2070939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11E0D-4FD3-4528-B42E-7D9975813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E16084-A432-46F5-B373-67EC899B8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32CB4D-A243-47F9-A87D-A57C15055D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9B620C-9CBB-4B93-AE65-E4034117F25F}"/>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6" name="Footer Placeholder 5">
            <a:extLst>
              <a:ext uri="{FF2B5EF4-FFF2-40B4-BE49-F238E27FC236}">
                <a16:creationId xmlns:a16="http://schemas.microsoft.com/office/drawing/2014/main" id="{0BAC1FE8-3E2D-4C9B-8024-6EFA706F1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C0B23-D833-4612-9AA6-DF5C84F17A70}"/>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1454625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9D516-8282-411B-ACBA-F9B4B0A14E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EE0081-F3D3-42D3-AECF-A5C631DF09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584683-3E25-49D3-BBC2-0C4FC9901E2B}"/>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5" name="Footer Placeholder 4">
            <a:extLst>
              <a:ext uri="{FF2B5EF4-FFF2-40B4-BE49-F238E27FC236}">
                <a16:creationId xmlns:a16="http://schemas.microsoft.com/office/drawing/2014/main" id="{B0B2E414-5693-4D75-B55F-A2F63D69E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37C1FC-08FB-4E35-BF8A-4B52D423A115}"/>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2055655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4D9D7B-45E6-451F-83AF-C4021F290D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D23373-65B8-4C33-BCAC-7E55D116A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3DB847-EDAF-49AD-B4CE-4903740A5CF2}"/>
              </a:ext>
            </a:extLst>
          </p:cNvPr>
          <p:cNvSpPr>
            <a:spLocks noGrp="1"/>
          </p:cNvSpPr>
          <p:nvPr>
            <p:ph type="dt" sz="half" idx="10"/>
          </p:nvPr>
        </p:nvSpPr>
        <p:spPr/>
        <p:txBody>
          <a:bodyPr/>
          <a:lstStyle/>
          <a:p>
            <a:fld id="{D9528384-BCFF-4CD2-87C9-B21325CF45C8}" type="datetimeFigureOut">
              <a:rPr lang="en-US" smtClean="0"/>
              <a:t>10/16/2025</a:t>
            </a:fld>
            <a:endParaRPr lang="en-US"/>
          </a:p>
        </p:txBody>
      </p:sp>
      <p:sp>
        <p:nvSpPr>
          <p:cNvPr id="5" name="Footer Placeholder 4">
            <a:extLst>
              <a:ext uri="{FF2B5EF4-FFF2-40B4-BE49-F238E27FC236}">
                <a16:creationId xmlns:a16="http://schemas.microsoft.com/office/drawing/2014/main" id="{C8740066-7663-4E71-ACD8-8F2B6D13E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D92D2-15B8-48FF-AD84-37621A069E2F}"/>
              </a:ext>
            </a:extLst>
          </p:cNvPr>
          <p:cNvSpPr>
            <a:spLocks noGrp="1"/>
          </p:cNvSpPr>
          <p:nvPr>
            <p:ph type="sldNum" sz="quarter" idx="12"/>
          </p:nvPr>
        </p:nvSpPr>
        <p:spPr/>
        <p:txBody>
          <a:bodyPr/>
          <a:lstStyle/>
          <a:p>
            <a:fld id="{A1939204-BF2B-4272-8C22-9C01132AF33A}" type="slidenum">
              <a:rPr lang="en-US" smtClean="0"/>
              <a:t>‹#›</a:t>
            </a:fld>
            <a:endParaRPr lang="en-US"/>
          </a:p>
        </p:txBody>
      </p:sp>
    </p:spTree>
    <p:extLst>
      <p:ext uri="{BB962C8B-B14F-4D97-AF65-F5344CB8AC3E}">
        <p14:creationId xmlns:p14="http://schemas.microsoft.com/office/powerpoint/2010/main" val="101953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8" name="Picture 7" descr="Close-up of flamingo feathers">
            <a:extLst>
              <a:ext uri="{FF2B5EF4-FFF2-40B4-BE49-F238E27FC236}">
                <a16:creationId xmlns:a16="http://schemas.microsoft.com/office/drawing/2014/main" id="{84224156-DF97-27B4-F5A6-C479644E9983}"/>
              </a:ext>
            </a:extLst>
          </p:cNvPr>
          <p:cNvPicPr>
            <a:picLocks noChangeAspect="1"/>
          </p:cNvPicPr>
          <p:nvPr userDrawn="1"/>
        </p:nvPicPr>
        <p:blipFill rotWithShape="1">
          <a:blip r:embed="rId2">
            <a:alphaModFix amt="55000"/>
          </a:blip>
          <a:srcRect b="14856"/>
          <a:stretch/>
        </p:blipFill>
        <p:spPr>
          <a:xfrm>
            <a:off x="0" y="0"/>
            <a:ext cx="12192000" cy="6858000"/>
          </a:xfrm>
          <a:prstGeom prst="rect">
            <a:avLst/>
          </a:prstGeom>
        </p:spPr>
      </p:pic>
      <p:sp>
        <p:nvSpPr>
          <p:cNvPr id="11" name="Rounded Rectangle 8">
            <a:extLst>
              <a:ext uri="{FF2B5EF4-FFF2-40B4-BE49-F238E27FC236}">
                <a16:creationId xmlns:a16="http://schemas.microsoft.com/office/drawing/2014/main" id="{DCE22C9A-30B6-12EB-423C-34454BE2D734}"/>
              </a:ext>
            </a:extLst>
          </p:cNvPr>
          <p:cNvSpPr/>
          <p:nvPr userDrawn="1"/>
        </p:nvSpPr>
        <p:spPr>
          <a:xfrm rot="16200000">
            <a:off x="3838487" y="-1434547"/>
            <a:ext cx="4515026" cy="9727095"/>
          </a:xfrm>
          <a:prstGeom prst="roundRect">
            <a:avLst>
              <a:gd name="adj" fmla="val 50000"/>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98D42636-F625-5B2A-E7CC-9D70418A2BFC}"/>
              </a:ext>
            </a:extLst>
          </p:cNvPr>
          <p:cNvSpPr>
            <a:spLocks noGrp="1"/>
          </p:cNvSpPr>
          <p:nvPr>
            <p:ph type="ctrTitle"/>
          </p:nvPr>
        </p:nvSpPr>
        <p:spPr>
          <a:xfrm>
            <a:off x="2075688" y="1510442"/>
            <a:ext cx="8037576" cy="3837115"/>
          </a:xfrm>
        </p:spPr>
        <p:txBody>
          <a:bodyPr anchor="ctr">
            <a:noAutofit/>
          </a:bodyPr>
          <a:lstStyle>
            <a:lvl1pPr algn="ctr">
              <a:defRPr sz="4800"/>
            </a:lvl1pPr>
          </a:lstStyle>
          <a:p>
            <a:r>
              <a:rPr lang="en-US"/>
              <a:t>Click to edit Master title style</a:t>
            </a:r>
            <a:endParaRPr lang="en-US" dirty="0"/>
          </a:p>
        </p:txBody>
      </p:sp>
      <p:sp>
        <p:nvSpPr>
          <p:cNvPr id="6" name="Rounded Rectangle 10">
            <a:extLst>
              <a:ext uri="{FF2B5EF4-FFF2-40B4-BE49-F238E27FC236}">
                <a16:creationId xmlns:a16="http://schemas.microsoft.com/office/drawing/2014/main" id="{C8CEB3A4-8583-3114-2BDD-D7AE1CABCD1D}"/>
              </a:ext>
            </a:extLst>
          </p:cNvPr>
          <p:cNvSpPr/>
          <p:nvPr userDrawn="1"/>
        </p:nvSpPr>
        <p:spPr>
          <a:xfrm rot="16200000">
            <a:off x="4177443" y="-1088756"/>
            <a:ext cx="3837115" cy="9035512"/>
          </a:xfrm>
          <a:prstGeom prst="roundRect">
            <a:avLst>
              <a:gd name="adj" fmla="val 5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3292473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sp>
        <p:nvSpPr>
          <p:cNvPr id="36" name="Freeform: Shape 35">
            <a:extLst>
              <a:ext uri="{FF2B5EF4-FFF2-40B4-BE49-F238E27FC236}">
                <a16:creationId xmlns:a16="http://schemas.microsoft.com/office/drawing/2014/main" id="{5D5913B7-7EE8-A67C-928F-0117A5BBB2F9}"/>
              </a:ext>
            </a:extLst>
          </p:cNvPr>
          <p:cNvSpPr/>
          <p:nvPr userDrawn="1"/>
        </p:nvSpPr>
        <p:spPr>
          <a:xfrm rot="5400000">
            <a:off x="9434872" y="-1570777"/>
            <a:ext cx="1312335" cy="4372608"/>
          </a:xfrm>
          <a:custGeom>
            <a:avLst/>
            <a:gdLst>
              <a:gd name="connsiteX0" fmla="*/ 0 w 1312335"/>
              <a:gd name="connsiteY0" fmla="*/ 4345730 h 4372608"/>
              <a:gd name="connsiteX1" fmla="*/ 0 w 1312335"/>
              <a:gd name="connsiteY1" fmla="*/ 0 h 4372608"/>
              <a:gd name="connsiteX2" fmla="*/ 1312335 w 1312335"/>
              <a:gd name="connsiteY2" fmla="*/ 0 h 4372608"/>
              <a:gd name="connsiteX3" fmla="*/ 1312334 w 1312335"/>
              <a:gd name="connsiteY3" fmla="*/ 3293684 h 4372608"/>
              <a:gd name="connsiteX4" fmla="*/ 233409 w 1312335"/>
              <a:gd name="connsiteY4" fmla="*/ 4372608 h 4372608"/>
              <a:gd name="connsiteX5" fmla="*/ 233410 w 1312335"/>
              <a:gd name="connsiteY5" fmla="*/ 4372607 h 4372608"/>
              <a:gd name="connsiteX6" fmla="*/ 15969 w 1312335"/>
              <a:gd name="connsiteY6" fmla="*/ 4350687 h 437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2335" h="4372608">
                <a:moveTo>
                  <a:pt x="0" y="4345730"/>
                </a:moveTo>
                <a:lnTo>
                  <a:pt x="0" y="0"/>
                </a:lnTo>
                <a:lnTo>
                  <a:pt x="1312335" y="0"/>
                </a:lnTo>
                <a:lnTo>
                  <a:pt x="1312334" y="3293684"/>
                </a:lnTo>
                <a:cubicBezTo>
                  <a:pt x="1312334" y="3889557"/>
                  <a:pt x="829283" y="4372608"/>
                  <a:pt x="233409" y="4372608"/>
                </a:cubicBezTo>
                <a:lnTo>
                  <a:pt x="233410" y="4372607"/>
                </a:lnTo>
                <a:cubicBezTo>
                  <a:pt x="158926" y="4372607"/>
                  <a:pt x="86204" y="4365059"/>
                  <a:pt x="15969" y="4350687"/>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59D905E1-DD26-B51A-8140-2DF28080849B}"/>
              </a:ext>
            </a:extLst>
          </p:cNvPr>
          <p:cNvSpPr/>
          <p:nvPr userDrawn="1"/>
        </p:nvSpPr>
        <p:spPr>
          <a:xfrm rot="5400000">
            <a:off x="9590019" y="-1557294"/>
            <a:ext cx="1170671" cy="4203978"/>
          </a:xfrm>
          <a:custGeom>
            <a:avLst/>
            <a:gdLst>
              <a:gd name="connsiteX0" fmla="*/ 0 w 1170671"/>
              <a:gd name="connsiteY0" fmla="*/ 4171116 h 4203978"/>
              <a:gd name="connsiteX1" fmla="*/ 0 w 1170671"/>
              <a:gd name="connsiteY1" fmla="*/ 0 h 4203978"/>
              <a:gd name="connsiteX2" fmla="*/ 1170671 w 1170671"/>
              <a:gd name="connsiteY2" fmla="*/ 0 h 4203978"/>
              <a:gd name="connsiteX3" fmla="*/ 1170670 w 1170671"/>
              <a:gd name="connsiteY3" fmla="*/ 3266718 h 4203978"/>
              <a:gd name="connsiteX4" fmla="*/ 233410 w 1170671"/>
              <a:gd name="connsiteY4" fmla="*/ 4203978 h 4203978"/>
              <a:gd name="connsiteX5" fmla="*/ 233411 w 1170671"/>
              <a:gd name="connsiteY5" fmla="*/ 4203977 h 4203978"/>
              <a:gd name="connsiteX6" fmla="*/ 44521 w 1170671"/>
              <a:gd name="connsiteY6" fmla="*/ 4184935 h 4203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0671" h="4203978">
                <a:moveTo>
                  <a:pt x="0" y="4171116"/>
                </a:moveTo>
                <a:lnTo>
                  <a:pt x="0" y="0"/>
                </a:lnTo>
                <a:lnTo>
                  <a:pt x="1170671" y="0"/>
                </a:lnTo>
                <a:lnTo>
                  <a:pt x="1170670" y="3266718"/>
                </a:lnTo>
                <a:cubicBezTo>
                  <a:pt x="1170670" y="3784352"/>
                  <a:pt x="751044" y="4203978"/>
                  <a:pt x="233410" y="4203978"/>
                </a:cubicBezTo>
                <a:lnTo>
                  <a:pt x="233411" y="4203977"/>
                </a:lnTo>
                <a:cubicBezTo>
                  <a:pt x="168707" y="4203977"/>
                  <a:pt x="105534" y="4197420"/>
                  <a:pt x="44521" y="4184935"/>
                </a:cubicBezTo>
                <a:close/>
              </a:path>
            </a:pathLst>
          </a:cu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7B966588-24CA-0EF2-37F4-14AC72EB1306}"/>
              </a:ext>
            </a:extLst>
          </p:cNvPr>
          <p:cNvSpPr/>
          <p:nvPr userDrawn="1"/>
        </p:nvSpPr>
        <p:spPr>
          <a:xfrm rot="5400000">
            <a:off x="9012114" y="165991"/>
            <a:ext cx="2157850" cy="4372608"/>
          </a:xfrm>
          <a:custGeom>
            <a:avLst/>
            <a:gdLst>
              <a:gd name="connsiteX0" fmla="*/ 0 w 2157850"/>
              <a:gd name="connsiteY0" fmla="*/ 3293682 h 4372608"/>
              <a:gd name="connsiteX1" fmla="*/ 0 w 2157850"/>
              <a:gd name="connsiteY1" fmla="*/ 0 h 4372608"/>
              <a:gd name="connsiteX2" fmla="*/ 2157850 w 2157850"/>
              <a:gd name="connsiteY2" fmla="*/ 0 h 4372608"/>
              <a:gd name="connsiteX3" fmla="*/ 2157849 w 2157850"/>
              <a:gd name="connsiteY3" fmla="*/ 3293683 h 4372608"/>
              <a:gd name="connsiteX4" fmla="*/ 1078924 w 2157850"/>
              <a:gd name="connsiteY4" fmla="*/ 4372608 h 4372608"/>
              <a:gd name="connsiteX5" fmla="*/ 1078925 w 2157850"/>
              <a:gd name="connsiteY5" fmla="*/ 4372607 h 4372608"/>
              <a:gd name="connsiteX6" fmla="*/ 0 w 2157850"/>
              <a:gd name="connsiteY6" fmla="*/ 3293682 h 437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7850" h="4372608">
                <a:moveTo>
                  <a:pt x="0" y="3293682"/>
                </a:moveTo>
                <a:lnTo>
                  <a:pt x="0" y="0"/>
                </a:lnTo>
                <a:lnTo>
                  <a:pt x="2157850" y="0"/>
                </a:lnTo>
                <a:lnTo>
                  <a:pt x="2157849" y="3293683"/>
                </a:lnTo>
                <a:cubicBezTo>
                  <a:pt x="2157849" y="3889557"/>
                  <a:pt x="1674798" y="4372608"/>
                  <a:pt x="1078924" y="4372608"/>
                </a:cubicBezTo>
                <a:lnTo>
                  <a:pt x="1078925" y="4372607"/>
                </a:lnTo>
                <a:cubicBezTo>
                  <a:pt x="483051" y="4372607"/>
                  <a:pt x="0" y="3889556"/>
                  <a:pt x="0" y="329368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F04C538B-EF4C-760B-09A7-8C0A6F456BEA}"/>
              </a:ext>
            </a:extLst>
          </p:cNvPr>
          <p:cNvSpPr/>
          <p:nvPr userDrawn="1"/>
        </p:nvSpPr>
        <p:spPr>
          <a:xfrm rot="5400000">
            <a:off x="9245715" y="257928"/>
            <a:ext cx="1874520" cy="4188737"/>
          </a:xfrm>
          <a:custGeom>
            <a:avLst/>
            <a:gdLst>
              <a:gd name="connsiteX0" fmla="*/ 0 w 1874520"/>
              <a:gd name="connsiteY0" fmla="*/ 3251476 h 4188737"/>
              <a:gd name="connsiteX1" fmla="*/ 0 w 1874520"/>
              <a:gd name="connsiteY1" fmla="*/ 0 h 4188737"/>
              <a:gd name="connsiteX2" fmla="*/ 1874520 w 1874520"/>
              <a:gd name="connsiteY2" fmla="*/ 0 h 4188737"/>
              <a:gd name="connsiteX3" fmla="*/ 1874519 w 1874520"/>
              <a:gd name="connsiteY3" fmla="*/ 3251478 h 4188737"/>
              <a:gd name="connsiteX4" fmla="*/ 937259 w 1874520"/>
              <a:gd name="connsiteY4" fmla="*/ 4188737 h 4188737"/>
              <a:gd name="connsiteX5" fmla="*/ 937260 w 1874520"/>
              <a:gd name="connsiteY5" fmla="*/ 4188736 h 4188737"/>
              <a:gd name="connsiteX6" fmla="*/ 0 w 1874520"/>
              <a:gd name="connsiteY6" fmla="*/ 3251476 h 418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520" h="4188737">
                <a:moveTo>
                  <a:pt x="0" y="3251476"/>
                </a:moveTo>
                <a:lnTo>
                  <a:pt x="0" y="0"/>
                </a:lnTo>
                <a:lnTo>
                  <a:pt x="1874520" y="0"/>
                </a:lnTo>
                <a:lnTo>
                  <a:pt x="1874519" y="3251478"/>
                </a:lnTo>
                <a:cubicBezTo>
                  <a:pt x="1874519" y="3769112"/>
                  <a:pt x="1454893" y="4188737"/>
                  <a:pt x="937259" y="4188737"/>
                </a:cubicBezTo>
                <a:lnTo>
                  <a:pt x="937260" y="4188736"/>
                </a:lnTo>
                <a:cubicBezTo>
                  <a:pt x="419626" y="4188736"/>
                  <a:pt x="0" y="3769110"/>
                  <a:pt x="0" y="3251476"/>
                </a:cubicBez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9CE95796-8135-4C87-0115-AD68ACF7C0D8}"/>
              </a:ext>
            </a:extLst>
          </p:cNvPr>
          <p:cNvSpPr/>
          <p:nvPr userDrawn="1"/>
        </p:nvSpPr>
        <p:spPr>
          <a:xfrm rot="5400000">
            <a:off x="9012115" y="2325516"/>
            <a:ext cx="2157850" cy="4372607"/>
          </a:xfrm>
          <a:custGeom>
            <a:avLst/>
            <a:gdLst>
              <a:gd name="connsiteX0" fmla="*/ 0 w 2157850"/>
              <a:gd name="connsiteY0" fmla="*/ 3293681 h 4372607"/>
              <a:gd name="connsiteX1" fmla="*/ 0 w 2157850"/>
              <a:gd name="connsiteY1" fmla="*/ 0 h 4372607"/>
              <a:gd name="connsiteX2" fmla="*/ 2157850 w 2157850"/>
              <a:gd name="connsiteY2" fmla="*/ 0 h 4372607"/>
              <a:gd name="connsiteX3" fmla="*/ 2157849 w 2157850"/>
              <a:gd name="connsiteY3" fmla="*/ 3293682 h 4372607"/>
              <a:gd name="connsiteX4" fmla="*/ 1078924 w 2157850"/>
              <a:gd name="connsiteY4" fmla="*/ 4372607 h 4372607"/>
              <a:gd name="connsiteX5" fmla="*/ 1078925 w 2157850"/>
              <a:gd name="connsiteY5" fmla="*/ 4372606 h 4372607"/>
              <a:gd name="connsiteX6" fmla="*/ 0 w 2157850"/>
              <a:gd name="connsiteY6" fmla="*/ 3293681 h 437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7850" h="4372607">
                <a:moveTo>
                  <a:pt x="0" y="3293681"/>
                </a:moveTo>
                <a:lnTo>
                  <a:pt x="0" y="0"/>
                </a:lnTo>
                <a:lnTo>
                  <a:pt x="2157850" y="0"/>
                </a:lnTo>
                <a:lnTo>
                  <a:pt x="2157849" y="3293682"/>
                </a:lnTo>
                <a:cubicBezTo>
                  <a:pt x="2157849" y="3889556"/>
                  <a:pt x="1674798" y="4372607"/>
                  <a:pt x="1078924" y="4372607"/>
                </a:cubicBezTo>
                <a:lnTo>
                  <a:pt x="1078925" y="4372606"/>
                </a:lnTo>
                <a:cubicBezTo>
                  <a:pt x="483051" y="4372606"/>
                  <a:pt x="0" y="3889555"/>
                  <a:pt x="0" y="3293681"/>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CCBEB880-D0F0-4109-B930-8923AB0C9645}"/>
              </a:ext>
            </a:extLst>
          </p:cNvPr>
          <p:cNvSpPr/>
          <p:nvPr userDrawn="1"/>
        </p:nvSpPr>
        <p:spPr>
          <a:xfrm rot="5400000">
            <a:off x="9245715" y="2417452"/>
            <a:ext cx="1874520" cy="4188736"/>
          </a:xfrm>
          <a:custGeom>
            <a:avLst/>
            <a:gdLst>
              <a:gd name="connsiteX0" fmla="*/ 0 w 1874520"/>
              <a:gd name="connsiteY0" fmla="*/ 3251476 h 4188736"/>
              <a:gd name="connsiteX1" fmla="*/ 0 w 1874520"/>
              <a:gd name="connsiteY1" fmla="*/ 0 h 4188736"/>
              <a:gd name="connsiteX2" fmla="*/ 1874520 w 1874520"/>
              <a:gd name="connsiteY2" fmla="*/ 0 h 4188736"/>
              <a:gd name="connsiteX3" fmla="*/ 1874519 w 1874520"/>
              <a:gd name="connsiteY3" fmla="*/ 3251476 h 4188736"/>
              <a:gd name="connsiteX4" fmla="*/ 937259 w 1874520"/>
              <a:gd name="connsiteY4" fmla="*/ 4188736 h 4188736"/>
              <a:gd name="connsiteX5" fmla="*/ 937260 w 1874520"/>
              <a:gd name="connsiteY5" fmla="*/ 4188735 h 4188736"/>
              <a:gd name="connsiteX6" fmla="*/ 0 w 1874520"/>
              <a:gd name="connsiteY6" fmla="*/ 3251476 h 418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520" h="4188736">
                <a:moveTo>
                  <a:pt x="0" y="3251476"/>
                </a:moveTo>
                <a:lnTo>
                  <a:pt x="0" y="0"/>
                </a:lnTo>
                <a:lnTo>
                  <a:pt x="1874520" y="0"/>
                </a:lnTo>
                <a:lnTo>
                  <a:pt x="1874519" y="3251476"/>
                </a:lnTo>
                <a:cubicBezTo>
                  <a:pt x="1874519" y="3769110"/>
                  <a:pt x="1454893" y="4188736"/>
                  <a:pt x="937259" y="4188736"/>
                </a:cubicBezTo>
                <a:lnTo>
                  <a:pt x="937260" y="4188735"/>
                </a:lnTo>
                <a:cubicBezTo>
                  <a:pt x="419626" y="4188735"/>
                  <a:pt x="0" y="3769110"/>
                  <a:pt x="0" y="3251476"/>
                </a:cubicBez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Freeform: Shape 39">
            <a:extLst>
              <a:ext uri="{FF2B5EF4-FFF2-40B4-BE49-F238E27FC236}">
                <a16:creationId xmlns:a16="http://schemas.microsoft.com/office/drawing/2014/main" id="{190E4F1C-1E7D-5E23-95B6-B6F0E0E833C6}"/>
              </a:ext>
            </a:extLst>
          </p:cNvPr>
          <p:cNvSpPr/>
          <p:nvPr userDrawn="1"/>
        </p:nvSpPr>
        <p:spPr>
          <a:xfrm rot="5400000">
            <a:off x="9438566" y="4058828"/>
            <a:ext cx="1304948" cy="4372607"/>
          </a:xfrm>
          <a:custGeom>
            <a:avLst/>
            <a:gdLst>
              <a:gd name="connsiteX0" fmla="*/ 0 w 1304948"/>
              <a:gd name="connsiteY0" fmla="*/ 3293681 h 4372607"/>
              <a:gd name="connsiteX1" fmla="*/ 0 w 1304948"/>
              <a:gd name="connsiteY1" fmla="*/ 0 h 4372607"/>
              <a:gd name="connsiteX2" fmla="*/ 1304948 w 1304948"/>
              <a:gd name="connsiteY2" fmla="*/ 0 h 4372607"/>
              <a:gd name="connsiteX3" fmla="*/ 1304948 w 1304948"/>
              <a:gd name="connsiteY3" fmla="*/ 4348023 h 4372607"/>
              <a:gd name="connsiteX4" fmla="*/ 1296365 w 1304948"/>
              <a:gd name="connsiteY4" fmla="*/ 4350687 h 4372607"/>
              <a:gd name="connsiteX5" fmla="*/ 1078924 w 1304948"/>
              <a:gd name="connsiteY5" fmla="*/ 4372607 h 4372607"/>
              <a:gd name="connsiteX6" fmla="*/ 1078925 w 1304948"/>
              <a:gd name="connsiteY6" fmla="*/ 4372606 h 4372607"/>
              <a:gd name="connsiteX7" fmla="*/ 0 w 1304948"/>
              <a:gd name="connsiteY7" fmla="*/ 3293681 h 437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4948" h="4372607">
                <a:moveTo>
                  <a:pt x="0" y="3293681"/>
                </a:moveTo>
                <a:lnTo>
                  <a:pt x="0" y="0"/>
                </a:lnTo>
                <a:lnTo>
                  <a:pt x="1304948" y="0"/>
                </a:lnTo>
                <a:lnTo>
                  <a:pt x="1304948" y="4348023"/>
                </a:lnTo>
                <a:lnTo>
                  <a:pt x="1296365" y="4350687"/>
                </a:lnTo>
                <a:cubicBezTo>
                  <a:pt x="1226130" y="4365059"/>
                  <a:pt x="1153409" y="4372607"/>
                  <a:pt x="1078924" y="4372607"/>
                </a:cubicBezTo>
                <a:lnTo>
                  <a:pt x="1078925" y="4372606"/>
                </a:lnTo>
                <a:cubicBezTo>
                  <a:pt x="483051" y="4372606"/>
                  <a:pt x="0" y="3889555"/>
                  <a:pt x="0" y="3293681"/>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CB94BDFD-7EA4-0673-E1B4-E20807210502}"/>
              </a:ext>
            </a:extLst>
          </p:cNvPr>
          <p:cNvSpPr/>
          <p:nvPr userDrawn="1"/>
        </p:nvSpPr>
        <p:spPr>
          <a:xfrm rot="5400000">
            <a:off x="9601334" y="4221596"/>
            <a:ext cx="1163283" cy="4188736"/>
          </a:xfrm>
          <a:custGeom>
            <a:avLst/>
            <a:gdLst>
              <a:gd name="connsiteX0" fmla="*/ 0 w 1163283"/>
              <a:gd name="connsiteY0" fmla="*/ 3251476 h 4188736"/>
              <a:gd name="connsiteX1" fmla="*/ 0 w 1163283"/>
              <a:gd name="connsiteY1" fmla="*/ 0 h 4188736"/>
              <a:gd name="connsiteX2" fmla="*/ 1163283 w 1163283"/>
              <a:gd name="connsiteY2" fmla="*/ 0 h 4188736"/>
              <a:gd name="connsiteX3" fmla="*/ 1163283 w 1163283"/>
              <a:gd name="connsiteY3" fmla="*/ 4158168 h 4188736"/>
              <a:gd name="connsiteX4" fmla="*/ 1126150 w 1163283"/>
              <a:gd name="connsiteY4" fmla="*/ 4169694 h 4188736"/>
              <a:gd name="connsiteX5" fmla="*/ 937259 w 1163283"/>
              <a:gd name="connsiteY5" fmla="*/ 4188736 h 4188736"/>
              <a:gd name="connsiteX6" fmla="*/ 937260 w 1163283"/>
              <a:gd name="connsiteY6" fmla="*/ 4188735 h 4188736"/>
              <a:gd name="connsiteX7" fmla="*/ 0 w 1163283"/>
              <a:gd name="connsiteY7" fmla="*/ 3251476 h 418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3283" h="4188736">
                <a:moveTo>
                  <a:pt x="0" y="3251476"/>
                </a:moveTo>
                <a:lnTo>
                  <a:pt x="0" y="0"/>
                </a:lnTo>
                <a:lnTo>
                  <a:pt x="1163283" y="0"/>
                </a:lnTo>
                <a:lnTo>
                  <a:pt x="1163283" y="4158168"/>
                </a:lnTo>
                <a:lnTo>
                  <a:pt x="1126150" y="4169694"/>
                </a:lnTo>
                <a:cubicBezTo>
                  <a:pt x="1065136" y="4182180"/>
                  <a:pt x="1001964" y="4188736"/>
                  <a:pt x="937259" y="4188736"/>
                </a:cubicBezTo>
                <a:lnTo>
                  <a:pt x="937260" y="4188735"/>
                </a:lnTo>
                <a:cubicBezTo>
                  <a:pt x="419626" y="4188735"/>
                  <a:pt x="0" y="3769110"/>
                  <a:pt x="0" y="3251476"/>
                </a:cubicBezTo>
                <a:close/>
              </a:path>
            </a:pathLst>
          </a:cu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8B75F4CF-DC43-BF88-A4AB-76AC7171D62A}"/>
              </a:ext>
            </a:extLst>
          </p:cNvPr>
          <p:cNvGrpSpPr/>
          <p:nvPr userDrawn="1"/>
        </p:nvGrpSpPr>
        <p:grpSpPr>
          <a:xfrm>
            <a:off x="6132575" y="1705337"/>
            <a:ext cx="3494544" cy="3494544"/>
            <a:chOff x="6132575" y="1705337"/>
            <a:chExt cx="3494544" cy="3494544"/>
          </a:xfrm>
        </p:grpSpPr>
        <p:sp>
          <p:nvSpPr>
            <p:cNvPr id="17" name="Oval 16">
              <a:extLst>
                <a:ext uri="{FF2B5EF4-FFF2-40B4-BE49-F238E27FC236}">
                  <a16:creationId xmlns:a16="http://schemas.microsoft.com/office/drawing/2014/main" id="{7786FFFE-5A89-4D14-F5F8-16FD636A0ECD}"/>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20DEB5F-39A6-1FCF-86AA-08D5559AB102}"/>
                </a:ext>
              </a:extLst>
            </p:cNvPr>
            <p:cNvSpPr/>
            <p:nvPr userDrawn="1"/>
          </p:nvSpPr>
          <p:spPr>
            <a:xfrm>
              <a:off x="6334511" y="1907273"/>
              <a:ext cx="3090672" cy="3090672"/>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9">
            <a:extLst>
              <a:ext uri="{FF2B5EF4-FFF2-40B4-BE49-F238E27FC236}">
                <a16:creationId xmlns:a16="http://schemas.microsoft.com/office/drawing/2014/main" id="{F758A95E-8882-B1A2-0A8D-7F34A35AAF65}"/>
              </a:ext>
            </a:extLst>
          </p:cNvPr>
          <p:cNvSpPr>
            <a:spLocks noGrp="1"/>
          </p:cNvSpPr>
          <p:nvPr userDrawn="1">
            <p:ph type="title"/>
          </p:nvPr>
        </p:nvSpPr>
        <p:spPr>
          <a:xfrm>
            <a:off x="484632" y="539494"/>
            <a:ext cx="5647943" cy="2157849"/>
          </a:xfrm>
        </p:spPr>
        <p:txBody>
          <a:bodyPr anchor="t"/>
          <a:lstStyle>
            <a:lvl1pPr algn="l">
              <a:defRPr sz="3600"/>
            </a:lvl1pPr>
          </a:lstStyle>
          <a:p>
            <a:r>
              <a:rPr lang="en-US"/>
              <a:t>Click to edit Master title style</a:t>
            </a:r>
            <a:endParaRPr lang="en-US" dirty="0"/>
          </a:p>
        </p:txBody>
      </p:sp>
      <p:sp>
        <p:nvSpPr>
          <p:cNvPr id="3" name="Content Placeholder 3">
            <a:extLst>
              <a:ext uri="{FF2B5EF4-FFF2-40B4-BE49-F238E27FC236}">
                <a16:creationId xmlns:a16="http://schemas.microsoft.com/office/drawing/2014/main" id="{0EE226B7-1450-52A1-D0F2-90B821F8913B}"/>
              </a:ext>
            </a:extLst>
          </p:cNvPr>
          <p:cNvSpPr>
            <a:spLocks noGrp="1"/>
          </p:cNvSpPr>
          <p:nvPr userDrawn="1">
            <p:ph sz="half" idx="2"/>
          </p:nvPr>
        </p:nvSpPr>
        <p:spPr>
          <a:xfrm>
            <a:off x="484632" y="2964180"/>
            <a:ext cx="5647943" cy="3181196"/>
          </a:xfrm>
        </p:spPr>
        <p:txBody>
          <a:bodyPr>
            <a:normAutofit/>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6637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42636-F625-5B2A-E7CC-9D70418A2BFC}"/>
              </a:ext>
            </a:extLst>
          </p:cNvPr>
          <p:cNvSpPr>
            <a:spLocks noGrp="1"/>
          </p:cNvSpPr>
          <p:nvPr>
            <p:ph type="ctrTitle"/>
          </p:nvPr>
        </p:nvSpPr>
        <p:spPr>
          <a:xfrm>
            <a:off x="2924551" y="754380"/>
            <a:ext cx="6342896" cy="2535177"/>
          </a:xfrm>
        </p:spPr>
        <p:txBody>
          <a:bodyPr anchor="b">
            <a:noAutofit/>
          </a:bodyPr>
          <a:lstStyle>
            <a:lvl1pPr algn="ctr">
              <a:lnSpc>
                <a:spcPct val="100000"/>
              </a:lnSpc>
              <a:tabLst/>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2BA890-FB69-E772-1383-035C2A82316A}"/>
              </a:ext>
            </a:extLst>
          </p:cNvPr>
          <p:cNvSpPr>
            <a:spLocks noGrp="1"/>
          </p:cNvSpPr>
          <p:nvPr>
            <p:ph type="subTitle" idx="1"/>
          </p:nvPr>
        </p:nvSpPr>
        <p:spPr>
          <a:xfrm>
            <a:off x="3504438" y="3565035"/>
            <a:ext cx="5183124" cy="2011747"/>
          </a:xfrm>
          <a:noFill/>
        </p:spPr>
        <p:txBody>
          <a:bodyPr anchor="t">
            <a:normAutofit/>
          </a:bodyPr>
          <a:lstStyle>
            <a:lvl1pPr marL="0" indent="0" algn="ctr" defTabSz="914400" rtl="0" eaLnBrk="1" latinLnBrk="0" hangingPunct="1">
              <a:lnSpc>
                <a:spcPct val="100000"/>
              </a:lnSpc>
              <a:spcBef>
                <a:spcPts val="1000"/>
              </a:spcBef>
              <a:buFont typeface="Arial" panose="020B0604020202020204" pitchFamily="34" charset="0"/>
              <a:buNone/>
              <a:defRPr lang="en-US" sz="1800" kern="1200" dirty="0">
                <a:solidFill>
                  <a:schemeClr val="tx1"/>
                </a:solidFill>
                <a:latin typeface="+mn-lt"/>
                <a:ea typeface="+mn-ea"/>
                <a:cs typeface="Georgia Pro"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1" name="Freeform: Shape 60">
            <a:extLst>
              <a:ext uri="{FF2B5EF4-FFF2-40B4-BE49-F238E27FC236}">
                <a16:creationId xmlns:a16="http://schemas.microsoft.com/office/drawing/2014/main" id="{8E065840-95FE-BED2-B104-471CC3A74C6A}"/>
              </a:ext>
            </a:extLst>
          </p:cNvPr>
          <p:cNvSpPr/>
          <p:nvPr userDrawn="1"/>
        </p:nvSpPr>
        <p:spPr>
          <a:xfrm rot="5400000">
            <a:off x="419012" y="-693331"/>
            <a:ext cx="1401446" cy="2513791"/>
          </a:xfrm>
          <a:custGeom>
            <a:avLst/>
            <a:gdLst>
              <a:gd name="connsiteX0" fmla="*/ 0 w 1401446"/>
              <a:gd name="connsiteY0" fmla="*/ 2513791 h 2513791"/>
              <a:gd name="connsiteX1" fmla="*/ 0 w 1401446"/>
              <a:gd name="connsiteY1" fmla="*/ 54539 h 2513791"/>
              <a:gd name="connsiteX2" fmla="*/ 105080 w 1401446"/>
              <a:gd name="connsiteY2" fmla="*/ 21920 h 2513791"/>
              <a:gd name="connsiteX3" fmla="*/ 322521 w 1401446"/>
              <a:gd name="connsiteY3" fmla="*/ 0 h 2513791"/>
              <a:gd name="connsiteX4" fmla="*/ 1401446 w 1401446"/>
              <a:gd name="connsiteY4" fmla="*/ 1078925 h 2513791"/>
              <a:gd name="connsiteX5" fmla="*/ 1401446 w 1401446"/>
              <a:gd name="connsiteY5" fmla="*/ 2513791 h 251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1446" h="2513791">
                <a:moveTo>
                  <a:pt x="0" y="2513791"/>
                </a:moveTo>
                <a:lnTo>
                  <a:pt x="0" y="54539"/>
                </a:lnTo>
                <a:lnTo>
                  <a:pt x="105080" y="21920"/>
                </a:lnTo>
                <a:cubicBezTo>
                  <a:pt x="175315" y="7548"/>
                  <a:pt x="248037" y="0"/>
                  <a:pt x="322521" y="0"/>
                </a:cubicBezTo>
                <a:cubicBezTo>
                  <a:pt x="918395" y="0"/>
                  <a:pt x="1401446" y="483051"/>
                  <a:pt x="1401446" y="1078925"/>
                </a:cubicBezTo>
                <a:lnTo>
                  <a:pt x="1401446" y="2513791"/>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9" name="Freeform: Shape 58">
            <a:extLst>
              <a:ext uri="{FF2B5EF4-FFF2-40B4-BE49-F238E27FC236}">
                <a16:creationId xmlns:a16="http://schemas.microsoft.com/office/drawing/2014/main" id="{E594094C-C13C-1BA9-3168-3B72C86B1036}"/>
              </a:ext>
            </a:extLst>
          </p:cNvPr>
          <p:cNvSpPr/>
          <p:nvPr userDrawn="1"/>
        </p:nvSpPr>
        <p:spPr>
          <a:xfrm rot="5400000">
            <a:off x="397909" y="-672228"/>
            <a:ext cx="1259782" cy="2329920"/>
          </a:xfrm>
          <a:custGeom>
            <a:avLst/>
            <a:gdLst>
              <a:gd name="connsiteX0" fmla="*/ 0 w 1259782"/>
              <a:gd name="connsiteY0" fmla="*/ 2329920 h 2329920"/>
              <a:gd name="connsiteX1" fmla="*/ 0 w 1259782"/>
              <a:gd name="connsiteY1" fmla="*/ 60523 h 2329920"/>
              <a:gd name="connsiteX2" fmla="*/ 133632 w 1259782"/>
              <a:gd name="connsiteY2" fmla="*/ 19042 h 2329920"/>
              <a:gd name="connsiteX3" fmla="*/ 322522 w 1259782"/>
              <a:gd name="connsiteY3" fmla="*/ 0 h 2329920"/>
              <a:gd name="connsiteX4" fmla="*/ 1259782 w 1259782"/>
              <a:gd name="connsiteY4" fmla="*/ 937260 h 2329920"/>
              <a:gd name="connsiteX5" fmla="*/ 1259782 w 1259782"/>
              <a:gd name="connsiteY5" fmla="*/ 2329920 h 23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9782" h="2329920">
                <a:moveTo>
                  <a:pt x="0" y="2329920"/>
                </a:moveTo>
                <a:lnTo>
                  <a:pt x="0" y="60523"/>
                </a:lnTo>
                <a:lnTo>
                  <a:pt x="133632" y="19042"/>
                </a:lnTo>
                <a:cubicBezTo>
                  <a:pt x="194645" y="6557"/>
                  <a:pt x="257818" y="0"/>
                  <a:pt x="322522" y="0"/>
                </a:cubicBezTo>
                <a:cubicBezTo>
                  <a:pt x="840156" y="0"/>
                  <a:pt x="1259782" y="419626"/>
                  <a:pt x="1259782" y="937260"/>
                </a:cubicBezTo>
                <a:lnTo>
                  <a:pt x="1259782" y="2329920"/>
                </a:lnTo>
                <a:close/>
              </a:path>
            </a:pathLst>
          </a:cu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3BD0BF3F-32DB-645E-94BC-A9E15FA5F2FB}"/>
              </a:ext>
            </a:extLst>
          </p:cNvPr>
          <p:cNvSpPr/>
          <p:nvPr userDrawn="1"/>
        </p:nvSpPr>
        <p:spPr>
          <a:xfrm rot="5400000">
            <a:off x="40810" y="1091166"/>
            <a:ext cx="2157850" cy="2513792"/>
          </a:xfrm>
          <a:custGeom>
            <a:avLst/>
            <a:gdLst>
              <a:gd name="connsiteX0" fmla="*/ 0 w 2157850"/>
              <a:gd name="connsiteY0" fmla="*/ 2513792 h 2513792"/>
              <a:gd name="connsiteX1" fmla="*/ 0 w 2157850"/>
              <a:gd name="connsiteY1" fmla="*/ 1078925 h 2513792"/>
              <a:gd name="connsiteX2" fmla="*/ 1078925 w 2157850"/>
              <a:gd name="connsiteY2" fmla="*/ 0 h 2513792"/>
              <a:gd name="connsiteX3" fmla="*/ 2157850 w 2157850"/>
              <a:gd name="connsiteY3" fmla="*/ 1078925 h 2513792"/>
              <a:gd name="connsiteX4" fmla="*/ 2157850 w 2157850"/>
              <a:gd name="connsiteY4" fmla="*/ 2513792 h 25137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7850" h="2513792">
                <a:moveTo>
                  <a:pt x="0" y="2513792"/>
                </a:moveTo>
                <a:lnTo>
                  <a:pt x="0" y="1078925"/>
                </a:lnTo>
                <a:cubicBezTo>
                  <a:pt x="0" y="483051"/>
                  <a:pt x="483051" y="0"/>
                  <a:pt x="1078925" y="0"/>
                </a:cubicBezTo>
                <a:cubicBezTo>
                  <a:pt x="1674799" y="0"/>
                  <a:pt x="2157850" y="483051"/>
                  <a:pt x="2157850" y="1078925"/>
                </a:cubicBezTo>
                <a:lnTo>
                  <a:pt x="2157850" y="251379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FA6F927F-3AF1-2680-0064-8DB1DB4E2BCE}"/>
              </a:ext>
            </a:extLst>
          </p:cNvPr>
          <p:cNvSpPr/>
          <p:nvPr userDrawn="1"/>
        </p:nvSpPr>
        <p:spPr>
          <a:xfrm rot="5400000">
            <a:off x="90540" y="1183102"/>
            <a:ext cx="1874520" cy="2329922"/>
          </a:xfrm>
          <a:custGeom>
            <a:avLst/>
            <a:gdLst>
              <a:gd name="connsiteX0" fmla="*/ 0 w 1874520"/>
              <a:gd name="connsiteY0" fmla="*/ 2329922 h 2329922"/>
              <a:gd name="connsiteX1" fmla="*/ 0 w 1874520"/>
              <a:gd name="connsiteY1" fmla="*/ 937260 h 2329922"/>
              <a:gd name="connsiteX2" fmla="*/ 937260 w 1874520"/>
              <a:gd name="connsiteY2" fmla="*/ 0 h 2329922"/>
              <a:gd name="connsiteX3" fmla="*/ 1874520 w 1874520"/>
              <a:gd name="connsiteY3" fmla="*/ 937260 h 2329922"/>
              <a:gd name="connsiteX4" fmla="*/ 1874520 w 1874520"/>
              <a:gd name="connsiteY4" fmla="*/ 2329922 h 232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2329922">
                <a:moveTo>
                  <a:pt x="0" y="2329922"/>
                </a:moveTo>
                <a:lnTo>
                  <a:pt x="0" y="937260"/>
                </a:lnTo>
                <a:cubicBezTo>
                  <a:pt x="0" y="419626"/>
                  <a:pt x="419626" y="0"/>
                  <a:pt x="937260" y="0"/>
                </a:cubicBezTo>
                <a:cubicBezTo>
                  <a:pt x="1454894" y="0"/>
                  <a:pt x="1874520" y="419626"/>
                  <a:pt x="1874520" y="937260"/>
                </a:cubicBezTo>
                <a:lnTo>
                  <a:pt x="1874520" y="2329922"/>
                </a:ln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EC6A74FB-8CFB-6ED7-F013-F8A20115E95B}"/>
              </a:ext>
            </a:extLst>
          </p:cNvPr>
          <p:cNvSpPr/>
          <p:nvPr userDrawn="1"/>
        </p:nvSpPr>
        <p:spPr>
          <a:xfrm rot="5400000">
            <a:off x="40811" y="3253864"/>
            <a:ext cx="2157850" cy="2513793"/>
          </a:xfrm>
          <a:custGeom>
            <a:avLst/>
            <a:gdLst>
              <a:gd name="connsiteX0" fmla="*/ 0 w 2157850"/>
              <a:gd name="connsiteY0" fmla="*/ 2513793 h 2513793"/>
              <a:gd name="connsiteX1" fmla="*/ 0 w 2157850"/>
              <a:gd name="connsiteY1" fmla="*/ 1078925 h 2513793"/>
              <a:gd name="connsiteX2" fmla="*/ 1078925 w 2157850"/>
              <a:gd name="connsiteY2" fmla="*/ 0 h 2513793"/>
              <a:gd name="connsiteX3" fmla="*/ 2157850 w 2157850"/>
              <a:gd name="connsiteY3" fmla="*/ 1078925 h 2513793"/>
              <a:gd name="connsiteX4" fmla="*/ 2157850 w 2157850"/>
              <a:gd name="connsiteY4" fmla="*/ 2513793 h 2513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7850" h="2513793">
                <a:moveTo>
                  <a:pt x="0" y="2513793"/>
                </a:moveTo>
                <a:lnTo>
                  <a:pt x="0" y="1078925"/>
                </a:lnTo>
                <a:cubicBezTo>
                  <a:pt x="0" y="483051"/>
                  <a:pt x="483051" y="0"/>
                  <a:pt x="1078925" y="0"/>
                </a:cubicBezTo>
                <a:cubicBezTo>
                  <a:pt x="1674799" y="0"/>
                  <a:pt x="2157850" y="483051"/>
                  <a:pt x="2157850" y="1078925"/>
                </a:cubicBezTo>
                <a:lnTo>
                  <a:pt x="2157850" y="251379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AC1E58F2-94F5-FBD0-F2F4-8247FD99B419}"/>
              </a:ext>
            </a:extLst>
          </p:cNvPr>
          <p:cNvSpPr/>
          <p:nvPr userDrawn="1"/>
        </p:nvSpPr>
        <p:spPr>
          <a:xfrm rot="5400000">
            <a:off x="90541" y="3345800"/>
            <a:ext cx="1874520" cy="2329923"/>
          </a:xfrm>
          <a:custGeom>
            <a:avLst/>
            <a:gdLst>
              <a:gd name="connsiteX0" fmla="*/ 0 w 1874520"/>
              <a:gd name="connsiteY0" fmla="*/ 2329923 h 2329923"/>
              <a:gd name="connsiteX1" fmla="*/ 0 w 1874520"/>
              <a:gd name="connsiteY1" fmla="*/ 937260 h 2329923"/>
              <a:gd name="connsiteX2" fmla="*/ 937260 w 1874520"/>
              <a:gd name="connsiteY2" fmla="*/ 0 h 2329923"/>
              <a:gd name="connsiteX3" fmla="*/ 1874520 w 1874520"/>
              <a:gd name="connsiteY3" fmla="*/ 937260 h 2329923"/>
              <a:gd name="connsiteX4" fmla="*/ 1874520 w 1874520"/>
              <a:gd name="connsiteY4" fmla="*/ 2329923 h 2329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2329923">
                <a:moveTo>
                  <a:pt x="0" y="2329923"/>
                </a:moveTo>
                <a:lnTo>
                  <a:pt x="0" y="937260"/>
                </a:lnTo>
                <a:cubicBezTo>
                  <a:pt x="0" y="419626"/>
                  <a:pt x="419626" y="0"/>
                  <a:pt x="937260" y="0"/>
                </a:cubicBezTo>
                <a:cubicBezTo>
                  <a:pt x="1454894" y="0"/>
                  <a:pt x="1874520" y="419626"/>
                  <a:pt x="1874520" y="937260"/>
                </a:cubicBezTo>
                <a:lnTo>
                  <a:pt x="1874520" y="2329923"/>
                </a:ln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9" name="Freeform: Shape 98">
            <a:extLst>
              <a:ext uri="{FF2B5EF4-FFF2-40B4-BE49-F238E27FC236}">
                <a16:creationId xmlns:a16="http://schemas.microsoft.com/office/drawing/2014/main" id="{6A6C5A6A-1602-7B2F-E9C7-0A8D0162B007}"/>
              </a:ext>
            </a:extLst>
          </p:cNvPr>
          <p:cNvSpPr/>
          <p:nvPr userDrawn="1"/>
        </p:nvSpPr>
        <p:spPr>
          <a:xfrm rot="5400000">
            <a:off x="441311" y="5015242"/>
            <a:ext cx="1356850" cy="2513793"/>
          </a:xfrm>
          <a:custGeom>
            <a:avLst/>
            <a:gdLst>
              <a:gd name="connsiteX0" fmla="*/ 0 w 1356850"/>
              <a:gd name="connsiteY0" fmla="*/ 2513793 h 2513793"/>
              <a:gd name="connsiteX1" fmla="*/ 0 w 1356850"/>
              <a:gd name="connsiteY1" fmla="*/ 1078925 h 2513793"/>
              <a:gd name="connsiteX2" fmla="*/ 1078925 w 1356850"/>
              <a:gd name="connsiteY2" fmla="*/ 0 h 2513793"/>
              <a:gd name="connsiteX3" fmla="*/ 1296366 w 1356850"/>
              <a:gd name="connsiteY3" fmla="*/ 21920 h 2513793"/>
              <a:gd name="connsiteX4" fmla="*/ 1356850 w 1356850"/>
              <a:gd name="connsiteY4" fmla="*/ 40695 h 2513793"/>
              <a:gd name="connsiteX5" fmla="*/ 1356850 w 1356850"/>
              <a:gd name="connsiteY5" fmla="*/ 2513793 h 25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6850" h="2513793">
                <a:moveTo>
                  <a:pt x="0" y="2513793"/>
                </a:moveTo>
                <a:lnTo>
                  <a:pt x="0" y="1078925"/>
                </a:lnTo>
                <a:cubicBezTo>
                  <a:pt x="0" y="483051"/>
                  <a:pt x="483051" y="0"/>
                  <a:pt x="1078925" y="0"/>
                </a:cubicBezTo>
                <a:cubicBezTo>
                  <a:pt x="1153410" y="0"/>
                  <a:pt x="1226131" y="7548"/>
                  <a:pt x="1296366" y="21920"/>
                </a:cubicBezTo>
                <a:lnTo>
                  <a:pt x="1356850" y="40695"/>
                </a:lnTo>
                <a:lnTo>
                  <a:pt x="1356850" y="251379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7" name="Freeform: Shape 96">
            <a:extLst>
              <a:ext uri="{FF2B5EF4-FFF2-40B4-BE49-F238E27FC236}">
                <a16:creationId xmlns:a16="http://schemas.microsoft.com/office/drawing/2014/main" id="{A5050E4A-F632-0641-6CC9-C929FD0CCE99}"/>
              </a:ext>
            </a:extLst>
          </p:cNvPr>
          <p:cNvSpPr/>
          <p:nvPr userDrawn="1"/>
        </p:nvSpPr>
        <p:spPr>
          <a:xfrm rot="5400000">
            <a:off x="420209" y="5178010"/>
            <a:ext cx="1215184" cy="2329923"/>
          </a:xfrm>
          <a:custGeom>
            <a:avLst/>
            <a:gdLst>
              <a:gd name="connsiteX0" fmla="*/ 0 w 1215184"/>
              <a:gd name="connsiteY0" fmla="*/ 2329923 h 2329923"/>
              <a:gd name="connsiteX1" fmla="*/ 0 w 1215184"/>
              <a:gd name="connsiteY1" fmla="*/ 937260 h 2329923"/>
              <a:gd name="connsiteX2" fmla="*/ 937260 w 1215184"/>
              <a:gd name="connsiteY2" fmla="*/ 0 h 2329923"/>
              <a:gd name="connsiteX3" fmla="*/ 1126151 w 1215184"/>
              <a:gd name="connsiteY3" fmla="*/ 19042 h 2329923"/>
              <a:gd name="connsiteX4" fmla="*/ 1215184 w 1215184"/>
              <a:gd name="connsiteY4" fmla="*/ 46679 h 2329923"/>
              <a:gd name="connsiteX5" fmla="*/ 1215184 w 1215184"/>
              <a:gd name="connsiteY5" fmla="*/ 2329923 h 2329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5184" h="2329923">
                <a:moveTo>
                  <a:pt x="0" y="2329923"/>
                </a:moveTo>
                <a:lnTo>
                  <a:pt x="0" y="937260"/>
                </a:lnTo>
                <a:cubicBezTo>
                  <a:pt x="0" y="419626"/>
                  <a:pt x="419626" y="0"/>
                  <a:pt x="937260" y="0"/>
                </a:cubicBezTo>
                <a:cubicBezTo>
                  <a:pt x="1001965" y="0"/>
                  <a:pt x="1065137" y="6557"/>
                  <a:pt x="1126151" y="19042"/>
                </a:cubicBezTo>
                <a:lnTo>
                  <a:pt x="1215184" y="46679"/>
                </a:lnTo>
                <a:lnTo>
                  <a:pt x="1215184" y="2329923"/>
                </a:lnTo>
                <a:close/>
              </a:path>
            </a:pathLst>
          </a:cu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7" name="Group 46">
            <a:extLst>
              <a:ext uri="{FF2B5EF4-FFF2-40B4-BE49-F238E27FC236}">
                <a16:creationId xmlns:a16="http://schemas.microsoft.com/office/drawing/2014/main" id="{0917ADA6-C4E9-C316-8CFB-EFD1C20D3AD4}"/>
              </a:ext>
            </a:extLst>
          </p:cNvPr>
          <p:cNvGrpSpPr/>
          <p:nvPr userDrawn="1"/>
        </p:nvGrpSpPr>
        <p:grpSpPr>
          <a:xfrm>
            <a:off x="1460974" y="1614260"/>
            <a:ext cx="1463578" cy="1463578"/>
            <a:chOff x="6132575" y="1705337"/>
            <a:chExt cx="3494544" cy="3494544"/>
          </a:xfrm>
        </p:grpSpPr>
        <p:sp>
          <p:nvSpPr>
            <p:cNvPr id="48" name="Oval 47">
              <a:extLst>
                <a:ext uri="{FF2B5EF4-FFF2-40B4-BE49-F238E27FC236}">
                  <a16:creationId xmlns:a16="http://schemas.microsoft.com/office/drawing/2014/main" id="{9DB3442B-C5CD-B39F-5F03-E534C2AA767D}"/>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9B8DA441-CD35-30CC-3EC2-2C86B412249B}"/>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3" name="Freeform: Shape 92">
            <a:extLst>
              <a:ext uri="{FF2B5EF4-FFF2-40B4-BE49-F238E27FC236}">
                <a16:creationId xmlns:a16="http://schemas.microsoft.com/office/drawing/2014/main" id="{BC7DDE63-00F9-BCDE-28E4-BAF22FE18F62}"/>
              </a:ext>
            </a:extLst>
          </p:cNvPr>
          <p:cNvSpPr/>
          <p:nvPr userDrawn="1"/>
        </p:nvSpPr>
        <p:spPr>
          <a:xfrm>
            <a:off x="1460974" y="-137158"/>
            <a:ext cx="1463578" cy="1052297"/>
          </a:xfrm>
          <a:custGeom>
            <a:avLst/>
            <a:gdLst>
              <a:gd name="connsiteX0" fmla="*/ 76865 w 1463578"/>
              <a:gd name="connsiteY0" fmla="*/ 0 h 1052297"/>
              <a:gd name="connsiteX1" fmla="*/ 1386714 w 1463578"/>
              <a:gd name="connsiteY1" fmla="*/ 0 h 1052297"/>
              <a:gd name="connsiteX2" fmla="*/ 1406071 w 1463578"/>
              <a:gd name="connsiteY2" fmla="*/ 35663 h 1052297"/>
              <a:gd name="connsiteX3" fmla="*/ 1463578 w 1463578"/>
              <a:gd name="connsiteY3" fmla="*/ 320508 h 1052297"/>
              <a:gd name="connsiteX4" fmla="*/ 731789 w 1463578"/>
              <a:gd name="connsiteY4" fmla="*/ 1052297 h 1052297"/>
              <a:gd name="connsiteX5" fmla="*/ 0 w 1463578"/>
              <a:gd name="connsiteY5" fmla="*/ 320508 h 1052297"/>
              <a:gd name="connsiteX6" fmla="*/ 57508 w 1463578"/>
              <a:gd name="connsiteY6" fmla="*/ 35663 h 1052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578" h="1052297">
                <a:moveTo>
                  <a:pt x="76865" y="0"/>
                </a:moveTo>
                <a:lnTo>
                  <a:pt x="1386714" y="0"/>
                </a:lnTo>
                <a:lnTo>
                  <a:pt x="1406071" y="35663"/>
                </a:lnTo>
                <a:cubicBezTo>
                  <a:pt x="1443101" y="123213"/>
                  <a:pt x="1463578" y="219469"/>
                  <a:pt x="1463578" y="320508"/>
                </a:cubicBezTo>
                <a:cubicBezTo>
                  <a:pt x="1463578" y="724664"/>
                  <a:pt x="1135945" y="1052297"/>
                  <a:pt x="731789" y="1052297"/>
                </a:cubicBezTo>
                <a:cubicBezTo>
                  <a:pt x="327633" y="1052297"/>
                  <a:pt x="0" y="724664"/>
                  <a:pt x="0" y="320508"/>
                </a:cubicBezTo>
                <a:cubicBezTo>
                  <a:pt x="0" y="219469"/>
                  <a:pt x="20477" y="123213"/>
                  <a:pt x="57508" y="35663"/>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1" name="Freeform: Shape 90">
            <a:extLst>
              <a:ext uri="{FF2B5EF4-FFF2-40B4-BE49-F238E27FC236}">
                <a16:creationId xmlns:a16="http://schemas.microsoft.com/office/drawing/2014/main" id="{FE89CF2E-712D-A19D-7BC8-A13A88630A2C}"/>
              </a:ext>
            </a:extLst>
          </p:cNvPr>
          <p:cNvSpPr/>
          <p:nvPr userDrawn="1"/>
        </p:nvSpPr>
        <p:spPr>
          <a:xfrm>
            <a:off x="1608557" y="-137158"/>
            <a:ext cx="1168412" cy="904713"/>
          </a:xfrm>
          <a:custGeom>
            <a:avLst/>
            <a:gdLst>
              <a:gd name="connsiteX0" fmla="*/ 96448 w 1168412"/>
              <a:gd name="connsiteY0" fmla="*/ 0 h 904713"/>
              <a:gd name="connsiteX1" fmla="*/ 1071965 w 1168412"/>
              <a:gd name="connsiteY1" fmla="*/ 0 h 904713"/>
              <a:gd name="connsiteX2" fmla="*/ 1122503 w 1168412"/>
              <a:gd name="connsiteY2" fmla="*/ 93109 h 904713"/>
              <a:gd name="connsiteX3" fmla="*/ 1168412 w 1168412"/>
              <a:gd name="connsiteY3" fmla="*/ 320508 h 904713"/>
              <a:gd name="connsiteX4" fmla="*/ 584206 w 1168412"/>
              <a:gd name="connsiteY4" fmla="*/ 904713 h 904713"/>
              <a:gd name="connsiteX5" fmla="*/ 0 w 1168412"/>
              <a:gd name="connsiteY5" fmla="*/ 320508 h 904713"/>
              <a:gd name="connsiteX6" fmla="*/ 45910 w 1168412"/>
              <a:gd name="connsiteY6" fmla="*/ 93109 h 904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8412" h="904713">
                <a:moveTo>
                  <a:pt x="96448" y="0"/>
                </a:moveTo>
                <a:lnTo>
                  <a:pt x="1071965" y="0"/>
                </a:lnTo>
                <a:lnTo>
                  <a:pt x="1122503" y="93109"/>
                </a:lnTo>
                <a:cubicBezTo>
                  <a:pt x="1152065" y="163002"/>
                  <a:pt x="1168412" y="239846"/>
                  <a:pt x="1168412" y="320508"/>
                </a:cubicBezTo>
                <a:cubicBezTo>
                  <a:pt x="1168412" y="643156"/>
                  <a:pt x="906854" y="904713"/>
                  <a:pt x="584206" y="904713"/>
                </a:cubicBezTo>
                <a:cubicBezTo>
                  <a:pt x="261558" y="904713"/>
                  <a:pt x="0" y="643156"/>
                  <a:pt x="0" y="320508"/>
                </a:cubicBezTo>
                <a:cubicBezTo>
                  <a:pt x="0" y="239846"/>
                  <a:pt x="16348" y="163002"/>
                  <a:pt x="45910" y="93109"/>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3" name="Group 52">
            <a:extLst>
              <a:ext uri="{FF2B5EF4-FFF2-40B4-BE49-F238E27FC236}">
                <a16:creationId xmlns:a16="http://schemas.microsoft.com/office/drawing/2014/main" id="{5B5FF04A-0026-ACF5-DE1A-21D25F8E14E0}"/>
              </a:ext>
            </a:extLst>
          </p:cNvPr>
          <p:cNvGrpSpPr/>
          <p:nvPr userDrawn="1"/>
        </p:nvGrpSpPr>
        <p:grpSpPr>
          <a:xfrm>
            <a:off x="1460974" y="3776958"/>
            <a:ext cx="1463578" cy="1463578"/>
            <a:chOff x="6132575" y="1705337"/>
            <a:chExt cx="3494544" cy="3494544"/>
          </a:xfrm>
        </p:grpSpPr>
        <p:sp>
          <p:nvSpPr>
            <p:cNvPr id="54" name="Oval 53">
              <a:extLst>
                <a:ext uri="{FF2B5EF4-FFF2-40B4-BE49-F238E27FC236}">
                  <a16:creationId xmlns:a16="http://schemas.microsoft.com/office/drawing/2014/main" id="{513E8005-4979-2E58-EF0F-2884BD18E8FB}"/>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D4F56F4D-480D-0467-9060-DD2DD7DBC507}"/>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1" name="Freeform: Shape 100">
            <a:extLst>
              <a:ext uri="{FF2B5EF4-FFF2-40B4-BE49-F238E27FC236}">
                <a16:creationId xmlns:a16="http://schemas.microsoft.com/office/drawing/2014/main" id="{64ADFBAC-BB4D-CB9D-2854-B7BB00D0AF1D}"/>
              </a:ext>
            </a:extLst>
          </p:cNvPr>
          <p:cNvSpPr/>
          <p:nvPr userDrawn="1"/>
        </p:nvSpPr>
        <p:spPr>
          <a:xfrm>
            <a:off x="1460974" y="5943683"/>
            <a:ext cx="1463578" cy="1006880"/>
          </a:xfrm>
          <a:custGeom>
            <a:avLst/>
            <a:gdLst>
              <a:gd name="connsiteX0" fmla="*/ 731789 w 1463578"/>
              <a:gd name="connsiteY0" fmla="*/ 0 h 1006880"/>
              <a:gd name="connsiteX1" fmla="*/ 1463578 w 1463578"/>
              <a:gd name="connsiteY1" fmla="*/ 731789 h 1006880"/>
              <a:gd name="connsiteX2" fmla="*/ 1448711 w 1463578"/>
              <a:gd name="connsiteY2" fmla="*/ 879270 h 1006880"/>
              <a:gd name="connsiteX3" fmla="*/ 1409099 w 1463578"/>
              <a:gd name="connsiteY3" fmla="*/ 1006880 h 1006880"/>
              <a:gd name="connsiteX4" fmla="*/ 54480 w 1463578"/>
              <a:gd name="connsiteY4" fmla="*/ 1006880 h 1006880"/>
              <a:gd name="connsiteX5" fmla="*/ 14867 w 1463578"/>
              <a:gd name="connsiteY5" fmla="*/ 879270 h 1006880"/>
              <a:gd name="connsiteX6" fmla="*/ 0 w 1463578"/>
              <a:gd name="connsiteY6" fmla="*/ 731789 h 1006880"/>
              <a:gd name="connsiteX7" fmla="*/ 731789 w 1463578"/>
              <a:gd name="connsiteY7" fmla="*/ 0 h 100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578" h="1006880">
                <a:moveTo>
                  <a:pt x="731789" y="0"/>
                </a:moveTo>
                <a:cubicBezTo>
                  <a:pt x="1135945" y="0"/>
                  <a:pt x="1463578" y="327633"/>
                  <a:pt x="1463578" y="731789"/>
                </a:cubicBezTo>
                <a:cubicBezTo>
                  <a:pt x="1463578" y="782309"/>
                  <a:pt x="1458459" y="831633"/>
                  <a:pt x="1448711" y="879270"/>
                </a:cubicBezTo>
                <a:lnTo>
                  <a:pt x="1409099" y="1006880"/>
                </a:lnTo>
                <a:lnTo>
                  <a:pt x="54480" y="1006880"/>
                </a:lnTo>
                <a:lnTo>
                  <a:pt x="14867" y="879270"/>
                </a:lnTo>
                <a:cubicBezTo>
                  <a:pt x="5120" y="831633"/>
                  <a:pt x="0" y="782309"/>
                  <a:pt x="0" y="731789"/>
                </a:cubicBezTo>
                <a:cubicBezTo>
                  <a:pt x="0" y="327633"/>
                  <a:pt x="327633" y="0"/>
                  <a:pt x="731789" y="0"/>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5" name="Freeform: Shape 94">
            <a:extLst>
              <a:ext uri="{FF2B5EF4-FFF2-40B4-BE49-F238E27FC236}">
                <a16:creationId xmlns:a16="http://schemas.microsoft.com/office/drawing/2014/main" id="{226E99D2-72E9-F2AA-BEC7-9EB175EEC3F5}"/>
              </a:ext>
            </a:extLst>
          </p:cNvPr>
          <p:cNvSpPr/>
          <p:nvPr userDrawn="1"/>
        </p:nvSpPr>
        <p:spPr>
          <a:xfrm>
            <a:off x="1608557" y="6091267"/>
            <a:ext cx="1168412" cy="859296"/>
          </a:xfrm>
          <a:custGeom>
            <a:avLst/>
            <a:gdLst>
              <a:gd name="connsiteX0" fmla="*/ 584206 w 1168412"/>
              <a:gd name="connsiteY0" fmla="*/ 0 h 859296"/>
              <a:gd name="connsiteX1" fmla="*/ 1168412 w 1168412"/>
              <a:gd name="connsiteY1" fmla="*/ 584205 h 859296"/>
              <a:gd name="connsiteX2" fmla="*/ 1122503 w 1168412"/>
              <a:gd name="connsiteY2" fmla="*/ 811604 h 859296"/>
              <a:gd name="connsiteX3" fmla="*/ 1096616 w 1168412"/>
              <a:gd name="connsiteY3" fmla="*/ 859296 h 859296"/>
              <a:gd name="connsiteX4" fmla="*/ 71796 w 1168412"/>
              <a:gd name="connsiteY4" fmla="*/ 859296 h 859296"/>
              <a:gd name="connsiteX5" fmla="*/ 45910 w 1168412"/>
              <a:gd name="connsiteY5" fmla="*/ 811604 h 859296"/>
              <a:gd name="connsiteX6" fmla="*/ 0 w 1168412"/>
              <a:gd name="connsiteY6" fmla="*/ 584205 h 859296"/>
              <a:gd name="connsiteX7" fmla="*/ 584206 w 1168412"/>
              <a:gd name="connsiteY7" fmla="*/ 0 h 85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8412" h="859296">
                <a:moveTo>
                  <a:pt x="584206" y="0"/>
                </a:moveTo>
                <a:cubicBezTo>
                  <a:pt x="906854" y="0"/>
                  <a:pt x="1168412" y="261557"/>
                  <a:pt x="1168412" y="584205"/>
                </a:cubicBezTo>
                <a:cubicBezTo>
                  <a:pt x="1168412" y="664867"/>
                  <a:pt x="1152065" y="741711"/>
                  <a:pt x="1122503" y="811604"/>
                </a:cubicBezTo>
                <a:lnTo>
                  <a:pt x="1096616" y="859296"/>
                </a:lnTo>
                <a:lnTo>
                  <a:pt x="71796" y="859296"/>
                </a:lnTo>
                <a:lnTo>
                  <a:pt x="45910" y="811604"/>
                </a:lnTo>
                <a:cubicBezTo>
                  <a:pt x="16348" y="741711"/>
                  <a:pt x="0" y="664867"/>
                  <a:pt x="0" y="584205"/>
                </a:cubicBezTo>
                <a:cubicBezTo>
                  <a:pt x="0" y="261557"/>
                  <a:pt x="261558" y="0"/>
                  <a:pt x="584206" y="0"/>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99B4C011-18FF-3091-7E1E-F43B5AAA826E}"/>
              </a:ext>
            </a:extLst>
          </p:cNvPr>
          <p:cNvSpPr/>
          <p:nvPr userDrawn="1"/>
        </p:nvSpPr>
        <p:spPr>
          <a:xfrm rot="16200000" flipH="1">
            <a:off x="10371539" y="-693331"/>
            <a:ext cx="1401449" cy="2513791"/>
          </a:xfrm>
          <a:custGeom>
            <a:avLst/>
            <a:gdLst>
              <a:gd name="connsiteX0" fmla="*/ 0 w 1401449"/>
              <a:gd name="connsiteY0" fmla="*/ 54540 h 2513791"/>
              <a:gd name="connsiteX1" fmla="*/ 1 w 1401449"/>
              <a:gd name="connsiteY1" fmla="*/ 2513791 h 2513791"/>
              <a:gd name="connsiteX2" fmla="*/ 1401449 w 1401449"/>
              <a:gd name="connsiteY2" fmla="*/ 2513791 h 2513791"/>
              <a:gd name="connsiteX3" fmla="*/ 1401449 w 1401449"/>
              <a:gd name="connsiteY3" fmla="*/ 1078927 h 2513791"/>
              <a:gd name="connsiteX4" fmla="*/ 322524 w 1401449"/>
              <a:gd name="connsiteY4" fmla="*/ 0 h 2513791"/>
              <a:gd name="connsiteX5" fmla="*/ 105083 w 1401449"/>
              <a:gd name="connsiteY5" fmla="*/ 21921 h 251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1449" h="2513791">
                <a:moveTo>
                  <a:pt x="0" y="54540"/>
                </a:moveTo>
                <a:lnTo>
                  <a:pt x="1" y="2513791"/>
                </a:lnTo>
                <a:lnTo>
                  <a:pt x="1401449" y="2513791"/>
                </a:lnTo>
                <a:lnTo>
                  <a:pt x="1401449" y="1078927"/>
                </a:lnTo>
                <a:cubicBezTo>
                  <a:pt x="1401449" y="483053"/>
                  <a:pt x="918398" y="0"/>
                  <a:pt x="322524" y="0"/>
                </a:cubicBezTo>
                <a:cubicBezTo>
                  <a:pt x="248040" y="0"/>
                  <a:pt x="175318" y="7549"/>
                  <a:pt x="105083" y="21921"/>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7F0ED1AA-4E81-33A0-97ED-1A839FBA1BC1}"/>
              </a:ext>
            </a:extLst>
          </p:cNvPr>
          <p:cNvSpPr/>
          <p:nvPr userDrawn="1"/>
        </p:nvSpPr>
        <p:spPr>
          <a:xfrm rot="16200000" flipH="1">
            <a:off x="10534309" y="-672227"/>
            <a:ext cx="1259783" cy="2329918"/>
          </a:xfrm>
          <a:custGeom>
            <a:avLst/>
            <a:gdLst>
              <a:gd name="connsiteX0" fmla="*/ 0 w 1259783"/>
              <a:gd name="connsiteY0" fmla="*/ 60524 h 2329918"/>
              <a:gd name="connsiteX1" fmla="*/ 0 w 1259783"/>
              <a:gd name="connsiteY1" fmla="*/ 2329918 h 2329918"/>
              <a:gd name="connsiteX2" fmla="*/ 1259783 w 1259783"/>
              <a:gd name="connsiteY2" fmla="*/ 2329918 h 2329918"/>
              <a:gd name="connsiteX3" fmla="*/ 1259783 w 1259783"/>
              <a:gd name="connsiteY3" fmla="*/ 937260 h 2329918"/>
              <a:gd name="connsiteX4" fmla="*/ 322523 w 1259783"/>
              <a:gd name="connsiteY4" fmla="*/ 0 h 2329918"/>
              <a:gd name="connsiteX5" fmla="*/ 133633 w 1259783"/>
              <a:gd name="connsiteY5" fmla="*/ 19042 h 2329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9783" h="2329918">
                <a:moveTo>
                  <a:pt x="0" y="60524"/>
                </a:moveTo>
                <a:lnTo>
                  <a:pt x="0" y="2329918"/>
                </a:lnTo>
                <a:lnTo>
                  <a:pt x="1259783" y="2329918"/>
                </a:lnTo>
                <a:lnTo>
                  <a:pt x="1259783" y="937260"/>
                </a:lnTo>
                <a:cubicBezTo>
                  <a:pt x="1259783" y="419626"/>
                  <a:pt x="840157" y="0"/>
                  <a:pt x="322523" y="0"/>
                </a:cubicBezTo>
                <a:cubicBezTo>
                  <a:pt x="257819" y="0"/>
                  <a:pt x="194646" y="6557"/>
                  <a:pt x="133633" y="19042"/>
                </a:cubicBezTo>
                <a:close/>
              </a:path>
            </a:pathLst>
          </a:cu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F0ED9947-66E3-8083-7B8C-48AA4A485116}"/>
              </a:ext>
            </a:extLst>
          </p:cNvPr>
          <p:cNvSpPr/>
          <p:nvPr userDrawn="1"/>
        </p:nvSpPr>
        <p:spPr>
          <a:xfrm rot="16200000" flipH="1">
            <a:off x="9993338" y="1091169"/>
            <a:ext cx="2157850" cy="2513790"/>
          </a:xfrm>
          <a:custGeom>
            <a:avLst/>
            <a:gdLst>
              <a:gd name="connsiteX0" fmla="*/ 0 w 2157850"/>
              <a:gd name="connsiteY0" fmla="*/ 1078925 h 2513790"/>
              <a:gd name="connsiteX1" fmla="*/ 0 w 2157850"/>
              <a:gd name="connsiteY1" fmla="*/ 2513790 h 2513790"/>
              <a:gd name="connsiteX2" fmla="*/ 2157850 w 2157850"/>
              <a:gd name="connsiteY2" fmla="*/ 2513790 h 2513790"/>
              <a:gd name="connsiteX3" fmla="*/ 2157850 w 2157850"/>
              <a:gd name="connsiteY3" fmla="*/ 1078925 h 2513790"/>
              <a:gd name="connsiteX4" fmla="*/ 1078925 w 2157850"/>
              <a:gd name="connsiteY4" fmla="*/ 0 h 2513790"/>
              <a:gd name="connsiteX5" fmla="*/ 0 w 2157850"/>
              <a:gd name="connsiteY5" fmla="*/ 1078925 h 251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2513790">
                <a:moveTo>
                  <a:pt x="0" y="1078925"/>
                </a:moveTo>
                <a:lnTo>
                  <a:pt x="0" y="2513790"/>
                </a:lnTo>
                <a:lnTo>
                  <a:pt x="2157850" y="2513790"/>
                </a:lnTo>
                <a:lnTo>
                  <a:pt x="2157850" y="1078925"/>
                </a:lnTo>
                <a:cubicBezTo>
                  <a:pt x="2157850" y="483051"/>
                  <a:pt x="1674799" y="0"/>
                  <a:pt x="1078925" y="0"/>
                </a:cubicBezTo>
                <a:cubicBezTo>
                  <a:pt x="483051" y="0"/>
                  <a:pt x="0" y="483051"/>
                  <a:pt x="0" y="1078925"/>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8D355EFB-3511-B1BB-782C-6ECE6A7DF7F4}"/>
              </a:ext>
            </a:extLst>
          </p:cNvPr>
          <p:cNvSpPr/>
          <p:nvPr userDrawn="1"/>
        </p:nvSpPr>
        <p:spPr>
          <a:xfrm rot="16200000" flipH="1">
            <a:off x="10226938" y="1183104"/>
            <a:ext cx="1874520" cy="2329921"/>
          </a:xfrm>
          <a:custGeom>
            <a:avLst/>
            <a:gdLst>
              <a:gd name="connsiteX0" fmla="*/ 0 w 1874520"/>
              <a:gd name="connsiteY0" fmla="*/ 937261 h 2329921"/>
              <a:gd name="connsiteX1" fmla="*/ 0 w 1874520"/>
              <a:gd name="connsiteY1" fmla="*/ 2329921 h 2329921"/>
              <a:gd name="connsiteX2" fmla="*/ 1874520 w 1874520"/>
              <a:gd name="connsiteY2" fmla="*/ 2329921 h 2329921"/>
              <a:gd name="connsiteX3" fmla="*/ 1874520 w 1874520"/>
              <a:gd name="connsiteY3" fmla="*/ 937261 h 2329921"/>
              <a:gd name="connsiteX4" fmla="*/ 937260 w 1874520"/>
              <a:gd name="connsiteY4" fmla="*/ 0 h 2329921"/>
              <a:gd name="connsiteX5" fmla="*/ 0 w 1874520"/>
              <a:gd name="connsiteY5" fmla="*/ 937261 h 23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2329921">
                <a:moveTo>
                  <a:pt x="0" y="937261"/>
                </a:moveTo>
                <a:lnTo>
                  <a:pt x="0" y="2329921"/>
                </a:lnTo>
                <a:lnTo>
                  <a:pt x="1874520" y="2329921"/>
                </a:lnTo>
                <a:lnTo>
                  <a:pt x="1874520" y="937261"/>
                </a:lnTo>
                <a:cubicBezTo>
                  <a:pt x="1874520" y="419627"/>
                  <a:pt x="1454894" y="0"/>
                  <a:pt x="937260" y="0"/>
                </a:cubicBezTo>
                <a:cubicBezTo>
                  <a:pt x="419626" y="0"/>
                  <a:pt x="0" y="419627"/>
                  <a:pt x="0" y="937261"/>
                </a:cubicBezTo>
                <a:close/>
              </a:path>
            </a:pathLst>
          </a:cu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764A9EB9-C9BD-733F-594A-958DCDC7E74A}"/>
              </a:ext>
            </a:extLst>
          </p:cNvPr>
          <p:cNvSpPr/>
          <p:nvPr userDrawn="1"/>
        </p:nvSpPr>
        <p:spPr>
          <a:xfrm rot="16200000" flipH="1">
            <a:off x="9993337" y="3253867"/>
            <a:ext cx="2157850" cy="2513791"/>
          </a:xfrm>
          <a:custGeom>
            <a:avLst/>
            <a:gdLst>
              <a:gd name="connsiteX0" fmla="*/ 0 w 2157850"/>
              <a:gd name="connsiteY0" fmla="*/ 1078925 h 2513791"/>
              <a:gd name="connsiteX1" fmla="*/ 0 w 2157850"/>
              <a:gd name="connsiteY1" fmla="*/ 2513791 h 2513791"/>
              <a:gd name="connsiteX2" fmla="*/ 2157849 w 2157850"/>
              <a:gd name="connsiteY2" fmla="*/ 2513791 h 2513791"/>
              <a:gd name="connsiteX3" fmla="*/ 2157850 w 2157850"/>
              <a:gd name="connsiteY3" fmla="*/ 1078925 h 2513791"/>
              <a:gd name="connsiteX4" fmla="*/ 1078925 w 2157850"/>
              <a:gd name="connsiteY4" fmla="*/ 0 h 2513791"/>
              <a:gd name="connsiteX5" fmla="*/ 0 w 2157850"/>
              <a:gd name="connsiteY5" fmla="*/ 1078925 h 251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2513791">
                <a:moveTo>
                  <a:pt x="0" y="1078925"/>
                </a:moveTo>
                <a:lnTo>
                  <a:pt x="0" y="2513791"/>
                </a:lnTo>
                <a:lnTo>
                  <a:pt x="2157849" y="2513791"/>
                </a:lnTo>
                <a:lnTo>
                  <a:pt x="2157850" y="1078925"/>
                </a:lnTo>
                <a:cubicBezTo>
                  <a:pt x="2157850" y="483051"/>
                  <a:pt x="1674799" y="0"/>
                  <a:pt x="1078925" y="0"/>
                </a:cubicBezTo>
                <a:cubicBezTo>
                  <a:pt x="483051" y="0"/>
                  <a:pt x="0" y="483051"/>
                  <a:pt x="0" y="1078925"/>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E55F5709-B4D2-CF3D-86F7-86AA187699F2}"/>
              </a:ext>
            </a:extLst>
          </p:cNvPr>
          <p:cNvSpPr/>
          <p:nvPr userDrawn="1"/>
        </p:nvSpPr>
        <p:spPr>
          <a:xfrm rot="16200000" flipH="1">
            <a:off x="10226939" y="3345802"/>
            <a:ext cx="1874520" cy="2329920"/>
          </a:xfrm>
          <a:custGeom>
            <a:avLst/>
            <a:gdLst>
              <a:gd name="connsiteX0" fmla="*/ 0 w 1874520"/>
              <a:gd name="connsiteY0" fmla="*/ 937260 h 2329920"/>
              <a:gd name="connsiteX1" fmla="*/ 0 w 1874520"/>
              <a:gd name="connsiteY1" fmla="*/ 2329920 h 2329920"/>
              <a:gd name="connsiteX2" fmla="*/ 1874519 w 1874520"/>
              <a:gd name="connsiteY2" fmla="*/ 2329919 h 2329920"/>
              <a:gd name="connsiteX3" fmla="*/ 1874520 w 1874520"/>
              <a:gd name="connsiteY3" fmla="*/ 937259 h 2329920"/>
              <a:gd name="connsiteX4" fmla="*/ 937260 w 1874520"/>
              <a:gd name="connsiteY4" fmla="*/ 0 h 2329920"/>
              <a:gd name="connsiteX5" fmla="*/ 0 w 1874520"/>
              <a:gd name="connsiteY5" fmla="*/ 937260 h 23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2329920">
                <a:moveTo>
                  <a:pt x="0" y="937260"/>
                </a:moveTo>
                <a:lnTo>
                  <a:pt x="0" y="2329920"/>
                </a:lnTo>
                <a:lnTo>
                  <a:pt x="1874519" y="2329919"/>
                </a:lnTo>
                <a:lnTo>
                  <a:pt x="1874520" y="937259"/>
                </a:lnTo>
                <a:cubicBezTo>
                  <a:pt x="1874520" y="419625"/>
                  <a:pt x="1454894" y="0"/>
                  <a:pt x="937260" y="0"/>
                </a:cubicBezTo>
                <a:cubicBezTo>
                  <a:pt x="419626" y="0"/>
                  <a:pt x="0" y="419626"/>
                  <a:pt x="0" y="937260"/>
                </a:cubicBezTo>
                <a:close/>
              </a:path>
            </a:pathLst>
          </a:cu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9" name="Freeform: Shape 108">
            <a:extLst>
              <a:ext uri="{FF2B5EF4-FFF2-40B4-BE49-F238E27FC236}">
                <a16:creationId xmlns:a16="http://schemas.microsoft.com/office/drawing/2014/main" id="{D6245E6D-B8CB-238D-FD66-7077B9BC9013}"/>
              </a:ext>
            </a:extLst>
          </p:cNvPr>
          <p:cNvSpPr/>
          <p:nvPr userDrawn="1"/>
        </p:nvSpPr>
        <p:spPr>
          <a:xfrm rot="16200000" flipH="1">
            <a:off x="10393838" y="5015243"/>
            <a:ext cx="1356848" cy="2513793"/>
          </a:xfrm>
          <a:custGeom>
            <a:avLst/>
            <a:gdLst>
              <a:gd name="connsiteX0" fmla="*/ 0 w 1356848"/>
              <a:gd name="connsiteY0" fmla="*/ 1078927 h 2513793"/>
              <a:gd name="connsiteX1" fmla="*/ 0 w 1356848"/>
              <a:gd name="connsiteY1" fmla="*/ 2513793 h 2513793"/>
              <a:gd name="connsiteX2" fmla="*/ 1356848 w 1356848"/>
              <a:gd name="connsiteY2" fmla="*/ 2513793 h 2513793"/>
              <a:gd name="connsiteX3" fmla="*/ 1356848 w 1356848"/>
              <a:gd name="connsiteY3" fmla="*/ 40696 h 2513793"/>
              <a:gd name="connsiteX4" fmla="*/ 1296366 w 1356848"/>
              <a:gd name="connsiteY4" fmla="*/ 21921 h 2513793"/>
              <a:gd name="connsiteX5" fmla="*/ 1078925 w 1356848"/>
              <a:gd name="connsiteY5" fmla="*/ 0 h 2513793"/>
              <a:gd name="connsiteX6" fmla="*/ 0 w 1356848"/>
              <a:gd name="connsiteY6" fmla="*/ 1078927 h 25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6848" h="2513793">
                <a:moveTo>
                  <a:pt x="0" y="1078927"/>
                </a:moveTo>
                <a:lnTo>
                  <a:pt x="0" y="2513793"/>
                </a:lnTo>
                <a:lnTo>
                  <a:pt x="1356848" y="2513793"/>
                </a:lnTo>
                <a:lnTo>
                  <a:pt x="1356848" y="40696"/>
                </a:lnTo>
                <a:lnTo>
                  <a:pt x="1296366" y="21921"/>
                </a:lnTo>
                <a:cubicBezTo>
                  <a:pt x="1226131" y="7549"/>
                  <a:pt x="1153410" y="0"/>
                  <a:pt x="1078925" y="0"/>
                </a:cubicBezTo>
                <a:cubicBezTo>
                  <a:pt x="483051" y="0"/>
                  <a:pt x="0" y="483053"/>
                  <a:pt x="0" y="1078927"/>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7" name="Freeform: Shape 106">
            <a:extLst>
              <a:ext uri="{FF2B5EF4-FFF2-40B4-BE49-F238E27FC236}">
                <a16:creationId xmlns:a16="http://schemas.microsoft.com/office/drawing/2014/main" id="{CDFC1442-767E-8FA4-7EEA-671CF670863C}"/>
              </a:ext>
            </a:extLst>
          </p:cNvPr>
          <p:cNvSpPr/>
          <p:nvPr userDrawn="1"/>
        </p:nvSpPr>
        <p:spPr>
          <a:xfrm rot="16200000" flipH="1">
            <a:off x="10556608" y="5178011"/>
            <a:ext cx="1215183" cy="2329920"/>
          </a:xfrm>
          <a:custGeom>
            <a:avLst/>
            <a:gdLst>
              <a:gd name="connsiteX0" fmla="*/ 0 w 1215183"/>
              <a:gd name="connsiteY0" fmla="*/ 937260 h 2329920"/>
              <a:gd name="connsiteX1" fmla="*/ 0 w 1215183"/>
              <a:gd name="connsiteY1" fmla="*/ 2329920 h 2329920"/>
              <a:gd name="connsiteX2" fmla="*/ 1215183 w 1215183"/>
              <a:gd name="connsiteY2" fmla="*/ 2329920 h 2329920"/>
              <a:gd name="connsiteX3" fmla="*/ 1215183 w 1215183"/>
              <a:gd name="connsiteY3" fmla="*/ 46679 h 2329920"/>
              <a:gd name="connsiteX4" fmla="*/ 1126151 w 1215183"/>
              <a:gd name="connsiteY4" fmla="*/ 19042 h 2329920"/>
              <a:gd name="connsiteX5" fmla="*/ 937260 w 1215183"/>
              <a:gd name="connsiteY5" fmla="*/ 0 h 2329920"/>
              <a:gd name="connsiteX6" fmla="*/ 0 w 1215183"/>
              <a:gd name="connsiteY6" fmla="*/ 937260 h 23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5183" h="2329920">
                <a:moveTo>
                  <a:pt x="0" y="937260"/>
                </a:moveTo>
                <a:lnTo>
                  <a:pt x="0" y="2329920"/>
                </a:lnTo>
                <a:lnTo>
                  <a:pt x="1215183" y="2329920"/>
                </a:lnTo>
                <a:lnTo>
                  <a:pt x="1215183" y="46679"/>
                </a:lnTo>
                <a:lnTo>
                  <a:pt x="1126151" y="19042"/>
                </a:lnTo>
                <a:cubicBezTo>
                  <a:pt x="1065137" y="6557"/>
                  <a:pt x="1001965" y="0"/>
                  <a:pt x="937260" y="0"/>
                </a:cubicBezTo>
                <a:cubicBezTo>
                  <a:pt x="419626" y="0"/>
                  <a:pt x="0" y="419626"/>
                  <a:pt x="0" y="937260"/>
                </a:cubicBezTo>
                <a:close/>
              </a:path>
            </a:pathLst>
          </a:cu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2" name="Group 61">
            <a:extLst>
              <a:ext uri="{FF2B5EF4-FFF2-40B4-BE49-F238E27FC236}">
                <a16:creationId xmlns:a16="http://schemas.microsoft.com/office/drawing/2014/main" id="{2EEFE600-B9F6-8876-7B8C-6D397E09C82F}"/>
              </a:ext>
            </a:extLst>
          </p:cNvPr>
          <p:cNvGrpSpPr/>
          <p:nvPr userDrawn="1"/>
        </p:nvGrpSpPr>
        <p:grpSpPr>
          <a:xfrm flipH="1">
            <a:off x="9267448" y="1614261"/>
            <a:ext cx="1463578" cy="1463578"/>
            <a:chOff x="6132575" y="1705337"/>
            <a:chExt cx="3494544" cy="3494544"/>
          </a:xfrm>
        </p:grpSpPr>
        <p:sp>
          <p:nvSpPr>
            <p:cNvPr id="72" name="Oval 71">
              <a:extLst>
                <a:ext uri="{FF2B5EF4-FFF2-40B4-BE49-F238E27FC236}">
                  <a16:creationId xmlns:a16="http://schemas.microsoft.com/office/drawing/2014/main" id="{1F18B9DF-7E96-76E8-4D65-82681A02E014}"/>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412355F4-A949-F09C-38B7-B63738D70A9D}"/>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9" name="Freeform: Shape 88">
            <a:extLst>
              <a:ext uri="{FF2B5EF4-FFF2-40B4-BE49-F238E27FC236}">
                <a16:creationId xmlns:a16="http://schemas.microsoft.com/office/drawing/2014/main" id="{B358B5C6-C6B2-9398-711A-07C8BD3E0414}"/>
              </a:ext>
            </a:extLst>
          </p:cNvPr>
          <p:cNvSpPr/>
          <p:nvPr userDrawn="1"/>
        </p:nvSpPr>
        <p:spPr>
          <a:xfrm flipH="1">
            <a:off x="9267448" y="-137159"/>
            <a:ext cx="1463578" cy="1052298"/>
          </a:xfrm>
          <a:custGeom>
            <a:avLst/>
            <a:gdLst>
              <a:gd name="connsiteX0" fmla="*/ 1386713 w 1463578"/>
              <a:gd name="connsiteY0" fmla="*/ 0 h 1052298"/>
              <a:gd name="connsiteX1" fmla="*/ 76865 w 1463578"/>
              <a:gd name="connsiteY1" fmla="*/ 0 h 1052298"/>
              <a:gd name="connsiteX2" fmla="*/ 57508 w 1463578"/>
              <a:gd name="connsiteY2" fmla="*/ 35664 h 1052298"/>
              <a:gd name="connsiteX3" fmla="*/ 0 w 1463578"/>
              <a:gd name="connsiteY3" fmla="*/ 320509 h 1052298"/>
              <a:gd name="connsiteX4" fmla="*/ 731789 w 1463578"/>
              <a:gd name="connsiteY4" fmla="*/ 1052298 h 1052298"/>
              <a:gd name="connsiteX5" fmla="*/ 1463578 w 1463578"/>
              <a:gd name="connsiteY5" fmla="*/ 320509 h 1052298"/>
              <a:gd name="connsiteX6" fmla="*/ 1406070 w 1463578"/>
              <a:gd name="connsiteY6" fmla="*/ 35664 h 105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578" h="1052298">
                <a:moveTo>
                  <a:pt x="1386713" y="0"/>
                </a:moveTo>
                <a:lnTo>
                  <a:pt x="76865" y="0"/>
                </a:lnTo>
                <a:lnTo>
                  <a:pt x="57508" y="35664"/>
                </a:lnTo>
                <a:cubicBezTo>
                  <a:pt x="20477" y="123214"/>
                  <a:pt x="0" y="219470"/>
                  <a:pt x="0" y="320509"/>
                </a:cubicBezTo>
                <a:cubicBezTo>
                  <a:pt x="0" y="724665"/>
                  <a:pt x="327633" y="1052298"/>
                  <a:pt x="731789" y="1052298"/>
                </a:cubicBezTo>
                <a:cubicBezTo>
                  <a:pt x="1135945" y="1052298"/>
                  <a:pt x="1463578" y="724665"/>
                  <a:pt x="1463578" y="320509"/>
                </a:cubicBezTo>
                <a:cubicBezTo>
                  <a:pt x="1463578" y="219470"/>
                  <a:pt x="1443101" y="123214"/>
                  <a:pt x="1406070" y="35664"/>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259AA91B-283A-B7C1-267E-FB04D147A0FF}"/>
              </a:ext>
            </a:extLst>
          </p:cNvPr>
          <p:cNvSpPr/>
          <p:nvPr userDrawn="1"/>
        </p:nvSpPr>
        <p:spPr>
          <a:xfrm flipH="1">
            <a:off x="9415031" y="-137159"/>
            <a:ext cx="1168412" cy="904714"/>
          </a:xfrm>
          <a:custGeom>
            <a:avLst/>
            <a:gdLst>
              <a:gd name="connsiteX0" fmla="*/ 1071964 w 1168412"/>
              <a:gd name="connsiteY0" fmla="*/ 0 h 904714"/>
              <a:gd name="connsiteX1" fmla="*/ 96448 w 1168412"/>
              <a:gd name="connsiteY1" fmla="*/ 0 h 904714"/>
              <a:gd name="connsiteX2" fmla="*/ 45910 w 1168412"/>
              <a:gd name="connsiteY2" fmla="*/ 93110 h 904714"/>
              <a:gd name="connsiteX3" fmla="*/ 0 w 1168412"/>
              <a:gd name="connsiteY3" fmla="*/ 320509 h 904714"/>
              <a:gd name="connsiteX4" fmla="*/ 584206 w 1168412"/>
              <a:gd name="connsiteY4" fmla="*/ 904714 h 904714"/>
              <a:gd name="connsiteX5" fmla="*/ 1168412 w 1168412"/>
              <a:gd name="connsiteY5" fmla="*/ 320509 h 904714"/>
              <a:gd name="connsiteX6" fmla="*/ 1122502 w 1168412"/>
              <a:gd name="connsiteY6" fmla="*/ 93110 h 90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8412" h="904714">
                <a:moveTo>
                  <a:pt x="1071964" y="0"/>
                </a:moveTo>
                <a:lnTo>
                  <a:pt x="96448" y="0"/>
                </a:lnTo>
                <a:lnTo>
                  <a:pt x="45910" y="93110"/>
                </a:lnTo>
                <a:cubicBezTo>
                  <a:pt x="16347" y="163003"/>
                  <a:pt x="0" y="239847"/>
                  <a:pt x="0" y="320509"/>
                </a:cubicBezTo>
                <a:cubicBezTo>
                  <a:pt x="0" y="643157"/>
                  <a:pt x="261558" y="904714"/>
                  <a:pt x="584206" y="904714"/>
                </a:cubicBezTo>
                <a:cubicBezTo>
                  <a:pt x="906854" y="904714"/>
                  <a:pt x="1168412" y="643157"/>
                  <a:pt x="1168412" y="320509"/>
                </a:cubicBezTo>
                <a:cubicBezTo>
                  <a:pt x="1168412" y="239847"/>
                  <a:pt x="1152065" y="163003"/>
                  <a:pt x="1122502" y="93110"/>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4" name="Group 63">
            <a:extLst>
              <a:ext uri="{FF2B5EF4-FFF2-40B4-BE49-F238E27FC236}">
                <a16:creationId xmlns:a16="http://schemas.microsoft.com/office/drawing/2014/main" id="{ABF087B6-5AEA-5FEA-3A76-7408DBF87348}"/>
              </a:ext>
            </a:extLst>
          </p:cNvPr>
          <p:cNvGrpSpPr/>
          <p:nvPr userDrawn="1"/>
        </p:nvGrpSpPr>
        <p:grpSpPr>
          <a:xfrm flipH="1">
            <a:off x="9267448" y="3776959"/>
            <a:ext cx="1463578" cy="1463578"/>
            <a:chOff x="6132575" y="1705337"/>
            <a:chExt cx="3494544" cy="3494544"/>
          </a:xfrm>
        </p:grpSpPr>
        <p:sp>
          <p:nvSpPr>
            <p:cNvPr id="68" name="Oval 67">
              <a:extLst>
                <a:ext uri="{FF2B5EF4-FFF2-40B4-BE49-F238E27FC236}">
                  <a16:creationId xmlns:a16="http://schemas.microsoft.com/office/drawing/2014/main" id="{39BF98F9-6B40-A3A7-99A5-2ADF8305690D}"/>
                </a:ext>
              </a:extLst>
            </p:cNvPr>
            <p:cNvSpPr/>
            <p:nvPr userDrawn="1"/>
          </p:nvSpPr>
          <p:spPr>
            <a:xfrm>
              <a:off x="6132575" y="1705337"/>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382810DB-C073-FCC3-EB88-EE9AFAE296D4}"/>
                </a:ext>
              </a:extLst>
            </p:cNvPr>
            <p:cNvSpPr/>
            <p:nvPr userDrawn="1"/>
          </p:nvSpPr>
          <p:spPr>
            <a:xfrm>
              <a:off x="6484955" y="2057719"/>
              <a:ext cx="2789784" cy="278978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5" name="Freeform: Shape 104">
            <a:extLst>
              <a:ext uri="{FF2B5EF4-FFF2-40B4-BE49-F238E27FC236}">
                <a16:creationId xmlns:a16="http://schemas.microsoft.com/office/drawing/2014/main" id="{91D6584D-4941-51FC-165D-BA49B5929947}"/>
              </a:ext>
            </a:extLst>
          </p:cNvPr>
          <p:cNvSpPr/>
          <p:nvPr userDrawn="1"/>
        </p:nvSpPr>
        <p:spPr>
          <a:xfrm flipH="1">
            <a:off x="9267448" y="5943685"/>
            <a:ext cx="1463578" cy="1006879"/>
          </a:xfrm>
          <a:custGeom>
            <a:avLst/>
            <a:gdLst>
              <a:gd name="connsiteX0" fmla="*/ 731789 w 1463578"/>
              <a:gd name="connsiteY0" fmla="*/ 0 h 1006879"/>
              <a:gd name="connsiteX1" fmla="*/ 0 w 1463578"/>
              <a:gd name="connsiteY1" fmla="*/ 731789 h 1006879"/>
              <a:gd name="connsiteX2" fmla="*/ 14867 w 1463578"/>
              <a:gd name="connsiteY2" fmla="*/ 879270 h 1006879"/>
              <a:gd name="connsiteX3" fmla="*/ 54479 w 1463578"/>
              <a:gd name="connsiteY3" fmla="*/ 1006879 h 1006879"/>
              <a:gd name="connsiteX4" fmla="*/ 1409099 w 1463578"/>
              <a:gd name="connsiteY4" fmla="*/ 1006879 h 1006879"/>
              <a:gd name="connsiteX5" fmla="*/ 1448711 w 1463578"/>
              <a:gd name="connsiteY5" fmla="*/ 879270 h 1006879"/>
              <a:gd name="connsiteX6" fmla="*/ 1463578 w 1463578"/>
              <a:gd name="connsiteY6" fmla="*/ 731789 h 1006879"/>
              <a:gd name="connsiteX7" fmla="*/ 731789 w 1463578"/>
              <a:gd name="connsiteY7" fmla="*/ 0 h 1006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578" h="1006879">
                <a:moveTo>
                  <a:pt x="731789" y="0"/>
                </a:moveTo>
                <a:cubicBezTo>
                  <a:pt x="327633" y="0"/>
                  <a:pt x="0" y="327633"/>
                  <a:pt x="0" y="731789"/>
                </a:cubicBezTo>
                <a:cubicBezTo>
                  <a:pt x="0" y="782309"/>
                  <a:pt x="5119" y="831633"/>
                  <a:pt x="14867" y="879270"/>
                </a:cubicBezTo>
                <a:lnTo>
                  <a:pt x="54479" y="1006879"/>
                </a:lnTo>
                <a:lnTo>
                  <a:pt x="1409099" y="1006879"/>
                </a:lnTo>
                <a:lnTo>
                  <a:pt x="1448711" y="879270"/>
                </a:lnTo>
                <a:cubicBezTo>
                  <a:pt x="1458459" y="831633"/>
                  <a:pt x="1463578" y="782309"/>
                  <a:pt x="1463578" y="731789"/>
                </a:cubicBezTo>
                <a:cubicBezTo>
                  <a:pt x="1463578" y="327633"/>
                  <a:pt x="1135945" y="0"/>
                  <a:pt x="731789" y="0"/>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3" name="Freeform: Shape 102">
            <a:extLst>
              <a:ext uri="{FF2B5EF4-FFF2-40B4-BE49-F238E27FC236}">
                <a16:creationId xmlns:a16="http://schemas.microsoft.com/office/drawing/2014/main" id="{A98F5D52-AAB3-C062-E9E1-B619845DF7A3}"/>
              </a:ext>
            </a:extLst>
          </p:cNvPr>
          <p:cNvSpPr/>
          <p:nvPr userDrawn="1"/>
        </p:nvSpPr>
        <p:spPr>
          <a:xfrm flipH="1">
            <a:off x="9415031" y="6091269"/>
            <a:ext cx="1168412" cy="859295"/>
          </a:xfrm>
          <a:custGeom>
            <a:avLst/>
            <a:gdLst>
              <a:gd name="connsiteX0" fmla="*/ 584206 w 1168412"/>
              <a:gd name="connsiteY0" fmla="*/ 0 h 859295"/>
              <a:gd name="connsiteX1" fmla="*/ 0 w 1168412"/>
              <a:gd name="connsiteY1" fmla="*/ 584205 h 859295"/>
              <a:gd name="connsiteX2" fmla="*/ 45910 w 1168412"/>
              <a:gd name="connsiteY2" fmla="*/ 811604 h 859295"/>
              <a:gd name="connsiteX3" fmla="*/ 71795 w 1168412"/>
              <a:gd name="connsiteY3" fmla="*/ 859295 h 859295"/>
              <a:gd name="connsiteX4" fmla="*/ 1096616 w 1168412"/>
              <a:gd name="connsiteY4" fmla="*/ 859295 h 859295"/>
              <a:gd name="connsiteX5" fmla="*/ 1122502 w 1168412"/>
              <a:gd name="connsiteY5" fmla="*/ 811604 h 859295"/>
              <a:gd name="connsiteX6" fmla="*/ 1168412 w 1168412"/>
              <a:gd name="connsiteY6" fmla="*/ 584205 h 859295"/>
              <a:gd name="connsiteX7" fmla="*/ 584206 w 1168412"/>
              <a:gd name="connsiteY7" fmla="*/ 0 h 85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8412" h="859295">
                <a:moveTo>
                  <a:pt x="584206" y="0"/>
                </a:moveTo>
                <a:cubicBezTo>
                  <a:pt x="261558" y="0"/>
                  <a:pt x="0" y="261557"/>
                  <a:pt x="0" y="584205"/>
                </a:cubicBezTo>
                <a:cubicBezTo>
                  <a:pt x="0" y="664867"/>
                  <a:pt x="16347" y="741711"/>
                  <a:pt x="45910" y="811604"/>
                </a:cubicBezTo>
                <a:lnTo>
                  <a:pt x="71795" y="859295"/>
                </a:lnTo>
                <a:lnTo>
                  <a:pt x="1096616" y="859295"/>
                </a:lnTo>
                <a:lnTo>
                  <a:pt x="1122502" y="811604"/>
                </a:lnTo>
                <a:cubicBezTo>
                  <a:pt x="1152065" y="741711"/>
                  <a:pt x="1168412" y="664867"/>
                  <a:pt x="1168412" y="584205"/>
                </a:cubicBezTo>
                <a:cubicBezTo>
                  <a:pt x="1168412" y="261557"/>
                  <a:pt x="906854" y="0"/>
                  <a:pt x="584206" y="0"/>
                </a:cubicBezTo>
                <a:close/>
              </a:path>
            </a:pathLst>
          </a:cu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7124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with ima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0F7DD41-68BA-5ED4-4C63-7E8F329A5506}"/>
              </a:ext>
            </a:extLst>
          </p:cNvPr>
          <p:cNvSpPr>
            <a:spLocks noGrp="1"/>
          </p:cNvSpPr>
          <p:nvPr>
            <p:ph type="title"/>
          </p:nvPr>
        </p:nvSpPr>
        <p:spPr>
          <a:xfrm>
            <a:off x="484632" y="539494"/>
            <a:ext cx="5647944" cy="2165606"/>
          </a:xfrm>
        </p:spPr>
        <p:txBody>
          <a:bodyPr anchor="t"/>
          <a:lstStyle>
            <a:lvl1pPr algn="l">
              <a:defRPr sz="360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F46393B-EA4C-7241-94FA-169F6C1D5B40}"/>
              </a:ext>
            </a:extLst>
          </p:cNvPr>
          <p:cNvSpPr>
            <a:spLocks noGrp="1"/>
          </p:cNvSpPr>
          <p:nvPr>
            <p:ph sz="half" idx="2"/>
          </p:nvPr>
        </p:nvSpPr>
        <p:spPr>
          <a:xfrm>
            <a:off x="484632" y="2884714"/>
            <a:ext cx="5647943" cy="3061164"/>
          </a:xfrm>
        </p:spPr>
        <p:txBody>
          <a:bodyPr/>
          <a:lstStyle>
            <a:lvl1pPr marL="228600" indent="-228600">
              <a:lnSpc>
                <a:spcPct val="100000"/>
              </a:lnSpc>
              <a:buFont typeface="Courier New" panose="02070309020205020404" pitchFamily="49" charset="0"/>
              <a:buChar char="o"/>
              <a:defRPr sz="1800"/>
            </a:lvl1pPr>
            <a:lvl2pPr marL="685800" indent="-228600">
              <a:lnSpc>
                <a:spcPct val="100000"/>
              </a:lnSpc>
              <a:buFont typeface="Courier New" panose="02070309020205020404" pitchFamily="49" charset="0"/>
              <a:buChar char="o"/>
              <a:defRPr sz="1800"/>
            </a:lvl2pPr>
            <a:lvl3pPr marL="1143000" indent="-228600">
              <a:lnSpc>
                <a:spcPct val="100000"/>
              </a:lnSpc>
              <a:buFont typeface="Courier New" panose="02070309020205020404" pitchFamily="49" charset="0"/>
              <a:buChar char="o"/>
              <a:defRPr sz="1800"/>
            </a:lvl3pPr>
            <a:lvl4pPr marL="1600200" indent="-228600">
              <a:lnSpc>
                <a:spcPct val="100000"/>
              </a:lnSpc>
              <a:buFont typeface="Courier New" panose="02070309020205020404" pitchFamily="49" charset="0"/>
              <a:buChar char="o"/>
              <a:defRPr sz="1800"/>
            </a:lvl4pPr>
            <a:lvl5pPr marL="2114550" indent="-228600">
              <a:lnSpc>
                <a:spcPct val="100000"/>
              </a:lnSpc>
              <a:buFont typeface="Courier New" panose="02070309020205020404" pitchFamily="49" charset="0"/>
              <a:buChar char="o"/>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reeform: Shape 13">
            <a:extLst>
              <a:ext uri="{FF2B5EF4-FFF2-40B4-BE49-F238E27FC236}">
                <a16:creationId xmlns:a16="http://schemas.microsoft.com/office/drawing/2014/main" id="{A6CCDC84-83F6-B856-CA69-D2E450017E1B}"/>
              </a:ext>
            </a:extLst>
          </p:cNvPr>
          <p:cNvSpPr/>
          <p:nvPr userDrawn="1"/>
        </p:nvSpPr>
        <p:spPr>
          <a:xfrm>
            <a:off x="6377951" y="461519"/>
            <a:ext cx="5071099" cy="5715256"/>
          </a:xfrm>
          <a:custGeom>
            <a:avLst/>
            <a:gdLst>
              <a:gd name="connsiteX0" fmla="*/ 1737360 w 3474720"/>
              <a:gd name="connsiteY0" fmla="*/ 0 h 3739650"/>
              <a:gd name="connsiteX1" fmla="*/ 3474720 w 3474720"/>
              <a:gd name="connsiteY1" fmla="*/ 1737360 h 3739650"/>
              <a:gd name="connsiteX2" fmla="*/ 3474720 w 3474720"/>
              <a:gd name="connsiteY2" fmla="*/ 3657600 h 3739650"/>
              <a:gd name="connsiteX3" fmla="*/ 3470577 w 3474720"/>
              <a:gd name="connsiteY3" fmla="*/ 3739650 h 3739650"/>
              <a:gd name="connsiteX4" fmla="*/ 3333186 w 3474720"/>
              <a:gd name="connsiteY4" fmla="*/ 3739650 h 3739650"/>
              <a:gd name="connsiteX5" fmla="*/ 3337560 w 3474720"/>
              <a:gd name="connsiteY5" fmla="*/ 3653028 h 3739650"/>
              <a:gd name="connsiteX6" fmla="*/ 3337560 w 3474720"/>
              <a:gd name="connsiteY6" fmla="*/ 1741932 h 3739650"/>
              <a:gd name="connsiteX7" fmla="*/ 1737360 w 3474720"/>
              <a:gd name="connsiteY7" fmla="*/ 141732 h 3739650"/>
              <a:gd name="connsiteX8" fmla="*/ 137160 w 3474720"/>
              <a:gd name="connsiteY8" fmla="*/ 1741932 h 3739650"/>
              <a:gd name="connsiteX9" fmla="*/ 137160 w 3474720"/>
              <a:gd name="connsiteY9" fmla="*/ 3653028 h 3739650"/>
              <a:gd name="connsiteX10" fmla="*/ 141534 w 3474720"/>
              <a:gd name="connsiteY10" fmla="*/ 3739650 h 3739650"/>
              <a:gd name="connsiteX11" fmla="*/ 4144 w 3474720"/>
              <a:gd name="connsiteY11" fmla="*/ 3739650 h 3739650"/>
              <a:gd name="connsiteX12" fmla="*/ 0 w 3474720"/>
              <a:gd name="connsiteY12" fmla="*/ 3657600 h 3739650"/>
              <a:gd name="connsiteX13" fmla="*/ 0 w 3474720"/>
              <a:gd name="connsiteY13" fmla="*/ 1737360 h 3739650"/>
              <a:gd name="connsiteX14" fmla="*/ 1737360 w 3474720"/>
              <a:gd name="connsiteY14" fmla="*/ 0 h 373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74720" h="3739650">
                <a:moveTo>
                  <a:pt x="1737360" y="0"/>
                </a:moveTo>
                <a:cubicBezTo>
                  <a:pt x="2696877" y="0"/>
                  <a:pt x="3474720" y="777843"/>
                  <a:pt x="3474720" y="1737360"/>
                </a:cubicBezTo>
                <a:lnTo>
                  <a:pt x="3474720" y="3657600"/>
                </a:lnTo>
                <a:lnTo>
                  <a:pt x="3470577" y="3739650"/>
                </a:lnTo>
                <a:lnTo>
                  <a:pt x="3333186" y="3739650"/>
                </a:lnTo>
                <a:lnTo>
                  <a:pt x="3337560" y="3653028"/>
                </a:lnTo>
                <a:lnTo>
                  <a:pt x="3337560" y="1741932"/>
                </a:lnTo>
                <a:cubicBezTo>
                  <a:pt x="3337560" y="858166"/>
                  <a:pt x="2621126" y="141732"/>
                  <a:pt x="1737360" y="141732"/>
                </a:cubicBezTo>
                <a:cubicBezTo>
                  <a:pt x="853594" y="141732"/>
                  <a:pt x="137160" y="858166"/>
                  <a:pt x="137160" y="1741932"/>
                </a:cubicBezTo>
                <a:lnTo>
                  <a:pt x="137160" y="3653028"/>
                </a:lnTo>
                <a:lnTo>
                  <a:pt x="141534" y="3739650"/>
                </a:lnTo>
                <a:lnTo>
                  <a:pt x="4144" y="3739650"/>
                </a:lnTo>
                <a:lnTo>
                  <a:pt x="0" y="3657600"/>
                </a:lnTo>
                <a:lnTo>
                  <a:pt x="0" y="1737360"/>
                </a:lnTo>
                <a:cubicBezTo>
                  <a:pt x="0" y="777843"/>
                  <a:pt x="777843" y="0"/>
                  <a:pt x="1737360" y="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ooter Placeholder 4">
            <a:extLst>
              <a:ext uri="{FF2B5EF4-FFF2-40B4-BE49-F238E27FC236}">
                <a16:creationId xmlns:a16="http://schemas.microsoft.com/office/drawing/2014/main" id="{C49C84CC-2E83-4E90-02B6-E64026D4CEC3}"/>
              </a:ext>
            </a:extLst>
          </p:cNvPr>
          <p:cNvSpPr>
            <a:spLocks noGrp="1"/>
          </p:cNvSpPr>
          <p:nvPr>
            <p:ph type="ftr" sz="quarter" idx="3"/>
          </p:nvPr>
        </p:nvSpPr>
        <p:spPr>
          <a:xfrm>
            <a:off x="742950" y="6176964"/>
            <a:ext cx="2639568" cy="338328"/>
          </a:xfrm>
          <a:prstGeom prst="rect">
            <a:avLst/>
          </a:prstGeom>
          <a:noFill/>
        </p:spPr>
        <p:txBody>
          <a:bodyPr vert="horz" lIns="0" tIns="45720" rIns="91440" bIns="45720" rtlCol="0" anchor="ctr">
            <a:noAutofit/>
          </a:bodyPr>
          <a:lstStyle>
            <a:lvl1pPr algn="l">
              <a:defRPr sz="1050" b="0">
                <a:solidFill>
                  <a:schemeClr val="bg1"/>
                </a:solidFill>
                <a:latin typeface="+mn-lt"/>
              </a:defRPr>
            </a:lvl1pPr>
          </a:lstStyle>
          <a:p>
            <a:r>
              <a:rPr lang="en-US"/>
              <a:t>Presentation title</a:t>
            </a:r>
            <a:endParaRPr lang="en-US" dirty="0"/>
          </a:p>
        </p:txBody>
      </p:sp>
      <p:sp>
        <p:nvSpPr>
          <p:cNvPr id="20" name="Slide Number Placeholder 5">
            <a:extLst>
              <a:ext uri="{FF2B5EF4-FFF2-40B4-BE49-F238E27FC236}">
                <a16:creationId xmlns:a16="http://schemas.microsoft.com/office/drawing/2014/main" id="{41E4088B-DD79-A278-AF3F-1749486DA1A9}"/>
              </a:ext>
            </a:extLst>
          </p:cNvPr>
          <p:cNvSpPr>
            <a:spLocks noGrp="1"/>
          </p:cNvSpPr>
          <p:nvPr>
            <p:ph type="sldNum" sz="quarter" idx="4"/>
          </p:nvPr>
        </p:nvSpPr>
        <p:spPr>
          <a:xfrm>
            <a:off x="5926836" y="6176963"/>
            <a:ext cx="338328" cy="338329"/>
          </a:xfrm>
          <a:prstGeom prst="ellipse">
            <a:avLst/>
          </a:prstGeom>
          <a:noFill/>
          <a:ln w="12700">
            <a:noFill/>
          </a:ln>
        </p:spPr>
        <p:txBody>
          <a:bodyPr vert="horz" lIns="0" tIns="0" rIns="0" bIns="0" rtlCol="0" anchor="ctr">
            <a:noAutofit/>
          </a:bodyPr>
          <a:lstStyle>
            <a:lvl1pPr algn="ctr">
              <a:defRPr sz="1050">
                <a:solidFill>
                  <a:schemeClr val="bg1"/>
                </a:solidFill>
                <a:latin typeface="+mn-lt"/>
              </a:defRPr>
            </a:lvl1pPr>
          </a:lstStyle>
          <a:p>
            <a:fld id="{B776CE9F-4BD8-A748-847B-B97BB3C5BACA}" type="slidenum">
              <a:rPr lang="en-US" smtClean="0"/>
              <a:pPr/>
              <a:t>‹#›</a:t>
            </a:fld>
            <a:endParaRPr lang="en-US" dirty="0"/>
          </a:p>
        </p:txBody>
      </p:sp>
      <p:sp>
        <p:nvSpPr>
          <p:cNvPr id="19" name="Date Placeholder 3">
            <a:extLst>
              <a:ext uri="{FF2B5EF4-FFF2-40B4-BE49-F238E27FC236}">
                <a16:creationId xmlns:a16="http://schemas.microsoft.com/office/drawing/2014/main" id="{8C9F96A2-B778-F360-4A81-BF3137E33E01}"/>
              </a:ext>
            </a:extLst>
          </p:cNvPr>
          <p:cNvSpPr>
            <a:spLocks noGrp="1"/>
          </p:cNvSpPr>
          <p:nvPr>
            <p:ph type="dt" sz="half" idx="10"/>
          </p:nvPr>
        </p:nvSpPr>
        <p:spPr>
          <a:xfrm>
            <a:off x="10690098" y="6176964"/>
            <a:ext cx="758952" cy="338328"/>
          </a:xfrm>
          <a:prstGeom prst="rect">
            <a:avLst/>
          </a:prstGeom>
          <a:noFill/>
        </p:spPr>
        <p:txBody>
          <a:bodyPr vert="horz" lIns="0" tIns="0" rIns="0" bIns="0" rtlCol="0" anchor="ctr">
            <a:noAutofit/>
          </a:bodyPr>
          <a:lstStyle>
            <a:lvl1pPr algn="r">
              <a:defRPr sz="1050">
                <a:solidFill>
                  <a:schemeClr val="bg1"/>
                </a:solidFill>
                <a:latin typeface="+mn-lt"/>
              </a:defRPr>
            </a:lvl1pPr>
          </a:lstStyle>
          <a:p>
            <a:r>
              <a:rPr lang="en-US"/>
              <a:t>20XX</a:t>
            </a:r>
            <a:endParaRPr lang="en-US" dirty="0"/>
          </a:p>
        </p:txBody>
      </p:sp>
      <p:sp>
        <p:nvSpPr>
          <p:cNvPr id="29" name="Rectangle: Rounded Corners 28">
            <a:extLst>
              <a:ext uri="{FF2B5EF4-FFF2-40B4-BE49-F238E27FC236}">
                <a16:creationId xmlns:a16="http://schemas.microsoft.com/office/drawing/2014/main" id="{F7F65244-9AFF-8C9D-7C80-96817E383B8B}"/>
              </a:ext>
            </a:extLst>
          </p:cNvPr>
          <p:cNvSpPr/>
          <p:nvPr userDrawn="1"/>
        </p:nvSpPr>
        <p:spPr>
          <a:xfrm>
            <a:off x="11413067" y="539496"/>
            <a:ext cx="347640" cy="338328"/>
          </a:xfrm>
          <a:prstGeom prst="roundRect">
            <a:avLst>
              <a:gd name="adj" fmla="val 50000"/>
            </a:avLst>
          </a:prstGeom>
          <a:no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30" name="Rectangle: Rounded Corners 29">
            <a:extLst>
              <a:ext uri="{FF2B5EF4-FFF2-40B4-BE49-F238E27FC236}">
                <a16:creationId xmlns:a16="http://schemas.microsoft.com/office/drawing/2014/main" id="{02796643-62C8-7A51-417A-B69EB15A8748}"/>
              </a:ext>
            </a:extLst>
          </p:cNvPr>
          <p:cNvSpPr/>
          <p:nvPr userDrawn="1"/>
        </p:nvSpPr>
        <p:spPr>
          <a:xfrm>
            <a:off x="11480840" y="606136"/>
            <a:ext cx="210121" cy="204493"/>
          </a:xfrm>
          <a:prstGeom prst="roundRect">
            <a:avLst>
              <a:gd name="adj" fmla="val 50000"/>
            </a:avLst>
          </a:prstGeom>
          <a:solidFill>
            <a:schemeClr val="accent2"/>
          </a:solidFill>
          <a:ln w="12700">
            <a:solidFill>
              <a:schemeClr val="tx1"/>
            </a:solidFill>
          </a:ln>
        </p:spPr>
        <p:txBody>
          <a:bodyPr vert="horz" lIns="0" tIns="0" rIns="0" bIns="0" rtlCol="0" anchor="ctr">
            <a:noAutofit/>
          </a:bodyPr>
          <a:lstStyle/>
          <a:p>
            <a:pPr lvl="0" algn="ctr"/>
            <a:endParaRPr lang="en-US" sz="1200">
              <a:solidFill>
                <a:schemeClr val="tx1"/>
              </a:solidFill>
              <a:latin typeface="+mj-lt"/>
            </a:endParaRPr>
          </a:p>
        </p:txBody>
      </p:sp>
      <p:sp>
        <p:nvSpPr>
          <p:cNvPr id="6" name="Picture Placeholder 5">
            <a:extLst>
              <a:ext uri="{FF2B5EF4-FFF2-40B4-BE49-F238E27FC236}">
                <a16:creationId xmlns:a16="http://schemas.microsoft.com/office/drawing/2014/main" id="{9BC1AA77-084C-DAB2-FD5B-5D12C52D4C01}"/>
              </a:ext>
            </a:extLst>
          </p:cNvPr>
          <p:cNvSpPr>
            <a:spLocks noGrp="1"/>
          </p:cNvSpPr>
          <p:nvPr>
            <p:ph type="pic" sz="quarter" idx="12"/>
          </p:nvPr>
        </p:nvSpPr>
        <p:spPr>
          <a:xfrm>
            <a:off x="6577709" y="678128"/>
            <a:ext cx="4670749" cy="5498645"/>
          </a:xfrm>
          <a:custGeom>
            <a:avLst/>
            <a:gdLst>
              <a:gd name="connsiteX0" fmla="*/ 2335375 w 4670749"/>
              <a:gd name="connsiteY0" fmla="*/ 0 h 5498649"/>
              <a:gd name="connsiteX1" fmla="*/ 4670749 w 4670749"/>
              <a:gd name="connsiteY1" fmla="*/ 2445564 h 5498649"/>
              <a:gd name="connsiteX2" fmla="*/ 4670749 w 4670749"/>
              <a:gd name="connsiteY2" fmla="*/ 5366266 h 5498649"/>
              <a:gd name="connsiteX3" fmla="*/ 4664366 w 4670749"/>
              <a:gd name="connsiteY3" fmla="*/ 5498649 h 5498649"/>
              <a:gd name="connsiteX4" fmla="*/ 6384 w 4670749"/>
              <a:gd name="connsiteY4" fmla="*/ 5498649 h 5498649"/>
              <a:gd name="connsiteX5" fmla="*/ 0 w 4670749"/>
              <a:gd name="connsiteY5" fmla="*/ 5366266 h 5498649"/>
              <a:gd name="connsiteX6" fmla="*/ 0 w 4670749"/>
              <a:gd name="connsiteY6" fmla="*/ 2445564 h 5498649"/>
              <a:gd name="connsiteX7" fmla="*/ 2335375 w 4670749"/>
              <a:gd name="connsiteY7" fmla="*/ 0 h 549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749" h="5498649">
                <a:moveTo>
                  <a:pt x="2335375" y="0"/>
                </a:moveTo>
                <a:cubicBezTo>
                  <a:pt x="3625166" y="0"/>
                  <a:pt x="4670749" y="1094916"/>
                  <a:pt x="4670749" y="2445564"/>
                </a:cubicBezTo>
                <a:lnTo>
                  <a:pt x="4670749" y="5366266"/>
                </a:lnTo>
                <a:lnTo>
                  <a:pt x="4664366" y="5498649"/>
                </a:lnTo>
                <a:lnTo>
                  <a:pt x="6384" y="5498649"/>
                </a:lnTo>
                <a:lnTo>
                  <a:pt x="0" y="5366266"/>
                </a:lnTo>
                <a:lnTo>
                  <a:pt x="0" y="2445564"/>
                </a:lnTo>
                <a:cubicBezTo>
                  <a:pt x="0" y="1094916"/>
                  <a:pt x="1045583" y="0"/>
                  <a:pt x="2335375" y="0"/>
                </a:cubicBezTo>
                <a:close/>
              </a:path>
            </a:pathLst>
          </a:custGeom>
          <a:solidFill>
            <a:schemeClr val="accent1"/>
          </a:solidFill>
          <a:ln w="12700">
            <a:solidFill>
              <a:schemeClr val="tx1"/>
            </a:solidFill>
          </a:ln>
        </p:spPr>
        <p:txBody>
          <a:bodyPr vert="horz" wrap="square" lIns="91440" tIns="45720" rIns="91440" bIns="45720" rtlCol="0">
            <a:noAutofit/>
          </a:bodyPr>
          <a:lstStyle>
            <a:lvl1pPr marL="0" indent="0" algn="ctr">
              <a:buNone/>
              <a:defRPr lang="en-US" sz="1800" dirty="0"/>
            </a:lvl1pPr>
          </a:lstStyle>
          <a:p>
            <a:pPr marL="228600" lvl="0" indent="-228600"/>
            <a:r>
              <a:rPr lang="en-US"/>
              <a:t>Click icon to add picture</a:t>
            </a:r>
            <a:endParaRPr lang="en-US" dirty="0"/>
          </a:p>
        </p:txBody>
      </p:sp>
    </p:spTree>
    <p:extLst>
      <p:ext uri="{BB962C8B-B14F-4D97-AF65-F5344CB8AC3E}">
        <p14:creationId xmlns:p14="http://schemas.microsoft.com/office/powerpoint/2010/main" val="370294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6676-10F2-4488-9EF0-848550D8CB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276428-DFED-46DA-B6DE-0FC38C9D4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8E62DB-A434-415C-AF55-E42E0F77F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28384-BCFF-4CD2-87C9-B21325CF45C8}" type="datetimeFigureOut">
              <a:rPr lang="en-US" smtClean="0"/>
              <a:t>10/16/2025</a:t>
            </a:fld>
            <a:endParaRPr lang="en-US"/>
          </a:p>
        </p:txBody>
      </p:sp>
      <p:sp>
        <p:nvSpPr>
          <p:cNvPr id="5" name="Footer Placeholder 4">
            <a:extLst>
              <a:ext uri="{FF2B5EF4-FFF2-40B4-BE49-F238E27FC236}">
                <a16:creationId xmlns:a16="http://schemas.microsoft.com/office/drawing/2014/main" id="{CDAB5C10-C078-49AA-9DBF-229EA6E9EF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739F7E-94CD-4D34-9AF1-7B472B7FEF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939204-BF2B-4272-8C22-9C01132AF33A}" type="slidenum">
              <a:rPr lang="en-US" smtClean="0"/>
              <a:t>‹#›</a:t>
            </a:fld>
            <a:endParaRPr lang="en-US"/>
          </a:p>
        </p:txBody>
      </p:sp>
    </p:spTree>
    <p:extLst>
      <p:ext uri="{BB962C8B-B14F-4D97-AF65-F5344CB8AC3E}">
        <p14:creationId xmlns:p14="http://schemas.microsoft.com/office/powerpoint/2010/main" val="2794717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datasets/muthuj7/weather-dataset/data"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21.jp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FDA1B5-A2E5-4F65-9667-4B711E670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7" y="0"/>
            <a:ext cx="12184265" cy="6858000"/>
          </a:xfrm>
          <a:prstGeom prst="rect">
            <a:avLst/>
          </a:prstGeom>
        </p:spPr>
      </p:pic>
      <p:sp>
        <p:nvSpPr>
          <p:cNvPr id="10" name="Rectangle: Diagonal Corners Rounded 9">
            <a:extLst>
              <a:ext uri="{FF2B5EF4-FFF2-40B4-BE49-F238E27FC236}">
                <a16:creationId xmlns:a16="http://schemas.microsoft.com/office/drawing/2014/main" id="{445BEFCF-FDD8-4983-AB15-E523D4CB3556}"/>
              </a:ext>
            </a:extLst>
          </p:cNvPr>
          <p:cNvSpPr/>
          <p:nvPr/>
        </p:nvSpPr>
        <p:spPr>
          <a:xfrm>
            <a:off x="10187362" y="5889071"/>
            <a:ext cx="1847654" cy="792480"/>
          </a:xfrm>
          <a:prstGeom prst="round2DiagRect">
            <a:avLst>
              <a:gd name="adj1" fmla="val 50000"/>
              <a:gd name="adj2" fmla="val 20940"/>
            </a:avLst>
          </a:prstGeom>
          <a:solidFill>
            <a:schemeClr val="tx1">
              <a:lumMod val="95000"/>
              <a:lumOff val="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Presented By</a:t>
            </a:r>
          </a:p>
          <a:p>
            <a:pPr algn="ctr"/>
            <a:r>
              <a:rPr lang="en-US" b="1" dirty="0"/>
              <a:t>MDZ</a:t>
            </a:r>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242845" y="4857831"/>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4" name="TextBox 3">
            <a:extLst>
              <a:ext uri="{FF2B5EF4-FFF2-40B4-BE49-F238E27FC236}">
                <a16:creationId xmlns:a16="http://schemas.microsoft.com/office/drawing/2014/main" id="{8CEF2345-E370-42FB-9043-77EAD574AA50}"/>
              </a:ext>
            </a:extLst>
          </p:cNvPr>
          <p:cNvSpPr txBox="1"/>
          <p:nvPr/>
        </p:nvSpPr>
        <p:spPr>
          <a:xfrm>
            <a:off x="1823172" y="351546"/>
            <a:ext cx="9111447" cy="1200329"/>
          </a:xfrm>
          <a:prstGeom prst="rect">
            <a:avLst/>
          </a:prstGeom>
          <a:noFill/>
        </p:spPr>
        <p:txBody>
          <a:bodyPr wrap="square" rtlCol="0">
            <a:spAutoFit/>
          </a:bodyPr>
          <a:lstStyle/>
          <a:p>
            <a:pPr algn="ctr"/>
            <a:r>
              <a:rPr lang="en-US" sz="7200" b="1" dirty="0">
                <a:effectLst>
                  <a:outerShdw blurRad="38100" dist="38100" dir="2700000" algn="tl">
                    <a:srgbClr val="000000">
                      <a:alpha val="43137"/>
                    </a:srgbClr>
                  </a:outerShdw>
                </a:effectLst>
                <a:latin typeface="Curlz MT" panose="04040404050702020202" pitchFamily="82" charset="0"/>
              </a:rPr>
              <a:t>Weather Impact Analysis </a:t>
            </a:r>
          </a:p>
        </p:txBody>
      </p:sp>
      <p:sp>
        <p:nvSpPr>
          <p:cNvPr id="22" name="TextBox 21">
            <a:extLst>
              <a:ext uri="{FF2B5EF4-FFF2-40B4-BE49-F238E27FC236}">
                <a16:creationId xmlns:a16="http://schemas.microsoft.com/office/drawing/2014/main" id="{5D1FEBCD-3D2E-4E70-9865-AD60BF5BEEAE}"/>
              </a:ext>
            </a:extLst>
          </p:cNvPr>
          <p:cNvSpPr txBox="1"/>
          <p:nvPr/>
        </p:nvSpPr>
        <p:spPr>
          <a:xfrm>
            <a:off x="2174239" y="1469190"/>
            <a:ext cx="6096000" cy="646331"/>
          </a:xfrm>
          <a:prstGeom prst="rect">
            <a:avLst/>
          </a:prstGeom>
          <a:noFill/>
        </p:spPr>
        <p:txBody>
          <a:bodyPr wrap="square">
            <a:spAutoFit/>
          </a:bodyPr>
          <a:lstStyle/>
          <a:p>
            <a:r>
              <a:rPr lang="en-GB" b="1" i="1" dirty="0">
                <a:highlight>
                  <a:srgbClr val="C0C0C0"/>
                </a:highlight>
              </a:rPr>
              <a:t>- Analysis and Prediction of Weather Patterns Using Data Science and Machine Learning.</a:t>
            </a:r>
            <a:endParaRPr lang="en-US" b="1" i="1" dirty="0">
              <a:highlight>
                <a:srgbClr val="C0C0C0"/>
              </a:highlight>
            </a:endParaRPr>
          </a:p>
        </p:txBody>
      </p:sp>
      <p:sp>
        <p:nvSpPr>
          <p:cNvPr id="11" name="Freeform: Shape 10">
            <a:extLst>
              <a:ext uri="{FF2B5EF4-FFF2-40B4-BE49-F238E27FC236}">
                <a16:creationId xmlns:a16="http://schemas.microsoft.com/office/drawing/2014/main" id="{EF43F331-3DCD-4B86-8988-9134CBA2A09C}"/>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805470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C7789AE9-CC3F-4111-B2DD-848E60623584}"/>
              </a:ext>
            </a:extLst>
          </p:cNvPr>
          <p:cNvSpPr txBox="1">
            <a:spLocks/>
          </p:cNvSpPr>
          <p:nvPr/>
        </p:nvSpPr>
        <p:spPr>
          <a:xfrm>
            <a:off x="1082040" y="1031240"/>
            <a:ext cx="10027920" cy="4795520"/>
          </a:xfrm>
          <a:prstGeom prst="roundRect">
            <a:avLst>
              <a:gd name="adj" fmla="val 50000"/>
            </a:avLst>
          </a:prstGeom>
          <a:noFill/>
          <a:ln w="57150">
            <a:prstDash val="lgDash"/>
          </a:ln>
        </p:spPr>
        <p:style>
          <a:lnRef idx="2">
            <a:schemeClr val="dk1"/>
          </a:lnRef>
          <a:fillRef idx="1">
            <a:schemeClr val="lt1"/>
          </a:fillRef>
          <a:effectRef idx="0">
            <a:schemeClr val="dk1"/>
          </a:effectRef>
          <a:fontRef idx="minor">
            <a:schemeClr val="dk1"/>
          </a:fontRef>
        </p:style>
        <p:txBody>
          <a:bodyPr>
            <a:normAutofit fontScale="62500" lnSpcReduction="20000"/>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lt1"/>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lt1"/>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lt1"/>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lt1"/>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n-US" sz="4000" b="1" dirty="0">
                <a:solidFill>
                  <a:schemeClr val="tx1"/>
                </a:solidFill>
                <a:latin typeface="Consolas" panose="020B0609020204030204" pitchFamily="49" charset="0"/>
              </a:rPr>
              <a:t>				Content</a:t>
            </a:r>
            <a:endParaRPr lang="en-US" b="1" dirty="0">
              <a:solidFill>
                <a:schemeClr val="tx1"/>
              </a:solidFill>
              <a:latin typeface="Consolas" panose="020B0609020204030204" pitchFamily="49" charset="0"/>
            </a:endParaRPr>
          </a:p>
          <a:p>
            <a:pPr>
              <a:buFont typeface="Wingdings" panose="05000000000000000000" pitchFamily="2" charset="2"/>
              <a:buChar char="q"/>
            </a:pPr>
            <a:r>
              <a:rPr lang="en-US" b="1" u="sng" dirty="0">
                <a:solidFill>
                  <a:schemeClr val="tx1"/>
                </a:solidFill>
                <a:highlight>
                  <a:srgbClr val="ED7D31"/>
                </a:highlight>
                <a:latin typeface="Consolas" panose="020B0609020204030204" pitchFamily="49" charset="0"/>
              </a:rPr>
              <a:t>Objective</a:t>
            </a:r>
            <a:r>
              <a:rPr lang="en-US" b="1" dirty="0">
                <a:solidFill>
                  <a:schemeClr val="tx1"/>
                </a:solidFill>
                <a:highlight>
                  <a:srgbClr val="ED7D31"/>
                </a:highlight>
                <a:latin typeface="Consolas" panose="020B0609020204030204" pitchFamily="49" charset="0"/>
              </a:rPr>
              <a:t>: </a:t>
            </a:r>
            <a:r>
              <a:rPr lang="en-GB" sz="2200" dirty="0">
                <a:solidFill>
                  <a:schemeClr val="tx1"/>
                </a:solidFill>
                <a:highlight>
                  <a:srgbClr val="ED7D31"/>
                </a:highlight>
                <a:latin typeface="Consolas" panose="020B0609020204030204" pitchFamily="49" charset="0"/>
                <a:cs typeface="Calibri" panose="020F0502020204030204" pitchFamily="34" charset="0"/>
              </a:rPr>
              <a:t>Analyse and predict weather patterns using exploratory data analysis (EDA) and machine learning to understand how environmental factors like humidity, wind speed, and pressure influence temperature and overall weather conditions. Develop models capable of forecasting short-term temperature or weather trends.</a:t>
            </a:r>
          </a:p>
          <a:p>
            <a:pPr>
              <a:buFont typeface="Wingdings" panose="05000000000000000000" pitchFamily="2" charset="2"/>
              <a:buChar char="q"/>
            </a:pPr>
            <a:endParaRPr lang="en-US" dirty="0">
              <a:solidFill>
                <a:schemeClr val="tx1"/>
              </a:solidFill>
              <a:highlight>
                <a:srgbClr val="ED7D31"/>
              </a:highlight>
              <a:latin typeface="Consolas" panose="020B0609020204030204" pitchFamily="49" charset="0"/>
            </a:endParaRPr>
          </a:p>
          <a:p>
            <a:pPr>
              <a:buFont typeface="Wingdings" panose="05000000000000000000" pitchFamily="2" charset="2"/>
              <a:buChar char="q"/>
            </a:pPr>
            <a:r>
              <a:rPr lang="en-US" b="1" u="sng" dirty="0">
                <a:solidFill>
                  <a:schemeClr val="tx1"/>
                </a:solidFill>
                <a:highlight>
                  <a:srgbClr val="ED7D31"/>
                </a:highlight>
                <a:latin typeface="Consolas" panose="020B0609020204030204" pitchFamily="49" charset="0"/>
              </a:rPr>
              <a:t>Problem</a:t>
            </a:r>
            <a:r>
              <a:rPr lang="en-US" b="1" dirty="0">
                <a:solidFill>
                  <a:schemeClr val="tx1"/>
                </a:solidFill>
                <a:highlight>
                  <a:srgbClr val="ED7D31"/>
                </a:highlight>
                <a:latin typeface="Consolas" panose="020B0609020204030204" pitchFamily="49" charset="0"/>
              </a:rPr>
              <a:t>: </a:t>
            </a:r>
            <a:r>
              <a:rPr lang="en-GB" sz="2200" dirty="0">
                <a:solidFill>
                  <a:schemeClr val="tx1"/>
                </a:solidFill>
                <a:highlight>
                  <a:srgbClr val="ED7D31"/>
                </a:highlight>
                <a:latin typeface="Consolas" panose="020B0609020204030204" pitchFamily="49" charset="0"/>
                <a:cs typeface="Calibri" panose="020F0502020204030204" pitchFamily="34" charset="0"/>
              </a:rPr>
              <a:t>Weather variations are highly dynamic and influenced by multiple correlated parameters. Manual analysis or simple statistical observation cannot accurately capture these relationships, making it difficult to predict real-time conditions or temperature fluctuations effectively.</a:t>
            </a:r>
          </a:p>
          <a:p>
            <a:pPr>
              <a:buFont typeface="Wingdings" panose="05000000000000000000" pitchFamily="2" charset="2"/>
              <a:buChar char="q"/>
            </a:pPr>
            <a:endParaRPr lang="en-US" dirty="0">
              <a:solidFill>
                <a:schemeClr val="tx1"/>
              </a:solidFill>
              <a:highlight>
                <a:srgbClr val="ED7D31"/>
              </a:highlight>
              <a:latin typeface="Consolas" panose="020B0609020204030204" pitchFamily="49" charset="0"/>
            </a:endParaRPr>
          </a:p>
          <a:p>
            <a:pPr>
              <a:buFont typeface="Wingdings" panose="05000000000000000000" pitchFamily="2" charset="2"/>
              <a:buChar char="q"/>
            </a:pPr>
            <a:r>
              <a:rPr lang="en-US" b="1" u="sng" dirty="0">
                <a:solidFill>
                  <a:schemeClr val="tx1"/>
                </a:solidFill>
                <a:highlight>
                  <a:srgbClr val="ED7D31"/>
                </a:highlight>
                <a:latin typeface="Consolas" panose="020B0609020204030204" pitchFamily="49" charset="0"/>
              </a:rPr>
              <a:t>Goal</a:t>
            </a:r>
            <a:r>
              <a:rPr lang="en-US" b="1" dirty="0">
                <a:solidFill>
                  <a:schemeClr val="tx1"/>
                </a:solidFill>
                <a:highlight>
                  <a:srgbClr val="ED7D31"/>
                </a:highlight>
                <a:latin typeface="Consolas" panose="020B0609020204030204" pitchFamily="49" charset="0"/>
              </a:rPr>
              <a:t>: </a:t>
            </a:r>
            <a:r>
              <a:rPr lang="en-GB" sz="2200" dirty="0">
                <a:solidFill>
                  <a:schemeClr val="tx1"/>
                </a:solidFill>
                <a:highlight>
                  <a:srgbClr val="ED7D31"/>
                </a:highlight>
                <a:latin typeface="Consolas" panose="020B0609020204030204" pitchFamily="49" charset="0"/>
                <a:cs typeface="Calibri" panose="020F0502020204030204" pitchFamily="34" charset="0"/>
              </a:rPr>
              <a:t>Identify meaningful patterns within the dataset, evaluate multiple predictive models, and create a reliable system that forecasts weather conditions. This approach supports better planning for agriculture, outdoor activities, and smart-city infrastructure through data-driven weather insights.</a:t>
            </a:r>
            <a:endParaRPr lang="en-US" sz="2200" dirty="0">
              <a:solidFill>
                <a:schemeClr val="tx1"/>
              </a:solidFill>
              <a:highlight>
                <a:srgbClr val="ED7D31"/>
              </a:highlight>
              <a:latin typeface="Consolas" panose="020B0609020204030204" pitchFamily="49" charset="0"/>
              <a:cs typeface="Calibri" panose="020F0502020204030204" pitchFamily="34" charset="0"/>
            </a:endParaRPr>
          </a:p>
        </p:txBody>
      </p:sp>
      <p:grpSp>
        <p:nvGrpSpPr>
          <p:cNvPr id="5" name="Group 4">
            <a:extLst>
              <a:ext uri="{FF2B5EF4-FFF2-40B4-BE49-F238E27FC236}">
                <a16:creationId xmlns:a16="http://schemas.microsoft.com/office/drawing/2014/main" id="{8EC5265D-5A44-4F10-84B3-BA7BE4295B28}"/>
              </a:ext>
            </a:extLst>
          </p:cNvPr>
          <p:cNvGrpSpPr/>
          <p:nvPr/>
        </p:nvGrpSpPr>
        <p:grpSpPr>
          <a:xfrm>
            <a:off x="10026925" y="0"/>
            <a:ext cx="1931394" cy="2062480"/>
            <a:chOff x="980386" y="18857"/>
            <a:chExt cx="2055043" cy="2262260"/>
          </a:xfrm>
        </p:grpSpPr>
        <p:sp>
          <p:nvSpPr>
            <p:cNvPr id="6" name="Rectangle: Rounded Corners 5">
              <a:extLst>
                <a:ext uri="{FF2B5EF4-FFF2-40B4-BE49-F238E27FC236}">
                  <a16:creationId xmlns:a16="http://schemas.microsoft.com/office/drawing/2014/main" id="{F2EEA9B6-D47A-44FA-942F-39F1AFFCDB6A}"/>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5E8FD732-59E2-4BCE-B4C7-2ECC7EDB9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8" name="TextBox 7">
              <a:extLst>
                <a:ext uri="{FF2B5EF4-FFF2-40B4-BE49-F238E27FC236}">
                  <a16:creationId xmlns:a16="http://schemas.microsoft.com/office/drawing/2014/main" id="{7837B95F-DFBE-46C8-A141-6F8FA562817D}"/>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9" name="Freeform: Shape 8">
            <a:extLst>
              <a:ext uri="{FF2B5EF4-FFF2-40B4-BE49-F238E27FC236}">
                <a16:creationId xmlns:a16="http://schemas.microsoft.com/office/drawing/2014/main" id="{79F48F1E-43FD-4C23-A6EC-381BC24DF40E}"/>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755714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11DB810A-5986-4491-B612-9D091CB9A127}"/>
              </a:ext>
            </a:extLst>
          </p:cNvPr>
          <p:cNvSpPr/>
          <p:nvPr/>
        </p:nvSpPr>
        <p:spPr>
          <a:xfrm>
            <a:off x="197432" y="180130"/>
            <a:ext cx="6142408" cy="3248870"/>
          </a:xfrm>
          <a:prstGeom prst="roundRect">
            <a:avLst>
              <a:gd name="adj" fmla="val 5684"/>
            </a:avLst>
          </a:prstGeom>
          <a:ln w="76200">
            <a:solidFill>
              <a:srgbClr val="ED7D31"/>
            </a:solidFill>
            <a:prstDash val="lgDash"/>
            <a:extLst>
              <a:ext uri="{C807C97D-BFC1-408E-A445-0C87EB9F89A2}">
                <ask:lineSketchStyleProps xmlns:ask="http://schemas.microsoft.com/office/drawing/2018/sketchyshapes" sd="3784852710">
                  <a:custGeom>
                    <a:avLst/>
                    <a:gdLst>
                      <a:gd name="connsiteX0" fmla="*/ 0 w 6477688"/>
                      <a:gd name="connsiteY0" fmla="*/ 184666 h 3248870"/>
                      <a:gd name="connsiteX1" fmla="*/ 184666 w 6477688"/>
                      <a:gd name="connsiteY1" fmla="*/ 0 h 3248870"/>
                      <a:gd name="connsiteX2" fmla="*/ 6293022 w 6477688"/>
                      <a:gd name="connsiteY2" fmla="*/ 0 h 3248870"/>
                      <a:gd name="connsiteX3" fmla="*/ 6477688 w 6477688"/>
                      <a:gd name="connsiteY3" fmla="*/ 184666 h 3248870"/>
                      <a:gd name="connsiteX4" fmla="*/ 6477688 w 6477688"/>
                      <a:gd name="connsiteY4" fmla="*/ 3064204 h 3248870"/>
                      <a:gd name="connsiteX5" fmla="*/ 6293022 w 6477688"/>
                      <a:gd name="connsiteY5" fmla="*/ 3248870 h 3248870"/>
                      <a:gd name="connsiteX6" fmla="*/ 184666 w 6477688"/>
                      <a:gd name="connsiteY6" fmla="*/ 3248870 h 3248870"/>
                      <a:gd name="connsiteX7" fmla="*/ 0 w 6477688"/>
                      <a:gd name="connsiteY7" fmla="*/ 3064204 h 3248870"/>
                      <a:gd name="connsiteX8" fmla="*/ 0 w 6477688"/>
                      <a:gd name="connsiteY8" fmla="*/ 184666 h 3248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688" h="3248870" fill="none" extrusionOk="0">
                        <a:moveTo>
                          <a:pt x="0" y="184666"/>
                        </a:moveTo>
                        <a:cubicBezTo>
                          <a:pt x="-5128" y="88109"/>
                          <a:pt x="79370" y="-5610"/>
                          <a:pt x="184666" y="0"/>
                        </a:cubicBezTo>
                        <a:cubicBezTo>
                          <a:pt x="2560364" y="-42633"/>
                          <a:pt x="3979429" y="150429"/>
                          <a:pt x="6293022" y="0"/>
                        </a:cubicBezTo>
                        <a:cubicBezTo>
                          <a:pt x="6407843" y="212"/>
                          <a:pt x="6463664" y="96415"/>
                          <a:pt x="6477688" y="184666"/>
                        </a:cubicBezTo>
                        <a:cubicBezTo>
                          <a:pt x="6391828" y="1532824"/>
                          <a:pt x="6526232" y="2090862"/>
                          <a:pt x="6477688" y="3064204"/>
                        </a:cubicBezTo>
                        <a:cubicBezTo>
                          <a:pt x="6483944" y="3181745"/>
                          <a:pt x="6389491" y="3249184"/>
                          <a:pt x="6293022" y="3248870"/>
                        </a:cubicBezTo>
                        <a:cubicBezTo>
                          <a:pt x="3654836" y="3096773"/>
                          <a:pt x="2279556" y="3374981"/>
                          <a:pt x="184666" y="3248870"/>
                        </a:cubicBezTo>
                        <a:cubicBezTo>
                          <a:pt x="85193" y="3267516"/>
                          <a:pt x="-5507" y="3181508"/>
                          <a:pt x="0" y="3064204"/>
                        </a:cubicBezTo>
                        <a:cubicBezTo>
                          <a:pt x="-161870" y="2642283"/>
                          <a:pt x="132979" y="1173936"/>
                          <a:pt x="0" y="184666"/>
                        </a:cubicBezTo>
                        <a:close/>
                      </a:path>
                      <a:path w="6477688" h="3248870" stroke="0" extrusionOk="0">
                        <a:moveTo>
                          <a:pt x="0" y="184666"/>
                        </a:moveTo>
                        <a:cubicBezTo>
                          <a:pt x="3299" y="71365"/>
                          <a:pt x="80126" y="-5905"/>
                          <a:pt x="184666" y="0"/>
                        </a:cubicBezTo>
                        <a:cubicBezTo>
                          <a:pt x="1148997" y="-34825"/>
                          <a:pt x="4473324" y="-133134"/>
                          <a:pt x="6293022" y="0"/>
                        </a:cubicBezTo>
                        <a:cubicBezTo>
                          <a:pt x="6399647" y="10310"/>
                          <a:pt x="6479738" y="80087"/>
                          <a:pt x="6477688" y="184666"/>
                        </a:cubicBezTo>
                        <a:cubicBezTo>
                          <a:pt x="6336293" y="852111"/>
                          <a:pt x="6432475" y="2086503"/>
                          <a:pt x="6477688" y="3064204"/>
                        </a:cubicBezTo>
                        <a:cubicBezTo>
                          <a:pt x="6471075" y="3173559"/>
                          <a:pt x="6384664" y="3239195"/>
                          <a:pt x="6293022" y="3248870"/>
                        </a:cubicBezTo>
                        <a:cubicBezTo>
                          <a:pt x="3809058" y="3133742"/>
                          <a:pt x="1737063" y="3392792"/>
                          <a:pt x="184666" y="3248870"/>
                        </a:cubicBezTo>
                        <a:cubicBezTo>
                          <a:pt x="83244" y="3253858"/>
                          <a:pt x="-5531" y="3180093"/>
                          <a:pt x="0" y="3064204"/>
                        </a:cubicBezTo>
                        <a:cubicBezTo>
                          <a:pt x="-107272" y="2157749"/>
                          <a:pt x="16741" y="1622405"/>
                          <a:pt x="0" y="184666"/>
                        </a:cubicBezTo>
                        <a:close/>
                      </a:path>
                    </a:pathLst>
                  </a:custGeom>
                  <ask:type>
                    <ask:lineSketchNone/>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marL="0" indent="0" algn="ctr">
              <a:buNone/>
            </a:pPr>
            <a:r>
              <a:rPr lang="en-US" sz="2400" b="1" dirty="0">
                <a:latin typeface="+mj-lt"/>
              </a:rPr>
              <a:t>Data Sources: </a:t>
            </a:r>
          </a:p>
          <a:p>
            <a:pPr marL="0" indent="0">
              <a:buNone/>
            </a:pPr>
            <a:endParaRPr lang="en-US" b="1" dirty="0"/>
          </a:p>
          <a:p>
            <a:pPr marL="285750" indent="-285750">
              <a:buFont typeface="Wingdings" panose="05000000000000000000" pitchFamily="2" charset="2"/>
              <a:buChar char="q"/>
            </a:pPr>
            <a:r>
              <a:rPr lang="en-GB" dirty="0"/>
              <a:t>We used a historical weather dataset containing parameters such as temperature, humidity, pressure, wind speed, visibility, and precipitation type.</a:t>
            </a:r>
            <a:br>
              <a:rPr lang="en-GB" dirty="0"/>
            </a:br>
            <a:r>
              <a:rPr lang="en-GB" dirty="0"/>
              <a:t>&gt; Source: </a:t>
            </a:r>
            <a:r>
              <a:rPr lang="en-GB" i="1" dirty="0"/>
              <a:t>Kaggle – </a:t>
            </a:r>
            <a:r>
              <a:rPr lang="en-GB" i="1" dirty="0">
                <a:hlinkClick r:id="rId2"/>
              </a:rPr>
              <a:t>Weather History Dataset</a:t>
            </a:r>
            <a:endParaRPr lang="en-GB" i="1" dirty="0"/>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This dataset serves as the foundation for analysing climatic patterns, identifying correlations between variables, and predicting temperature variations.</a:t>
            </a:r>
            <a:endParaRPr lang="en-US" dirty="0">
              <a:latin typeface="Calibri" panose="020F0502020204030204" pitchFamily="34" charset="0"/>
              <a:cs typeface="Calibri" panose="020F0502020204030204" pitchFamily="34" charset="0"/>
            </a:endParaRPr>
          </a:p>
        </p:txBody>
      </p:sp>
      <p:sp>
        <p:nvSpPr>
          <p:cNvPr id="12" name="Rectangle: Rounded Corners 11">
            <a:extLst>
              <a:ext uri="{FF2B5EF4-FFF2-40B4-BE49-F238E27FC236}">
                <a16:creationId xmlns:a16="http://schemas.microsoft.com/office/drawing/2014/main" id="{DC47122C-13ED-468E-A227-2595D265CE47}"/>
              </a:ext>
            </a:extLst>
          </p:cNvPr>
          <p:cNvSpPr/>
          <p:nvPr/>
        </p:nvSpPr>
        <p:spPr>
          <a:xfrm>
            <a:off x="6623926" y="1332702"/>
            <a:ext cx="5400623" cy="5344748"/>
          </a:xfrm>
          <a:custGeom>
            <a:avLst/>
            <a:gdLst>
              <a:gd name="connsiteX0" fmla="*/ 0 w 5400623"/>
              <a:gd name="connsiteY0" fmla="*/ 375362 h 5344748"/>
              <a:gd name="connsiteX1" fmla="*/ 375362 w 5400623"/>
              <a:gd name="connsiteY1" fmla="*/ 0 h 5344748"/>
              <a:gd name="connsiteX2" fmla="*/ 1003098 w 5400623"/>
              <a:gd name="connsiteY2" fmla="*/ 0 h 5344748"/>
              <a:gd name="connsiteX3" fmla="*/ 1584336 w 5400623"/>
              <a:gd name="connsiteY3" fmla="*/ 0 h 5344748"/>
              <a:gd name="connsiteX4" fmla="*/ 2026076 w 5400623"/>
              <a:gd name="connsiteY4" fmla="*/ 0 h 5344748"/>
              <a:gd name="connsiteX5" fmla="*/ 2700312 w 5400623"/>
              <a:gd name="connsiteY5" fmla="*/ 0 h 5344748"/>
              <a:gd name="connsiteX6" fmla="*/ 3188551 w 5400623"/>
              <a:gd name="connsiteY6" fmla="*/ 0 h 5344748"/>
              <a:gd name="connsiteX7" fmla="*/ 3816287 w 5400623"/>
              <a:gd name="connsiteY7" fmla="*/ 0 h 5344748"/>
              <a:gd name="connsiteX8" fmla="*/ 4490523 w 5400623"/>
              <a:gd name="connsiteY8" fmla="*/ 0 h 5344748"/>
              <a:gd name="connsiteX9" fmla="*/ 5025261 w 5400623"/>
              <a:gd name="connsiteY9" fmla="*/ 0 h 5344748"/>
              <a:gd name="connsiteX10" fmla="*/ 5400623 w 5400623"/>
              <a:gd name="connsiteY10" fmla="*/ 375362 h 5344748"/>
              <a:gd name="connsiteX11" fmla="*/ 5400623 w 5400623"/>
              <a:gd name="connsiteY11" fmla="*/ 995555 h 5344748"/>
              <a:gd name="connsiteX12" fmla="*/ 5400623 w 5400623"/>
              <a:gd name="connsiteY12" fmla="*/ 1569808 h 5344748"/>
              <a:gd name="connsiteX13" fmla="*/ 5400623 w 5400623"/>
              <a:gd name="connsiteY13" fmla="*/ 2144061 h 5344748"/>
              <a:gd name="connsiteX14" fmla="*/ 5400623 w 5400623"/>
              <a:gd name="connsiteY14" fmla="*/ 2764254 h 5344748"/>
              <a:gd name="connsiteX15" fmla="*/ 5400623 w 5400623"/>
              <a:gd name="connsiteY15" fmla="*/ 3384448 h 5344748"/>
              <a:gd name="connsiteX16" fmla="*/ 5400623 w 5400623"/>
              <a:gd name="connsiteY16" fmla="*/ 3820880 h 5344748"/>
              <a:gd name="connsiteX17" fmla="*/ 5400623 w 5400623"/>
              <a:gd name="connsiteY17" fmla="*/ 4395133 h 5344748"/>
              <a:gd name="connsiteX18" fmla="*/ 5400623 w 5400623"/>
              <a:gd name="connsiteY18" fmla="*/ 4969386 h 5344748"/>
              <a:gd name="connsiteX19" fmla="*/ 5025261 w 5400623"/>
              <a:gd name="connsiteY19" fmla="*/ 5344748 h 5344748"/>
              <a:gd name="connsiteX20" fmla="*/ 4397525 w 5400623"/>
              <a:gd name="connsiteY20" fmla="*/ 5344748 h 5344748"/>
              <a:gd name="connsiteX21" fmla="*/ 3769788 w 5400623"/>
              <a:gd name="connsiteY21" fmla="*/ 5344748 h 5344748"/>
              <a:gd name="connsiteX22" fmla="*/ 3235050 w 5400623"/>
              <a:gd name="connsiteY22" fmla="*/ 5344748 h 5344748"/>
              <a:gd name="connsiteX23" fmla="*/ 2653813 w 5400623"/>
              <a:gd name="connsiteY23" fmla="*/ 5344748 h 5344748"/>
              <a:gd name="connsiteX24" fmla="*/ 2165573 w 5400623"/>
              <a:gd name="connsiteY24" fmla="*/ 5344748 h 5344748"/>
              <a:gd name="connsiteX25" fmla="*/ 1491338 w 5400623"/>
              <a:gd name="connsiteY25" fmla="*/ 5344748 h 5344748"/>
              <a:gd name="connsiteX26" fmla="*/ 375362 w 5400623"/>
              <a:gd name="connsiteY26" fmla="*/ 5344748 h 5344748"/>
              <a:gd name="connsiteX27" fmla="*/ 0 w 5400623"/>
              <a:gd name="connsiteY27" fmla="*/ 4969386 h 5344748"/>
              <a:gd name="connsiteX28" fmla="*/ 0 w 5400623"/>
              <a:gd name="connsiteY28" fmla="*/ 4395133 h 5344748"/>
              <a:gd name="connsiteX29" fmla="*/ 0 w 5400623"/>
              <a:gd name="connsiteY29" fmla="*/ 3774940 h 5344748"/>
              <a:gd name="connsiteX30" fmla="*/ 0 w 5400623"/>
              <a:gd name="connsiteY30" fmla="*/ 3246627 h 5344748"/>
              <a:gd name="connsiteX31" fmla="*/ 0 w 5400623"/>
              <a:gd name="connsiteY31" fmla="*/ 2580494 h 5344748"/>
              <a:gd name="connsiteX32" fmla="*/ 0 w 5400623"/>
              <a:gd name="connsiteY32" fmla="*/ 2098121 h 5344748"/>
              <a:gd name="connsiteX33" fmla="*/ 0 w 5400623"/>
              <a:gd name="connsiteY33" fmla="*/ 1661689 h 5344748"/>
              <a:gd name="connsiteX34" fmla="*/ 0 w 5400623"/>
              <a:gd name="connsiteY34" fmla="*/ 1179316 h 5344748"/>
              <a:gd name="connsiteX35" fmla="*/ 0 w 5400623"/>
              <a:gd name="connsiteY35" fmla="*/ 375362 h 534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400623" h="5344748" fill="none" extrusionOk="0">
                <a:moveTo>
                  <a:pt x="0" y="375362"/>
                </a:moveTo>
                <a:cubicBezTo>
                  <a:pt x="5451" y="177338"/>
                  <a:pt x="147427" y="24950"/>
                  <a:pt x="375362" y="0"/>
                </a:cubicBezTo>
                <a:cubicBezTo>
                  <a:pt x="522684" y="-66760"/>
                  <a:pt x="795699" y="56414"/>
                  <a:pt x="1003098" y="0"/>
                </a:cubicBezTo>
                <a:cubicBezTo>
                  <a:pt x="1210497" y="-56414"/>
                  <a:pt x="1416182" y="53875"/>
                  <a:pt x="1584336" y="0"/>
                </a:cubicBezTo>
                <a:cubicBezTo>
                  <a:pt x="1752490" y="-53875"/>
                  <a:pt x="1881910" y="37489"/>
                  <a:pt x="2026076" y="0"/>
                </a:cubicBezTo>
                <a:cubicBezTo>
                  <a:pt x="2170242" y="-37489"/>
                  <a:pt x="2411974" y="24582"/>
                  <a:pt x="2700312" y="0"/>
                </a:cubicBezTo>
                <a:cubicBezTo>
                  <a:pt x="2988650" y="-24582"/>
                  <a:pt x="3069011" y="43149"/>
                  <a:pt x="3188551" y="0"/>
                </a:cubicBezTo>
                <a:cubicBezTo>
                  <a:pt x="3308091" y="-43149"/>
                  <a:pt x="3504229" y="68550"/>
                  <a:pt x="3816287" y="0"/>
                </a:cubicBezTo>
                <a:cubicBezTo>
                  <a:pt x="4128345" y="-68550"/>
                  <a:pt x="4208527" y="54"/>
                  <a:pt x="4490523" y="0"/>
                </a:cubicBezTo>
                <a:cubicBezTo>
                  <a:pt x="4772519" y="-54"/>
                  <a:pt x="4869925" y="63992"/>
                  <a:pt x="5025261" y="0"/>
                </a:cubicBezTo>
                <a:cubicBezTo>
                  <a:pt x="5241087" y="3608"/>
                  <a:pt x="5408632" y="153023"/>
                  <a:pt x="5400623" y="375362"/>
                </a:cubicBezTo>
                <a:cubicBezTo>
                  <a:pt x="5421185" y="600510"/>
                  <a:pt x="5357449" y="704466"/>
                  <a:pt x="5400623" y="995555"/>
                </a:cubicBezTo>
                <a:cubicBezTo>
                  <a:pt x="5443797" y="1286644"/>
                  <a:pt x="5346204" y="1284164"/>
                  <a:pt x="5400623" y="1569808"/>
                </a:cubicBezTo>
                <a:cubicBezTo>
                  <a:pt x="5455042" y="1855452"/>
                  <a:pt x="5361174" y="2016895"/>
                  <a:pt x="5400623" y="2144061"/>
                </a:cubicBezTo>
                <a:cubicBezTo>
                  <a:pt x="5440072" y="2271227"/>
                  <a:pt x="5339999" y="2496731"/>
                  <a:pt x="5400623" y="2764254"/>
                </a:cubicBezTo>
                <a:cubicBezTo>
                  <a:pt x="5461247" y="3031777"/>
                  <a:pt x="5396310" y="3093227"/>
                  <a:pt x="5400623" y="3384448"/>
                </a:cubicBezTo>
                <a:cubicBezTo>
                  <a:pt x="5404936" y="3675669"/>
                  <a:pt x="5363660" y="3712797"/>
                  <a:pt x="5400623" y="3820880"/>
                </a:cubicBezTo>
                <a:cubicBezTo>
                  <a:pt x="5437586" y="3928963"/>
                  <a:pt x="5376140" y="4263678"/>
                  <a:pt x="5400623" y="4395133"/>
                </a:cubicBezTo>
                <a:cubicBezTo>
                  <a:pt x="5425106" y="4526588"/>
                  <a:pt x="5355945" y="4814399"/>
                  <a:pt x="5400623" y="4969386"/>
                </a:cubicBezTo>
                <a:cubicBezTo>
                  <a:pt x="5412794" y="5211646"/>
                  <a:pt x="5240855" y="5287716"/>
                  <a:pt x="5025261" y="5344748"/>
                </a:cubicBezTo>
                <a:cubicBezTo>
                  <a:pt x="4825267" y="5393542"/>
                  <a:pt x="4637635" y="5305998"/>
                  <a:pt x="4397525" y="5344748"/>
                </a:cubicBezTo>
                <a:cubicBezTo>
                  <a:pt x="4157415" y="5383498"/>
                  <a:pt x="4068278" y="5310951"/>
                  <a:pt x="3769788" y="5344748"/>
                </a:cubicBezTo>
                <a:cubicBezTo>
                  <a:pt x="3471298" y="5378545"/>
                  <a:pt x="3455258" y="5317764"/>
                  <a:pt x="3235050" y="5344748"/>
                </a:cubicBezTo>
                <a:cubicBezTo>
                  <a:pt x="3014842" y="5371732"/>
                  <a:pt x="2918222" y="5315185"/>
                  <a:pt x="2653813" y="5344748"/>
                </a:cubicBezTo>
                <a:cubicBezTo>
                  <a:pt x="2389404" y="5374311"/>
                  <a:pt x="2314049" y="5323427"/>
                  <a:pt x="2165573" y="5344748"/>
                </a:cubicBezTo>
                <a:cubicBezTo>
                  <a:pt x="2017097" y="5366069"/>
                  <a:pt x="1638706" y="5283034"/>
                  <a:pt x="1491338" y="5344748"/>
                </a:cubicBezTo>
                <a:cubicBezTo>
                  <a:pt x="1343970" y="5406462"/>
                  <a:pt x="769260" y="5283997"/>
                  <a:pt x="375362" y="5344748"/>
                </a:cubicBezTo>
                <a:cubicBezTo>
                  <a:pt x="137007" y="5362738"/>
                  <a:pt x="-604" y="5167416"/>
                  <a:pt x="0" y="4969386"/>
                </a:cubicBezTo>
                <a:cubicBezTo>
                  <a:pt x="-67453" y="4692815"/>
                  <a:pt x="12808" y="4623446"/>
                  <a:pt x="0" y="4395133"/>
                </a:cubicBezTo>
                <a:cubicBezTo>
                  <a:pt x="-12808" y="4166820"/>
                  <a:pt x="18184" y="3948676"/>
                  <a:pt x="0" y="3774940"/>
                </a:cubicBezTo>
                <a:cubicBezTo>
                  <a:pt x="-18184" y="3601204"/>
                  <a:pt x="8401" y="3468280"/>
                  <a:pt x="0" y="3246627"/>
                </a:cubicBezTo>
                <a:cubicBezTo>
                  <a:pt x="-8401" y="3024974"/>
                  <a:pt x="9684" y="2759859"/>
                  <a:pt x="0" y="2580494"/>
                </a:cubicBezTo>
                <a:cubicBezTo>
                  <a:pt x="-9684" y="2401129"/>
                  <a:pt x="56060" y="2322263"/>
                  <a:pt x="0" y="2098121"/>
                </a:cubicBezTo>
                <a:cubicBezTo>
                  <a:pt x="-56060" y="1873979"/>
                  <a:pt x="36688" y="1768769"/>
                  <a:pt x="0" y="1661689"/>
                </a:cubicBezTo>
                <a:cubicBezTo>
                  <a:pt x="-36688" y="1554609"/>
                  <a:pt x="57736" y="1331882"/>
                  <a:pt x="0" y="1179316"/>
                </a:cubicBezTo>
                <a:cubicBezTo>
                  <a:pt x="-57736" y="1026750"/>
                  <a:pt x="93946" y="553812"/>
                  <a:pt x="0" y="375362"/>
                </a:cubicBezTo>
                <a:close/>
              </a:path>
              <a:path w="5400623" h="5344748" stroke="0" extrusionOk="0">
                <a:moveTo>
                  <a:pt x="0" y="375362"/>
                </a:moveTo>
                <a:cubicBezTo>
                  <a:pt x="-22133" y="174321"/>
                  <a:pt x="203278" y="-20640"/>
                  <a:pt x="375362" y="0"/>
                </a:cubicBezTo>
                <a:cubicBezTo>
                  <a:pt x="601992" y="-40462"/>
                  <a:pt x="661682" y="19281"/>
                  <a:pt x="863601" y="0"/>
                </a:cubicBezTo>
                <a:cubicBezTo>
                  <a:pt x="1065520" y="-19281"/>
                  <a:pt x="1122469" y="36819"/>
                  <a:pt x="1351841" y="0"/>
                </a:cubicBezTo>
                <a:cubicBezTo>
                  <a:pt x="1581213" y="-36819"/>
                  <a:pt x="1731231" y="44863"/>
                  <a:pt x="1979577" y="0"/>
                </a:cubicBezTo>
                <a:cubicBezTo>
                  <a:pt x="2227923" y="-44863"/>
                  <a:pt x="2275781" y="11630"/>
                  <a:pt x="2514316" y="0"/>
                </a:cubicBezTo>
                <a:cubicBezTo>
                  <a:pt x="2752851" y="-11630"/>
                  <a:pt x="2808168" y="37292"/>
                  <a:pt x="3049054" y="0"/>
                </a:cubicBezTo>
                <a:cubicBezTo>
                  <a:pt x="3289940" y="-37292"/>
                  <a:pt x="3462248" y="36632"/>
                  <a:pt x="3583792" y="0"/>
                </a:cubicBezTo>
                <a:cubicBezTo>
                  <a:pt x="3705336" y="-36632"/>
                  <a:pt x="3886586" y="12604"/>
                  <a:pt x="4165030" y="0"/>
                </a:cubicBezTo>
                <a:cubicBezTo>
                  <a:pt x="4443474" y="-12604"/>
                  <a:pt x="4623633" y="52477"/>
                  <a:pt x="5025261" y="0"/>
                </a:cubicBezTo>
                <a:cubicBezTo>
                  <a:pt x="5245470" y="-2353"/>
                  <a:pt x="5385000" y="211413"/>
                  <a:pt x="5400623" y="375362"/>
                </a:cubicBezTo>
                <a:cubicBezTo>
                  <a:pt x="5435763" y="583802"/>
                  <a:pt x="5342395" y="810696"/>
                  <a:pt x="5400623" y="1041495"/>
                </a:cubicBezTo>
                <a:cubicBezTo>
                  <a:pt x="5458851" y="1272294"/>
                  <a:pt x="5360636" y="1385036"/>
                  <a:pt x="5400623" y="1477928"/>
                </a:cubicBezTo>
                <a:cubicBezTo>
                  <a:pt x="5440610" y="1570820"/>
                  <a:pt x="5400266" y="1743292"/>
                  <a:pt x="5400623" y="1960300"/>
                </a:cubicBezTo>
                <a:cubicBezTo>
                  <a:pt x="5400980" y="2177308"/>
                  <a:pt x="5357220" y="2408470"/>
                  <a:pt x="5400623" y="2534553"/>
                </a:cubicBezTo>
                <a:cubicBezTo>
                  <a:pt x="5444026" y="2660636"/>
                  <a:pt x="5382955" y="2936890"/>
                  <a:pt x="5400623" y="3154747"/>
                </a:cubicBezTo>
                <a:cubicBezTo>
                  <a:pt x="5418291" y="3372604"/>
                  <a:pt x="5344591" y="3679497"/>
                  <a:pt x="5400623" y="3820880"/>
                </a:cubicBezTo>
                <a:cubicBezTo>
                  <a:pt x="5456655" y="3962263"/>
                  <a:pt x="5396048" y="4729186"/>
                  <a:pt x="5400623" y="4969386"/>
                </a:cubicBezTo>
                <a:cubicBezTo>
                  <a:pt x="5424264" y="5120689"/>
                  <a:pt x="5249770" y="5358667"/>
                  <a:pt x="5025261" y="5344748"/>
                </a:cubicBezTo>
                <a:cubicBezTo>
                  <a:pt x="4769290" y="5371958"/>
                  <a:pt x="4704037" y="5322072"/>
                  <a:pt x="4490523" y="5344748"/>
                </a:cubicBezTo>
                <a:cubicBezTo>
                  <a:pt x="4277009" y="5367424"/>
                  <a:pt x="4130000" y="5302172"/>
                  <a:pt x="3862786" y="5344748"/>
                </a:cubicBezTo>
                <a:cubicBezTo>
                  <a:pt x="3595572" y="5387324"/>
                  <a:pt x="3507019" y="5294736"/>
                  <a:pt x="3374547" y="5344748"/>
                </a:cubicBezTo>
                <a:cubicBezTo>
                  <a:pt x="3242075" y="5394760"/>
                  <a:pt x="3097688" y="5312286"/>
                  <a:pt x="2886307" y="5344748"/>
                </a:cubicBezTo>
                <a:cubicBezTo>
                  <a:pt x="2674926" y="5377210"/>
                  <a:pt x="2611393" y="5296229"/>
                  <a:pt x="2444567" y="5344748"/>
                </a:cubicBezTo>
                <a:cubicBezTo>
                  <a:pt x="2277741" y="5393267"/>
                  <a:pt x="2160362" y="5317503"/>
                  <a:pt x="1956328" y="5344748"/>
                </a:cubicBezTo>
                <a:cubicBezTo>
                  <a:pt x="1752294" y="5371993"/>
                  <a:pt x="1618899" y="5333557"/>
                  <a:pt x="1468088" y="5344748"/>
                </a:cubicBezTo>
                <a:cubicBezTo>
                  <a:pt x="1317277" y="5355939"/>
                  <a:pt x="1178502" y="5318688"/>
                  <a:pt x="933350" y="5344748"/>
                </a:cubicBezTo>
                <a:cubicBezTo>
                  <a:pt x="688198" y="5370808"/>
                  <a:pt x="500940" y="5338153"/>
                  <a:pt x="375362" y="5344748"/>
                </a:cubicBezTo>
                <a:cubicBezTo>
                  <a:pt x="167576" y="5354960"/>
                  <a:pt x="-7536" y="5165337"/>
                  <a:pt x="0" y="4969386"/>
                </a:cubicBezTo>
                <a:cubicBezTo>
                  <a:pt x="-29265" y="4798041"/>
                  <a:pt x="34293" y="4492558"/>
                  <a:pt x="0" y="4303253"/>
                </a:cubicBezTo>
                <a:cubicBezTo>
                  <a:pt x="-34293" y="4113948"/>
                  <a:pt x="23872" y="3996049"/>
                  <a:pt x="0" y="3866820"/>
                </a:cubicBezTo>
                <a:cubicBezTo>
                  <a:pt x="-23872" y="3737591"/>
                  <a:pt x="60895" y="3502324"/>
                  <a:pt x="0" y="3292567"/>
                </a:cubicBezTo>
                <a:cubicBezTo>
                  <a:pt x="-60895" y="3082810"/>
                  <a:pt x="29498" y="3041765"/>
                  <a:pt x="0" y="2856135"/>
                </a:cubicBezTo>
                <a:cubicBezTo>
                  <a:pt x="-29498" y="2670505"/>
                  <a:pt x="43937" y="2543170"/>
                  <a:pt x="0" y="2327822"/>
                </a:cubicBezTo>
                <a:cubicBezTo>
                  <a:pt x="-43937" y="2112474"/>
                  <a:pt x="15276" y="2010599"/>
                  <a:pt x="0" y="1891390"/>
                </a:cubicBezTo>
                <a:cubicBezTo>
                  <a:pt x="-15276" y="1772181"/>
                  <a:pt x="24406" y="1487549"/>
                  <a:pt x="0" y="1225256"/>
                </a:cubicBezTo>
                <a:cubicBezTo>
                  <a:pt x="-24406" y="962963"/>
                  <a:pt x="89303" y="612739"/>
                  <a:pt x="0" y="375362"/>
                </a:cubicBezTo>
                <a:close/>
              </a:path>
            </a:pathLst>
          </a:custGeom>
          <a:ln w="76200">
            <a:solidFill>
              <a:srgbClr val="00B0F0"/>
            </a:solidFill>
            <a:prstDash val="dash"/>
            <a:extLst>
              <a:ext uri="{C807C97D-BFC1-408E-A445-0C87EB9F89A2}">
                <ask:lineSketchStyleProps xmlns:ask="http://schemas.microsoft.com/office/drawing/2018/sketchyshapes" sd="2837218629">
                  <a:prstGeom prst="roundRect">
                    <a:avLst>
                      <a:gd name="adj" fmla="val 7023"/>
                    </a:avLst>
                  </a:prstGeom>
                  <ask:type>
                    <ask:lineSketchScribble/>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marL="0" indent="0" algn="ctr">
              <a:buNone/>
            </a:pPr>
            <a:endParaRPr lang="en-US" sz="2400" b="1" dirty="0">
              <a:latin typeface="+mj-lt"/>
            </a:endParaRPr>
          </a:p>
          <a:p>
            <a:pPr marL="0" indent="0">
              <a:buNone/>
            </a:pPr>
            <a:r>
              <a:rPr lang="en-US" sz="2400" b="1" dirty="0">
                <a:latin typeface="+mj-lt"/>
              </a:rPr>
              <a:t>	Data Cleaning </a:t>
            </a:r>
          </a:p>
          <a:p>
            <a:pPr marL="0" indent="0">
              <a:buNone/>
            </a:pPr>
            <a:r>
              <a:rPr lang="en-US" sz="2400" b="1" dirty="0">
                <a:latin typeface="+mj-lt"/>
              </a:rPr>
              <a:t>	&amp; Preprocessing:</a:t>
            </a:r>
          </a:p>
          <a:p>
            <a:pPr marL="0" indent="0" algn="ctr">
              <a:buNone/>
            </a:pPr>
            <a:r>
              <a:rPr lang="en-US" sz="2400" b="1" dirty="0">
                <a:latin typeface="+mj-lt"/>
              </a:rPr>
              <a:t> </a:t>
            </a:r>
            <a:endParaRPr lang="en-US" b="1" dirty="0"/>
          </a:p>
          <a:p>
            <a:pPr marL="285750" indent="-285750">
              <a:buFont typeface="Wingdings" panose="05000000000000000000" pitchFamily="2" charset="2"/>
              <a:buChar char="q"/>
            </a:pPr>
            <a:r>
              <a:rPr lang="en-GB" dirty="0"/>
              <a:t>Duplicate and null records were removed to maintain data integrity.</a:t>
            </a:r>
            <a:br>
              <a:rPr lang="en-GB" dirty="0"/>
            </a:br>
            <a:r>
              <a:rPr lang="en-GB" dirty="0"/>
              <a:t>Time-based features such as </a:t>
            </a:r>
            <a:r>
              <a:rPr lang="en-GB" b="1" dirty="0"/>
              <a:t>Date</a:t>
            </a:r>
            <a:r>
              <a:rPr lang="en-GB" dirty="0"/>
              <a:t>, </a:t>
            </a:r>
            <a:r>
              <a:rPr lang="en-GB" b="1" dirty="0"/>
              <a:t>Hour</a:t>
            </a:r>
            <a:r>
              <a:rPr lang="en-GB" dirty="0"/>
              <a:t>, </a:t>
            </a:r>
            <a:r>
              <a:rPr lang="en-GB" b="1" dirty="0"/>
              <a:t>Month</a:t>
            </a:r>
            <a:r>
              <a:rPr lang="en-GB" dirty="0"/>
              <a:t>, and </a:t>
            </a:r>
            <a:r>
              <a:rPr lang="en-GB" b="1" dirty="0"/>
              <a:t>Day of Week</a:t>
            </a:r>
            <a:r>
              <a:rPr lang="en-GB" dirty="0"/>
              <a:t> were extracted from timestamps for temporal trend analysis.</a:t>
            </a:r>
          </a:p>
          <a:p>
            <a:pPr marL="285750" indent="-285750">
              <a:buFont typeface="Wingdings" panose="05000000000000000000" pitchFamily="2" charset="2"/>
              <a:buChar char="q"/>
            </a:pPr>
            <a:endParaRPr lang="en-GB"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q"/>
            </a:pPr>
            <a:r>
              <a:rPr lang="en-GB" dirty="0"/>
              <a:t>Categorical columns like </a:t>
            </a:r>
            <a:r>
              <a:rPr lang="en-GB" i="1" dirty="0" err="1"/>
              <a:t>Precip</a:t>
            </a:r>
            <a:r>
              <a:rPr lang="en-GB" i="1" dirty="0"/>
              <a:t> Type</a:t>
            </a:r>
            <a:r>
              <a:rPr lang="en-GB" dirty="0"/>
              <a:t> and </a:t>
            </a:r>
            <a:r>
              <a:rPr lang="en-GB" i="1" dirty="0"/>
              <a:t>Wind Category</a:t>
            </a:r>
            <a:r>
              <a:rPr lang="en-GB" dirty="0"/>
              <a:t> were encoded into numeric values.</a:t>
            </a:r>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Feature engineering included calculating temperature differences, wind–humidity impact, and variability metrics to enhance model performance.</a:t>
            </a:r>
          </a:p>
          <a:p>
            <a:pPr marL="285750" indent="-285750">
              <a:buFont typeface="Wingdings" panose="05000000000000000000" pitchFamily="2" charset="2"/>
              <a:buChar char="q"/>
            </a:pPr>
            <a:endParaRPr lang="en-GB" dirty="0">
              <a:latin typeface="Calibri" panose="020F0502020204030204" pitchFamily="34" charset="0"/>
              <a:cs typeface="Calibri" panose="020F0502020204030204" pitchFamily="34" charset="0"/>
            </a:endParaRPr>
          </a:p>
        </p:txBody>
      </p:sp>
      <p:sp>
        <p:nvSpPr>
          <p:cNvPr id="13" name="Rectangle: Rounded Corners 12">
            <a:extLst>
              <a:ext uri="{FF2B5EF4-FFF2-40B4-BE49-F238E27FC236}">
                <a16:creationId xmlns:a16="http://schemas.microsoft.com/office/drawing/2014/main" id="{27F2B0F4-9536-4A7D-9156-B9E102B5CAEF}"/>
              </a:ext>
            </a:extLst>
          </p:cNvPr>
          <p:cNvSpPr/>
          <p:nvPr/>
        </p:nvSpPr>
        <p:spPr>
          <a:xfrm>
            <a:off x="197432" y="3593891"/>
            <a:ext cx="6142408" cy="3083559"/>
          </a:xfrm>
          <a:custGeom>
            <a:avLst/>
            <a:gdLst>
              <a:gd name="connsiteX0" fmla="*/ 0 w 6142408"/>
              <a:gd name="connsiteY0" fmla="*/ 216558 h 3083559"/>
              <a:gd name="connsiteX1" fmla="*/ 216558 w 6142408"/>
              <a:gd name="connsiteY1" fmla="*/ 0 h 3083559"/>
              <a:gd name="connsiteX2" fmla="*/ 616208 w 6142408"/>
              <a:gd name="connsiteY2" fmla="*/ 0 h 3083559"/>
              <a:gd name="connsiteX3" fmla="*/ 1187138 w 6142408"/>
              <a:gd name="connsiteY3" fmla="*/ 0 h 3083559"/>
              <a:gd name="connsiteX4" fmla="*/ 1643881 w 6142408"/>
              <a:gd name="connsiteY4" fmla="*/ 0 h 3083559"/>
              <a:gd name="connsiteX5" fmla="*/ 2100624 w 6142408"/>
              <a:gd name="connsiteY5" fmla="*/ 0 h 3083559"/>
              <a:gd name="connsiteX6" fmla="*/ 2500275 w 6142408"/>
              <a:gd name="connsiteY6" fmla="*/ 0 h 3083559"/>
              <a:gd name="connsiteX7" fmla="*/ 2899925 w 6142408"/>
              <a:gd name="connsiteY7" fmla="*/ 0 h 3083559"/>
              <a:gd name="connsiteX8" fmla="*/ 3299576 w 6142408"/>
              <a:gd name="connsiteY8" fmla="*/ 0 h 3083559"/>
              <a:gd name="connsiteX9" fmla="*/ 3984691 w 6142408"/>
              <a:gd name="connsiteY9" fmla="*/ 0 h 3083559"/>
              <a:gd name="connsiteX10" fmla="*/ 4441434 w 6142408"/>
              <a:gd name="connsiteY10" fmla="*/ 0 h 3083559"/>
              <a:gd name="connsiteX11" fmla="*/ 5069456 w 6142408"/>
              <a:gd name="connsiteY11" fmla="*/ 0 h 3083559"/>
              <a:gd name="connsiteX12" fmla="*/ 5925850 w 6142408"/>
              <a:gd name="connsiteY12" fmla="*/ 0 h 3083559"/>
              <a:gd name="connsiteX13" fmla="*/ 6142408 w 6142408"/>
              <a:gd name="connsiteY13" fmla="*/ 216558 h 3083559"/>
              <a:gd name="connsiteX14" fmla="*/ 6142408 w 6142408"/>
              <a:gd name="connsiteY14" fmla="*/ 746647 h 3083559"/>
              <a:gd name="connsiteX15" fmla="*/ 6142408 w 6142408"/>
              <a:gd name="connsiteY15" fmla="*/ 1250231 h 3083559"/>
              <a:gd name="connsiteX16" fmla="*/ 6142408 w 6142408"/>
              <a:gd name="connsiteY16" fmla="*/ 1700806 h 3083559"/>
              <a:gd name="connsiteX17" fmla="*/ 6142408 w 6142408"/>
              <a:gd name="connsiteY17" fmla="*/ 2283904 h 3083559"/>
              <a:gd name="connsiteX18" fmla="*/ 6142408 w 6142408"/>
              <a:gd name="connsiteY18" fmla="*/ 2867001 h 3083559"/>
              <a:gd name="connsiteX19" fmla="*/ 5925850 w 6142408"/>
              <a:gd name="connsiteY19" fmla="*/ 3083559 h 3083559"/>
              <a:gd name="connsiteX20" fmla="*/ 5526200 w 6142408"/>
              <a:gd name="connsiteY20" fmla="*/ 3083559 h 3083559"/>
              <a:gd name="connsiteX21" fmla="*/ 5126549 w 6142408"/>
              <a:gd name="connsiteY21" fmla="*/ 3083559 h 3083559"/>
              <a:gd name="connsiteX22" fmla="*/ 4555620 w 6142408"/>
              <a:gd name="connsiteY22" fmla="*/ 3083559 h 3083559"/>
              <a:gd name="connsiteX23" fmla="*/ 4155969 w 6142408"/>
              <a:gd name="connsiteY23" fmla="*/ 3083559 h 3083559"/>
              <a:gd name="connsiteX24" fmla="*/ 3756319 w 6142408"/>
              <a:gd name="connsiteY24" fmla="*/ 3083559 h 3083559"/>
              <a:gd name="connsiteX25" fmla="*/ 3299576 w 6142408"/>
              <a:gd name="connsiteY25" fmla="*/ 3083559 h 3083559"/>
              <a:gd name="connsiteX26" fmla="*/ 2899925 w 6142408"/>
              <a:gd name="connsiteY26" fmla="*/ 3083559 h 3083559"/>
              <a:gd name="connsiteX27" fmla="*/ 2443182 w 6142408"/>
              <a:gd name="connsiteY27" fmla="*/ 3083559 h 3083559"/>
              <a:gd name="connsiteX28" fmla="*/ 2043531 w 6142408"/>
              <a:gd name="connsiteY28" fmla="*/ 3083559 h 3083559"/>
              <a:gd name="connsiteX29" fmla="*/ 1358416 w 6142408"/>
              <a:gd name="connsiteY29" fmla="*/ 3083559 h 3083559"/>
              <a:gd name="connsiteX30" fmla="*/ 958766 w 6142408"/>
              <a:gd name="connsiteY30" fmla="*/ 3083559 h 3083559"/>
              <a:gd name="connsiteX31" fmla="*/ 216558 w 6142408"/>
              <a:gd name="connsiteY31" fmla="*/ 3083559 h 3083559"/>
              <a:gd name="connsiteX32" fmla="*/ 0 w 6142408"/>
              <a:gd name="connsiteY32" fmla="*/ 2867001 h 3083559"/>
              <a:gd name="connsiteX33" fmla="*/ 0 w 6142408"/>
              <a:gd name="connsiteY33" fmla="*/ 2310408 h 3083559"/>
              <a:gd name="connsiteX34" fmla="*/ 0 w 6142408"/>
              <a:gd name="connsiteY34" fmla="*/ 1753815 h 3083559"/>
              <a:gd name="connsiteX35" fmla="*/ 0 w 6142408"/>
              <a:gd name="connsiteY35" fmla="*/ 1223726 h 3083559"/>
              <a:gd name="connsiteX36" fmla="*/ 0 w 6142408"/>
              <a:gd name="connsiteY36" fmla="*/ 216558 h 3083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142408" h="3083559" fill="none" extrusionOk="0">
                <a:moveTo>
                  <a:pt x="0" y="216558"/>
                </a:moveTo>
                <a:cubicBezTo>
                  <a:pt x="-3579" y="77963"/>
                  <a:pt x="107884" y="25495"/>
                  <a:pt x="216558" y="0"/>
                </a:cubicBezTo>
                <a:cubicBezTo>
                  <a:pt x="363508" y="-5553"/>
                  <a:pt x="452165" y="34732"/>
                  <a:pt x="616208" y="0"/>
                </a:cubicBezTo>
                <a:cubicBezTo>
                  <a:pt x="780251" y="-34732"/>
                  <a:pt x="942560" y="20535"/>
                  <a:pt x="1187138" y="0"/>
                </a:cubicBezTo>
                <a:cubicBezTo>
                  <a:pt x="1431716" y="-20535"/>
                  <a:pt x="1418039" y="27518"/>
                  <a:pt x="1643881" y="0"/>
                </a:cubicBezTo>
                <a:cubicBezTo>
                  <a:pt x="1869723" y="-27518"/>
                  <a:pt x="1988349" y="17931"/>
                  <a:pt x="2100624" y="0"/>
                </a:cubicBezTo>
                <a:cubicBezTo>
                  <a:pt x="2212899" y="-17931"/>
                  <a:pt x="2360067" y="45408"/>
                  <a:pt x="2500275" y="0"/>
                </a:cubicBezTo>
                <a:cubicBezTo>
                  <a:pt x="2640483" y="-45408"/>
                  <a:pt x="2709208" y="30064"/>
                  <a:pt x="2899925" y="0"/>
                </a:cubicBezTo>
                <a:cubicBezTo>
                  <a:pt x="3090642" y="-30064"/>
                  <a:pt x="3139068" y="38674"/>
                  <a:pt x="3299576" y="0"/>
                </a:cubicBezTo>
                <a:cubicBezTo>
                  <a:pt x="3460084" y="-38674"/>
                  <a:pt x="3846576" y="7335"/>
                  <a:pt x="3984691" y="0"/>
                </a:cubicBezTo>
                <a:cubicBezTo>
                  <a:pt x="4122807" y="-7335"/>
                  <a:pt x="4340147" y="12998"/>
                  <a:pt x="4441434" y="0"/>
                </a:cubicBezTo>
                <a:cubicBezTo>
                  <a:pt x="4542721" y="-12998"/>
                  <a:pt x="4762348" y="11952"/>
                  <a:pt x="5069456" y="0"/>
                </a:cubicBezTo>
                <a:cubicBezTo>
                  <a:pt x="5376564" y="-11952"/>
                  <a:pt x="5689077" y="54332"/>
                  <a:pt x="5925850" y="0"/>
                </a:cubicBezTo>
                <a:cubicBezTo>
                  <a:pt x="6071886" y="12980"/>
                  <a:pt x="6125922" y="128184"/>
                  <a:pt x="6142408" y="216558"/>
                </a:cubicBezTo>
                <a:cubicBezTo>
                  <a:pt x="6145980" y="466002"/>
                  <a:pt x="6105347" y="519747"/>
                  <a:pt x="6142408" y="746647"/>
                </a:cubicBezTo>
                <a:cubicBezTo>
                  <a:pt x="6179469" y="973547"/>
                  <a:pt x="6116041" y="1075395"/>
                  <a:pt x="6142408" y="1250231"/>
                </a:cubicBezTo>
                <a:cubicBezTo>
                  <a:pt x="6168775" y="1425067"/>
                  <a:pt x="6108473" y="1588880"/>
                  <a:pt x="6142408" y="1700806"/>
                </a:cubicBezTo>
                <a:cubicBezTo>
                  <a:pt x="6176343" y="1812733"/>
                  <a:pt x="6097743" y="2154632"/>
                  <a:pt x="6142408" y="2283904"/>
                </a:cubicBezTo>
                <a:cubicBezTo>
                  <a:pt x="6187073" y="2413176"/>
                  <a:pt x="6123772" y="2688609"/>
                  <a:pt x="6142408" y="2867001"/>
                </a:cubicBezTo>
                <a:cubicBezTo>
                  <a:pt x="6142235" y="2983935"/>
                  <a:pt x="6014652" y="3091028"/>
                  <a:pt x="5925850" y="3083559"/>
                </a:cubicBezTo>
                <a:cubicBezTo>
                  <a:pt x="5795029" y="3084732"/>
                  <a:pt x="5646238" y="3046165"/>
                  <a:pt x="5526200" y="3083559"/>
                </a:cubicBezTo>
                <a:cubicBezTo>
                  <a:pt x="5406162" y="3120953"/>
                  <a:pt x="5284341" y="3042415"/>
                  <a:pt x="5126549" y="3083559"/>
                </a:cubicBezTo>
                <a:cubicBezTo>
                  <a:pt x="4968757" y="3124703"/>
                  <a:pt x="4688434" y="3049105"/>
                  <a:pt x="4555620" y="3083559"/>
                </a:cubicBezTo>
                <a:cubicBezTo>
                  <a:pt x="4422806" y="3118013"/>
                  <a:pt x="4287805" y="3074285"/>
                  <a:pt x="4155969" y="3083559"/>
                </a:cubicBezTo>
                <a:cubicBezTo>
                  <a:pt x="4024133" y="3092833"/>
                  <a:pt x="3917439" y="3035761"/>
                  <a:pt x="3756319" y="3083559"/>
                </a:cubicBezTo>
                <a:cubicBezTo>
                  <a:pt x="3595199" y="3131357"/>
                  <a:pt x="3449166" y="3077524"/>
                  <a:pt x="3299576" y="3083559"/>
                </a:cubicBezTo>
                <a:cubicBezTo>
                  <a:pt x="3149986" y="3089594"/>
                  <a:pt x="2987437" y="3058009"/>
                  <a:pt x="2899925" y="3083559"/>
                </a:cubicBezTo>
                <a:cubicBezTo>
                  <a:pt x="2812413" y="3109109"/>
                  <a:pt x="2656751" y="3043521"/>
                  <a:pt x="2443182" y="3083559"/>
                </a:cubicBezTo>
                <a:cubicBezTo>
                  <a:pt x="2229613" y="3123597"/>
                  <a:pt x="2214637" y="3067085"/>
                  <a:pt x="2043531" y="3083559"/>
                </a:cubicBezTo>
                <a:cubicBezTo>
                  <a:pt x="1872425" y="3100033"/>
                  <a:pt x="1553772" y="3030048"/>
                  <a:pt x="1358416" y="3083559"/>
                </a:cubicBezTo>
                <a:cubicBezTo>
                  <a:pt x="1163061" y="3137070"/>
                  <a:pt x="1069613" y="3041651"/>
                  <a:pt x="958766" y="3083559"/>
                </a:cubicBezTo>
                <a:cubicBezTo>
                  <a:pt x="847919" y="3125467"/>
                  <a:pt x="421293" y="3081179"/>
                  <a:pt x="216558" y="3083559"/>
                </a:cubicBezTo>
                <a:cubicBezTo>
                  <a:pt x="90648" y="3085880"/>
                  <a:pt x="-18889" y="3007858"/>
                  <a:pt x="0" y="2867001"/>
                </a:cubicBezTo>
                <a:cubicBezTo>
                  <a:pt x="-45535" y="2613751"/>
                  <a:pt x="10596" y="2506842"/>
                  <a:pt x="0" y="2310408"/>
                </a:cubicBezTo>
                <a:cubicBezTo>
                  <a:pt x="-10596" y="2113974"/>
                  <a:pt x="40372" y="1890673"/>
                  <a:pt x="0" y="1753815"/>
                </a:cubicBezTo>
                <a:cubicBezTo>
                  <a:pt x="-40372" y="1616957"/>
                  <a:pt x="41884" y="1436010"/>
                  <a:pt x="0" y="1223726"/>
                </a:cubicBezTo>
                <a:cubicBezTo>
                  <a:pt x="-41884" y="1011442"/>
                  <a:pt x="94209" y="553341"/>
                  <a:pt x="0" y="216558"/>
                </a:cubicBezTo>
                <a:close/>
              </a:path>
              <a:path w="6142408" h="3083559" stroke="0" extrusionOk="0">
                <a:moveTo>
                  <a:pt x="0" y="216558"/>
                </a:moveTo>
                <a:cubicBezTo>
                  <a:pt x="21702" y="116354"/>
                  <a:pt x="88428" y="23806"/>
                  <a:pt x="216558" y="0"/>
                </a:cubicBezTo>
                <a:cubicBezTo>
                  <a:pt x="428724" y="-37001"/>
                  <a:pt x="643702" y="24850"/>
                  <a:pt x="787487" y="0"/>
                </a:cubicBezTo>
                <a:cubicBezTo>
                  <a:pt x="931272" y="-24850"/>
                  <a:pt x="1178357" y="12029"/>
                  <a:pt x="1415509" y="0"/>
                </a:cubicBezTo>
                <a:cubicBezTo>
                  <a:pt x="1652661" y="-12029"/>
                  <a:pt x="1706362" y="66426"/>
                  <a:pt x="1986439" y="0"/>
                </a:cubicBezTo>
                <a:cubicBezTo>
                  <a:pt x="2266516" y="-66426"/>
                  <a:pt x="2298775" y="56282"/>
                  <a:pt x="2557368" y="0"/>
                </a:cubicBezTo>
                <a:cubicBezTo>
                  <a:pt x="2815961" y="-56282"/>
                  <a:pt x="2982443" y="81551"/>
                  <a:pt x="3242483" y="0"/>
                </a:cubicBezTo>
                <a:cubicBezTo>
                  <a:pt x="3502523" y="-81551"/>
                  <a:pt x="3595970" y="7246"/>
                  <a:pt x="3813412" y="0"/>
                </a:cubicBezTo>
                <a:cubicBezTo>
                  <a:pt x="4030854" y="-7246"/>
                  <a:pt x="4262461" y="55439"/>
                  <a:pt x="4498527" y="0"/>
                </a:cubicBezTo>
                <a:cubicBezTo>
                  <a:pt x="4734594" y="-55439"/>
                  <a:pt x="4718088" y="12941"/>
                  <a:pt x="4898177" y="0"/>
                </a:cubicBezTo>
                <a:cubicBezTo>
                  <a:pt x="5078266" y="-12941"/>
                  <a:pt x="5527203" y="12338"/>
                  <a:pt x="5925850" y="0"/>
                </a:cubicBezTo>
                <a:cubicBezTo>
                  <a:pt x="6063433" y="88"/>
                  <a:pt x="6136496" y="73375"/>
                  <a:pt x="6142408" y="216558"/>
                </a:cubicBezTo>
                <a:cubicBezTo>
                  <a:pt x="6185127" y="414277"/>
                  <a:pt x="6137224" y="584865"/>
                  <a:pt x="6142408" y="799655"/>
                </a:cubicBezTo>
                <a:cubicBezTo>
                  <a:pt x="6147592" y="1014445"/>
                  <a:pt x="6136638" y="1070124"/>
                  <a:pt x="6142408" y="1276735"/>
                </a:cubicBezTo>
                <a:cubicBezTo>
                  <a:pt x="6148178" y="1483346"/>
                  <a:pt x="6133063" y="1651462"/>
                  <a:pt x="6142408" y="1806824"/>
                </a:cubicBezTo>
                <a:cubicBezTo>
                  <a:pt x="6151753" y="1962186"/>
                  <a:pt x="6125059" y="2149926"/>
                  <a:pt x="6142408" y="2257399"/>
                </a:cubicBezTo>
                <a:cubicBezTo>
                  <a:pt x="6159757" y="2364873"/>
                  <a:pt x="6070039" y="2630667"/>
                  <a:pt x="6142408" y="2867001"/>
                </a:cubicBezTo>
                <a:cubicBezTo>
                  <a:pt x="6131695" y="2968566"/>
                  <a:pt x="6021660" y="3092137"/>
                  <a:pt x="5925850" y="3083559"/>
                </a:cubicBezTo>
                <a:cubicBezTo>
                  <a:pt x="5706661" y="3119202"/>
                  <a:pt x="5465350" y="3056652"/>
                  <a:pt x="5297828" y="3083559"/>
                </a:cubicBezTo>
                <a:cubicBezTo>
                  <a:pt x="5130306" y="3110466"/>
                  <a:pt x="4758753" y="3054832"/>
                  <a:pt x="4612713" y="3083559"/>
                </a:cubicBezTo>
                <a:cubicBezTo>
                  <a:pt x="4466674" y="3112286"/>
                  <a:pt x="4213543" y="3072721"/>
                  <a:pt x="4098877" y="3083559"/>
                </a:cubicBezTo>
                <a:cubicBezTo>
                  <a:pt x="3984211" y="3094397"/>
                  <a:pt x="3708330" y="3062195"/>
                  <a:pt x="3585040" y="3083559"/>
                </a:cubicBezTo>
                <a:cubicBezTo>
                  <a:pt x="3461750" y="3104923"/>
                  <a:pt x="3214798" y="3079982"/>
                  <a:pt x="2957018" y="3083559"/>
                </a:cubicBezTo>
                <a:cubicBezTo>
                  <a:pt x="2699238" y="3087136"/>
                  <a:pt x="2745993" y="3045485"/>
                  <a:pt x="2557368" y="3083559"/>
                </a:cubicBezTo>
                <a:cubicBezTo>
                  <a:pt x="2368743" y="3121633"/>
                  <a:pt x="2255814" y="3050708"/>
                  <a:pt x="2043531" y="3083559"/>
                </a:cubicBezTo>
                <a:cubicBezTo>
                  <a:pt x="1831248" y="3116410"/>
                  <a:pt x="1675520" y="3078480"/>
                  <a:pt x="1415509" y="3083559"/>
                </a:cubicBezTo>
                <a:cubicBezTo>
                  <a:pt x="1155498" y="3088638"/>
                  <a:pt x="1143151" y="3024871"/>
                  <a:pt x="901673" y="3083559"/>
                </a:cubicBezTo>
                <a:cubicBezTo>
                  <a:pt x="660195" y="3142247"/>
                  <a:pt x="516383" y="3081629"/>
                  <a:pt x="216558" y="3083559"/>
                </a:cubicBezTo>
                <a:cubicBezTo>
                  <a:pt x="110212" y="3085985"/>
                  <a:pt x="12570" y="2995256"/>
                  <a:pt x="0" y="2867001"/>
                </a:cubicBezTo>
                <a:cubicBezTo>
                  <a:pt x="-17171" y="2696661"/>
                  <a:pt x="7864" y="2622494"/>
                  <a:pt x="0" y="2389921"/>
                </a:cubicBezTo>
                <a:cubicBezTo>
                  <a:pt x="-7864" y="2157348"/>
                  <a:pt x="54825" y="2063883"/>
                  <a:pt x="0" y="1806824"/>
                </a:cubicBezTo>
                <a:cubicBezTo>
                  <a:pt x="-54825" y="1549765"/>
                  <a:pt x="24362" y="1473383"/>
                  <a:pt x="0" y="1356248"/>
                </a:cubicBezTo>
                <a:cubicBezTo>
                  <a:pt x="-24362" y="1239113"/>
                  <a:pt x="48473" y="1023220"/>
                  <a:pt x="0" y="799655"/>
                </a:cubicBezTo>
                <a:cubicBezTo>
                  <a:pt x="-48473" y="576090"/>
                  <a:pt x="18212" y="346291"/>
                  <a:pt x="0" y="216558"/>
                </a:cubicBezTo>
                <a:close/>
              </a:path>
            </a:pathLst>
          </a:custGeom>
          <a:ln w="76200">
            <a:solidFill>
              <a:srgbClr val="4472C4"/>
            </a:solidFill>
            <a:prstDash val="dash"/>
            <a:extLst>
              <a:ext uri="{C807C97D-BFC1-408E-A445-0C87EB9F89A2}">
                <ask:lineSketchStyleProps xmlns:ask="http://schemas.microsoft.com/office/drawing/2018/sketchyshapes" sd="1155804108">
                  <a:prstGeom prst="roundRect">
                    <a:avLst>
                      <a:gd name="adj" fmla="val 7023"/>
                    </a:avLst>
                  </a:prstGeom>
                  <ask:type>
                    <ask:lineSketchScribble/>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marL="0" indent="0" algn="ctr">
              <a:buNone/>
            </a:pPr>
            <a:r>
              <a:rPr lang="en-US" sz="2400" b="1" dirty="0">
                <a:latin typeface="+mj-lt"/>
              </a:rPr>
              <a:t>Data Visualization: </a:t>
            </a:r>
            <a:endParaRPr lang="en-US" b="1" dirty="0"/>
          </a:p>
          <a:p>
            <a:pPr marL="0" indent="0">
              <a:buNone/>
            </a:pPr>
            <a:endParaRPr lang="en-US" b="1" dirty="0"/>
          </a:p>
          <a:p>
            <a:pPr marL="285750" indent="-285750">
              <a:buFont typeface="Wingdings" panose="05000000000000000000" pitchFamily="2" charset="2"/>
              <a:buChar char="q"/>
            </a:pPr>
            <a:r>
              <a:rPr lang="en-GB" dirty="0"/>
              <a:t>Comprehensive weather insights were visualized using </a:t>
            </a:r>
            <a:r>
              <a:rPr lang="en-GB" b="1" dirty="0"/>
              <a:t>Matplotlib</a:t>
            </a:r>
            <a:r>
              <a:rPr lang="en-GB" dirty="0"/>
              <a:t> and </a:t>
            </a:r>
            <a:r>
              <a:rPr lang="en-GB" b="1" dirty="0"/>
              <a:t>Seaborn</a:t>
            </a:r>
            <a:r>
              <a:rPr lang="en-GB" dirty="0"/>
              <a:t>, covering distributions, correlations, and hourly trends.</a:t>
            </a:r>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Interactive dashboards in </a:t>
            </a:r>
            <a:r>
              <a:rPr lang="en-GB" b="1" dirty="0"/>
              <a:t>Power BI</a:t>
            </a:r>
            <a:r>
              <a:rPr lang="en-GB" dirty="0"/>
              <a:t> illustrated patterns in temperature, humidity, and wind speed across different hours and months for easy, non-technical interpretation.</a:t>
            </a:r>
            <a:endParaRPr lang="en-US"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F68EB932-55F3-4290-92CC-E1CF8A807B31}"/>
              </a:ext>
            </a:extLst>
          </p:cNvPr>
          <p:cNvGrpSpPr/>
          <p:nvPr/>
        </p:nvGrpSpPr>
        <p:grpSpPr>
          <a:xfrm>
            <a:off x="9932899" y="-28281"/>
            <a:ext cx="1931394" cy="2047966"/>
            <a:chOff x="980386" y="18857"/>
            <a:chExt cx="2055043" cy="2246340"/>
          </a:xfrm>
        </p:grpSpPr>
        <p:sp>
          <p:nvSpPr>
            <p:cNvPr id="19" name="Rectangle: Rounded Corners 18">
              <a:extLst>
                <a:ext uri="{FF2B5EF4-FFF2-40B4-BE49-F238E27FC236}">
                  <a16:creationId xmlns:a16="http://schemas.microsoft.com/office/drawing/2014/main" id="{4649DCE9-D462-4351-966C-D0711C0EA45E}"/>
                </a:ext>
              </a:extLst>
            </p:cNvPr>
            <p:cNvSpPr/>
            <p:nvPr/>
          </p:nvSpPr>
          <p:spPr>
            <a:xfrm>
              <a:off x="980386" y="18857"/>
              <a:ext cx="2055043" cy="2215296"/>
            </a:xfrm>
            <a:prstGeom prst="roundRect">
              <a:avLst>
                <a:gd name="adj" fmla="val 291"/>
              </a:avLst>
            </a:prstGeom>
            <a:ln w="952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20" name="Picture 19">
              <a:extLst>
                <a:ext uri="{FF2B5EF4-FFF2-40B4-BE49-F238E27FC236}">
                  <a16:creationId xmlns:a16="http://schemas.microsoft.com/office/drawing/2014/main" id="{1B6C3721-BC7E-4B83-9B09-3F3AB7E72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1" name="TextBox 20">
              <a:extLst>
                <a:ext uri="{FF2B5EF4-FFF2-40B4-BE49-F238E27FC236}">
                  <a16:creationId xmlns:a16="http://schemas.microsoft.com/office/drawing/2014/main" id="{68715817-5F52-4CD7-ADE4-C28677C6137A}"/>
                </a:ext>
              </a:extLst>
            </p:cNvPr>
            <p:cNvSpPr txBox="1"/>
            <p:nvPr/>
          </p:nvSpPr>
          <p:spPr>
            <a:xfrm>
              <a:off x="980386" y="150293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9" name="Freeform: Shape 8">
            <a:extLst>
              <a:ext uri="{FF2B5EF4-FFF2-40B4-BE49-F238E27FC236}">
                <a16:creationId xmlns:a16="http://schemas.microsoft.com/office/drawing/2014/main" id="{C8BEBEF4-94CD-423B-9B4A-4496231E3E44}"/>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099397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147373" y="438795"/>
            <a:ext cx="10210801"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Temperature and Apparent Temperature Distribution Analysis</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33681" y="754766"/>
            <a:ext cx="11724637" cy="2308324"/>
          </a:xfrm>
          <a:prstGeom prst="rect">
            <a:avLst/>
          </a:prstGeom>
          <a:noFill/>
          <a:ln>
            <a:noFill/>
          </a:ln>
        </p:spPr>
        <p:txBody>
          <a:bodyPr wrap="square" rtlCol="0">
            <a:spAutoFit/>
          </a:bodyPr>
          <a:lstStyle/>
          <a:p>
            <a:pPr marL="285750" indent="-285750">
              <a:buFont typeface="Wingdings" panose="05000000000000000000" pitchFamily="2" charset="2"/>
              <a:buChar char="q"/>
            </a:pPr>
            <a:r>
              <a:rPr lang="en-GB" sz="1600" dirty="0"/>
              <a:t>Out of 96,429 weather records, the </a:t>
            </a:r>
            <a:r>
              <a:rPr lang="en-GB" sz="1600" b="1" dirty="0"/>
              <a:t>average temperature</a:t>
            </a:r>
            <a:r>
              <a:rPr lang="en-GB" sz="1600" dirty="0"/>
              <a:t> was </a:t>
            </a:r>
            <a:r>
              <a:rPr lang="en-GB" sz="1600" b="1" dirty="0"/>
              <a:t>11.93°C</a:t>
            </a:r>
            <a:r>
              <a:rPr lang="en-GB" sz="1600" dirty="0"/>
              <a:t> (±9.55°C), ranging from </a:t>
            </a:r>
          </a:p>
          <a:p>
            <a:r>
              <a:rPr lang="en-GB" sz="1600" b="1" dirty="0"/>
              <a:t>      –21.82°C to 39.91°C</a:t>
            </a:r>
            <a:r>
              <a:rPr lang="en-GB" sz="1600" dirty="0"/>
              <a:t>.</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The distribution is nearly symmetric (skew ≈ 0.09, kurtosis ≈ –0.57), with </a:t>
            </a:r>
            <a:r>
              <a:rPr lang="en-GB" sz="1600" b="1" dirty="0"/>
              <a:t>25% below 4.68°C</a:t>
            </a:r>
            <a:r>
              <a:rPr lang="en-GB" sz="1600" dirty="0"/>
              <a:t>, a </a:t>
            </a:r>
            <a:r>
              <a:rPr lang="en-GB" sz="1600" b="1" dirty="0"/>
              <a:t>median of 12°C</a:t>
            </a:r>
            <a:r>
              <a:rPr lang="en-GB" sz="1600" dirty="0"/>
              <a:t>, </a:t>
            </a:r>
          </a:p>
          <a:p>
            <a:r>
              <a:rPr lang="en-GB" sz="1600" dirty="0"/>
              <a:t>       and </a:t>
            </a:r>
            <a:r>
              <a:rPr lang="en-GB" sz="1600" b="1" dirty="0"/>
              <a:t>75% below 18.84°C</a:t>
            </a:r>
            <a:r>
              <a:rPr lang="en-GB" sz="1600" dirty="0"/>
              <a:t>, showing mostly moderate conditions.</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The </a:t>
            </a:r>
            <a:r>
              <a:rPr lang="en-GB" sz="1600" b="1" dirty="0"/>
              <a:t>apparent temperature</a:t>
            </a:r>
            <a:r>
              <a:rPr lang="en-GB" sz="1600" dirty="0"/>
              <a:t> averaged </a:t>
            </a:r>
            <a:r>
              <a:rPr lang="en-GB" sz="1600" b="1" dirty="0"/>
              <a:t>10.85°C</a:t>
            </a:r>
            <a:r>
              <a:rPr lang="en-GB" sz="1600" dirty="0"/>
              <a:t> (±10.70°C), spanning </a:t>
            </a:r>
            <a:r>
              <a:rPr lang="en-GB" sz="1600" b="1" dirty="0"/>
              <a:t>–27.72°C to 39.34°C</a:t>
            </a:r>
            <a:r>
              <a:rPr lang="en-GB" sz="1600" dirty="0"/>
              <a:t>.</a:t>
            </a:r>
            <a:br>
              <a:rPr lang="en-GB" sz="1600" dirty="0"/>
            </a:br>
            <a:r>
              <a:rPr lang="en-GB" sz="1600" dirty="0"/>
              <a:t>Its shape is also near-normal (skew ≈ –0.06, kurtosis ≈ –0.71), closely matching the actual temperature pattern with small deviations due to humidity and wind chill.</a:t>
            </a:r>
          </a:p>
        </p:txBody>
      </p:sp>
      <p:pic>
        <p:nvPicPr>
          <p:cNvPr id="3" name="Picture 2">
            <a:extLst>
              <a:ext uri="{FF2B5EF4-FFF2-40B4-BE49-F238E27FC236}">
                <a16:creationId xmlns:a16="http://schemas.microsoft.com/office/drawing/2014/main" id="{BAC302E9-CC54-4C1E-A0A7-A7ABB4D8184B}"/>
              </a:ext>
            </a:extLst>
          </p:cNvPr>
          <p:cNvPicPr>
            <a:picLocks noChangeAspect="1"/>
          </p:cNvPicPr>
          <p:nvPr/>
        </p:nvPicPr>
        <p:blipFill>
          <a:blip r:embed="rId4"/>
          <a:stretch>
            <a:fillRect/>
          </a:stretch>
        </p:blipFill>
        <p:spPr>
          <a:xfrm>
            <a:off x="233681" y="3013493"/>
            <a:ext cx="5770879" cy="3658810"/>
          </a:xfrm>
          <a:prstGeom prst="rect">
            <a:avLst/>
          </a:prstGeom>
        </p:spPr>
      </p:pic>
      <p:pic>
        <p:nvPicPr>
          <p:cNvPr id="5" name="Picture 4">
            <a:extLst>
              <a:ext uri="{FF2B5EF4-FFF2-40B4-BE49-F238E27FC236}">
                <a16:creationId xmlns:a16="http://schemas.microsoft.com/office/drawing/2014/main" id="{5BB30E47-CE35-40B2-B606-2E8F68507BA6}"/>
              </a:ext>
            </a:extLst>
          </p:cNvPr>
          <p:cNvPicPr>
            <a:picLocks noChangeAspect="1"/>
          </p:cNvPicPr>
          <p:nvPr/>
        </p:nvPicPr>
        <p:blipFill>
          <a:blip r:embed="rId5"/>
          <a:stretch>
            <a:fillRect/>
          </a:stretch>
        </p:blipFill>
        <p:spPr>
          <a:xfrm>
            <a:off x="6096000" y="3035757"/>
            <a:ext cx="5862318" cy="3636546"/>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3" name="Freeform: Shape 12">
            <a:extLst>
              <a:ext uri="{FF2B5EF4-FFF2-40B4-BE49-F238E27FC236}">
                <a16:creationId xmlns:a16="http://schemas.microsoft.com/office/drawing/2014/main" id="{53DCFED6-E592-40E4-9D7E-BF46197F38E7}"/>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1007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780D0A7-5750-4DBF-9BC7-5A300DB22943}"/>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732"/>
            <a:ext cx="12192000" cy="6867427"/>
          </a:xfrm>
          <a:prstGeom prst="rect">
            <a:avLst/>
          </a:prstGeom>
        </p:spPr>
      </p:pic>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Temperature vs Apparent Temperature</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6025104" y="1014831"/>
            <a:ext cx="5991361" cy="5509200"/>
          </a:xfrm>
          <a:prstGeom prst="rect">
            <a:avLst/>
          </a:prstGeom>
          <a:noFill/>
          <a:ln>
            <a:noFill/>
          </a:ln>
        </p:spPr>
        <p:txBody>
          <a:bodyPr wrap="square" rtlCol="0">
            <a:spAutoFit/>
          </a:bodyPr>
          <a:lstStyle/>
          <a:p>
            <a:pPr marL="285750" indent="-285750">
              <a:buFont typeface="Wingdings" panose="05000000000000000000" pitchFamily="2" charset="2"/>
              <a:buChar char="q"/>
            </a:pPr>
            <a:r>
              <a:rPr lang="en-GB" sz="1600" dirty="0"/>
              <a:t>Out of </a:t>
            </a:r>
            <a:r>
              <a:rPr lang="en-GB" sz="1600" b="1" dirty="0"/>
              <a:t>96,429 weather records</a:t>
            </a:r>
            <a:r>
              <a:rPr lang="en-GB" sz="1600" dirty="0"/>
              <a:t>, </a:t>
            </a:r>
            <a:r>
              <a:rPr lang="en-GB" sz="1600" b="1" dirty="0"/>
              <a:t>average </a:t>
            </a:r>
          </a:p>
          <a:p>
            <a:r>
              <a:rPr lang="en-GB" sz="1600" b="1" dirty="0"/>
              <a:t>    temperature</a:t>
            </a:r>
            <a:r>
              <a:rPr lang="en-GB" sz="1600" dirty="0"/>
              <a:t> was approximately </a:t>
            </a:r>
            <a:r>
              <a:rPr lang="en-GB" sz="1600" b="1" dirty="0"/>
              <a:t>11.93°C</a:t>
            </a:r>
            <a:r>
              <a:rPr lang="en-GB" sz="1600" dirty="0"/>
              <a:t>, </a:t>
            </a:r>
          </a:p>
          <a:p>
            <a:r>
              <a:rPr lang="en-GB" sz="1600" dirty="0"/>
              <a:t>    while the </a:t>
            </a:r>
            <a:r>
              <a:rPr lang="en-GB" sz="1600" b="1" dirty="0"/>
              <a:t>average apparent temperature</a:t>
            </a:r>
            <a:r>
              <a:rPr lang="en-GB" sz="1600" dirty="0"/>
              <a:t> </a:t>
            </a:r>
          </a:p>
          <a:p>
            <a:r>
              <a:rPr lang="en-GB" sz="1600" dirty="0"/>
              <a:t>    (considering wind chill and humidity effects) </a:t>
            </a:r>
          </a:p>
          <a:p>
            <a:r>
              <a:rPr lang="en-GB" sz="1600" dirty="0"/>
              <a:t>    was slightly lower at </a:t>
            </a:r>
            <a:r>
              <a:rPr lang="en-GB" sz="1600" b="1" dirty="0"/>
              <a:t>10.85°C</a:t>
            </a:r>
            <a:r>
              <a:rPr lang="en-GB" sz="1600" dirty="0"/>
              <a:t>.</a:t>
            </a:r>
          </a:p>
          <a:p>
            <a:pPr marL="285750" indent="-285750">
              <a:buFont typeface="Wingdings" panose="05000000000000000000" pitchFamily="2" charset="2"/>
              <a:buChar char="q"/>
            </a:pPr>
            <a:endParaRPr lang="en-GB" sz="1600" b="1" dirty="0"/>
          </a:p>
          <a:p>
            <a:pPr marL="285750" indent="-285750">
              <a:buFont typeface="Wingdings" panose="05000000000000000000" pitchFamily="2" charset="2"/>
              <a:buChar char="q"/>
            </a:pPr>
            <a:r>
              <a:rPr lang="en-GB" sz="1600" b="1" dirty="0"/>
              <a:t>Temperature (C):</a:t>
            </a:r>
            <a:r>
              <a:rPr lang="en-GB" sz="1600" dirty="0"/>
              <a:t> ranged from </a:t>
            </a:r>
            <a:r>
              <a:rPr lang="en-GB" sz="1600" b="1" dirty="0"/>
              <a:t>–21.82°C</a:t>
            </a:r>
            <a:r>
              <a:rPr lang="en-GB" sz="1600" dirty="0"/>
              <a:t> to </a:t>
            </a:r>
            <a:r>
              <a:rPr lang="en-GB" sz="1600" b="1" dirty="0"/>
              <a:t>39.91°C</a:t>
            </a:r>
            <a:endParaRPr lang="en-GB" sz="1600" dirty="0"/>
          </a:p>
          <a:p>
            <a:pPr marL="285750" indent="-285750">
              <a:buFont typeface="Wingdings" panose="05000000000000000000" pitchFamily="2" charset="2"/>
              <a:buChar char="q"/>
            </a:pPr>
            <a:endParaRPr lang="en-GB" sz="1600" b="1" dirty="0"/>
          </a:p>
          <a:p>
            <a:pPr marL="285750" indent="-285750">
              <a:buFont typeface="Wingdings" panose="05000000000000000000" pitchFamily="2" charset="2"/>
              <a:buChar char="q"/>
            </a:pPr>
            <a:r>
              <a:rPr lang="en-GB" sz="1600" b="1" dirty="0"/>
              <a:t>Apparent Temperature (C):</a:t>
            </a:r>
            <a:r>
              <a:rPr lang="en-GB" sz="1600" dirty="0"/>
              <a:t> ranged from </a:t>
            </a:r>
            <a:r>
              <a:rPr lang="en-GB" sz="1600" b="1" dirty="0"/>
              <a:t>–27.72°C</a:t>
            </a:r>
            <a:r>
              <a:rPr lang="en-GB" sz="1600" dirty="0"/>
              <a:t> to </a:t>
            </a:r>
            <a:r>
              <a:rPr lang="en-GB" sz="1600" b="1" dirty="0"/>
              <a:t>39.34°C</a:t>
            </a:r>
            <a:endParaRPr lang="en-GB" sz="1600" dirty="0"/>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The </a:t>
            </a:r>
            <a:r>
              <a:rPr lang="en-GB" sz="1600" b="1" dirty="0"/>
              <a:t>distribution of both actual and apparent temperatures</a:t>
            </a:r>
            <a:r>
              <a:rPr lang="en-GB" sz="1600" dirty="0"/>
              <a:t> is fairly symmetric</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Temperature skewness ≈ </a:t>
            </a:r>
            <a:r>
              <a:rPr lang="en-GB" sz="1600" b="1" dirty="0"/>
              <a:t>0.09</a:t>
            </a:r>
            <a:r>
              <a:rPr lang="en-GB" sz="1600" dirty="0"/>
              <a:t>, kurtosis ≈ </a:t>
            </a:r>
            <a:r>
              <a:rPr lang="en-GB" sz="1600" b="1" dirty="0"/>
              <a:t>–0.57</a:t>
            </a:r>
            <a:endParaRPr lang="en-GB" sz="1600" dirty="0"/>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Apparent Temperature skewness ≈ </a:t>
            </a:r>
            <a:r>
              <a:rPr lang="en-GB" sz="1600" b="1" dirty="0"/>
              <a:t>–0.06</a:t>
            </a:r>
            <a:r>
              <a:rPr lang="en-GB" sz="1600" dirty="0"/>
              <a:t>, kurtosis ≈ </a:t>
            </a:r>
            <a:r>
              <a:rPr lang="en-GB" sz="1600" b="1" dirty="0"/>
              <a:t>–0.71</a:t>
            </a:r>
            <a:endParaRPr lang="en-GB" sz="1600" dirty="0"/>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25% of temperatures are below ~</a:t>
            </a:r>
            <a:r>
              <a:rPr lang="en-GB" sz="1600" b="1" dirty="0"/>
              <a:t>4.68°C</a:t>
            </a:r>
            <a:r>
              <a:rPr lang="en-GB" sz="1600" dirty="0"/>
              <a:t>, median is </a:t>
            </a:r>
            <a:r>
              <a:rPr lang="en-GB" sz="1600" b="1" dirty="0"/>
              <a:t>12°C</a:t>
            </a:r>
            <a:r>
              <a:rPr lang="en-GB" sz="1600" dirty="0"/>
              <a:t>, and 75% are below ~</a:t>
            </a:r>
            <a:r>
              <a:rPr lang="en-GB" sz="1600" b="1" dirty="0"/>
              <a:t>18.84°C</a:t>
            </a:r>
            <a:endParaRPr lang="en-GB" sz="1600" dirty="0"/>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25% of apparent temperatures are below ~</a:t>
            </a:r>
            <a:r>
              <a:rPr lang="en-GB" sz="1600" b="1" dirty="0"/>
              <a:t>2.31°C</a:t>
            </a:r>
            <a:r>
              <a:rPr lang="en-GB" sz="1600" dirty="0"/>
              <a:t>, median is </a:t>
            </a:r>
            <a:r>
              <a:rPr lang="en-GB" sz="1600" b="1" dirty="0"/>
              <a:t>12°C</a:t>
            </a:r>
            <a:r>
              <a:rPr lang="en-GB" sz="1600" dirty="0"/>
              <a:t>, and 75% are below ~</a:t>
            </a:r>
            <a:r>
              <a:rPr lang="en-GB" sz="1600" b="1" dirty="0"/>
              <a:t>18.84°C</a:t>
            </a: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pic>
        <p:nvPicPr>
          <p:cNvPr id="4" name="Picture 3">
            <a:extLst>
              <a:ext uri="{FF2B5EF4-FFF2-40B4-BE49-F238E27FC236}">
                <a16:creationId xmlns:a16="http://schemas.microsoft.com/office/drawing/2014/main" id="{39E8B152-140E-49B7-B405-C9067F52B206}"/>
              </a:ext>
            </a:extLst>
          </p:cNvPr>
          <p:cNvPicPr>
            <a:picLocks noChangeAspect="1"/>
          </p:cNvPicPr>
          <p:nvPr/>
        </p:nvPicPr>
        <p:blipFill>
          <a:blip r:embed="rId5"/>
          <a:stretch>
            <a:fillRect/>
          </a:stretch>
        </p:blipFill>
        <p:spPr>
          <a:xfrm>
            <a:off x="175535" y="1009831"/>
            <a:ext cx="5744931" cy="5658336"/>
          </a:xfrm>
          <a:prstGeom prst="rect">
            <a:avLst/>
          </a:prstGeom>
        </p:spPr>
      </p:pic>
      <p:sp>
        <p:nvSpPr>
          <p:cNvPr id="14" name="Freeform: Shape 13">
            <a:extLst>
              <a:ext uri="{FF2B5EF4-FFF2-40B4-BE49-F238E27FC236}">
                <a16:creationId xmlns:a16="http://schemas.microsoft.com/office/drawing/2014/main" id="{DA1A7194-1D1E-4ACC-81DE-1B0494472E96}"/>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807681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7"/>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Temperature Summary by Month</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43841" y="692781"/>
            <a:ext cx="11724637" cy="338554"/>
          </a:xfrm>
          <a:prstGeom prst="rect">
            <a:avLst/>
          </a:prstGeom>
          <a:noFill/>
          <a:ln>
            <a:noFill/>
          </a:ln>
        </p:spPr>
        <p:txBody>
          <a:bodyPr wrap="square" rtlCol="0">
            <a:spAutoFit/>
          </a:bodyPr>
          <a:lstStyle/>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9" name="Rectangle 2">
            <a:extLst>
              <a:ext uri="{FF2B5EF4-FFF2-40B4-BE49-F238E27FC236}">
                <a16:creationId xmlns:a16="http://schemas.microsoft.com/office/drawing/2014/main" id="{5BE6417A-C0C6-4B34-A8BA-8D2DEEE63241}"/>
              </a:ext>
            </a:extLst>
          </p:cNvPr>
          <p:cNvSpPr>
            <a:spLocks noChangeArrowheads="1"/>
          </p:cNvSpPr>
          <p:nvPr/>
        </p:nvSpPr>
        <p:spPr bwMode="auto">
          <a:xfrm>
            <a:off x="66585" y="977237"/>
            <a:ext cx="95707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q"/>
            </a:pPr>
            <a:r>
              <a:rPr lang="en-GB" dirty="0"/>
              <a:t>Temperature rises gradually from winter (Dec–Feb, ~–1°C to 1°C) to summer (May–Aug, ~21°C), then declines toward winter again (~1–5°C in Nov–Dec).</a:t>
            </a:r>
          </a:p>
        </p:txBody>
      </p:sp>
      <p:sp>
        <p:nvSpPr>
          <p:cNvPr id="21" name="TextBox 20">
            <a:extLst>
              <a:ext uri="{FF2B5EF4-FFF2-40B4-BE49-F238E27FC236}">
                <a16:creationId xmlns:a16="http://schemas.microsoft.com/office/drawing/2014/main" id="{1F93402D-710F-471F-B5F4-E107E05FA12A}"/>
              </a:ext>
            </a:extLst>
          </p:cNvPr>
          <p:cNvSpPr txBox="1"/>
          <p:nvPr/>
        </p:nvSpPr>
        <p:spPr>
          <a:xfrm>
            <a:off x="66585" y="1886635"/>
            <a:ext cx="4109175" cy="3970318"/>
          </a:xfrm>
          <a:prstGeom prst="rect">
            <a:avLst/>
          </a:prstGeom>
          <a:noFill/>
        </p:spPr>
        <p:txBody>
          <a:bodyPr wrap="square">
            <a:spAutoFit/>
          </a:bodyPr>
          <a:lstStyle/>
          <a:p>
            <a:pPr marL="285750" indent="-285750">
              <a:buFont typeface="Wingdings" panose="05000000000000000000" pitchFamily="2" charset="2"/>
              <a:buChar char="q"/>
            </a:pPr>
            <a:r>
              <a:rPr lang="en-GB" dirty="0"/>
              <a:t>Seasonal variation is evident: the lowest monthly temperature recorded ~–14°C, while the highest reached ~32°C.</a:t>
            </a:r>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Median monthly temperatures closely follow the mean, indicating consistent seasonal patterns.</a:t>
            </a:r>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The interquartile range (25th–75th percentile) reflects moderate variability, with larger spreads in transitional months (spring/fall) and smaller spreads in summer/winter.</a:t>
            </a:r>
          </a:p>
        </p:txBody>
      </p:sp>
      <p:pic>
        <p:nvPicPr>
          <p:cNvPr id="3" name="Picture 2">
            <a:extLst>
              <a:ext uri="{FF2B5EF4-FFF2-40B4-BE49-F238E27FC236}">
                <a16:creationId xmlns:a16="http://schemas.microsoft.com/office/drawing/2014/main" id="{2CD78D61-951B-4C8D-A03C-6EE0F86BF04F}"/>
              </a:ext>
            </a:extLst>
          </p:cNvPr>
          <p:cNvPicPr>
            <a:picLocks noChangeAspect="1"/>
          </p:cNvPicPr>
          <p:nvPr/>
        </p:nvPicPr>
        <p:blipFill>
          <a:blip r:embed="rId5"/>
          <a:stretch>
            <a:fillRect/>
          </a:stretch>
        </p:blipFill>
        <p:spPr>
          <a:xfrm>
            <a:off x="4175760" y="2251426"/>
            <a:ext cx="7873362" cy="4498487"/>
          </a:xfrm>
          <a:prstGeom prst="rect">
            <a:avLst/>
          </a:prstGeom>
        </p:spPr>
      </p:pic>
      <p:sp>
        <p:nvSpPr>
          <p:cNvPr id="14" name="Freeform: Shape 13">
            <a:extLst>
              <a:ext uri="{FF2B5EF4-FFF2-40B4-BE49-F238E27FC236}">
                <a16:creationId xmlns:a16="http://schemas.microsoft.com/office/drawing/2014/main" id="{88CD295B-A92E-4641-97C1-9A1D6945A5B2}"/>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807869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7"/>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Temperature Summary by Hour (°C)</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43841" y="692781"/>
            <a:ext cx="11724637" cy="338554"/>
          </a:xfrm>
          <a:prstGeom prst="rect">
            <a:avLst/>
          </a:prstGeom>
          <a:noFill/>
          <a:ln>
            <a:noFill/>
          </a:ln>
        </p:spPr>
        <p:txBody>
          <a:bodyPr wrap="square" rtlCol="0">
            <a:spAutoFit/>
          </a:bodyPr>
          <a:lstStyle/>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9" name="Rectangle 2">
            <a:extLst>
              <a:ext uri="{FF2B5EF4-FFF2-40B4-BE49-F238E27FC236}">
                <a16:creationId xmlns:a16="http://schemas.microsoft.com/office/drawing/2014/main" id="{5BE6417A-C0C6-4B34-A8BA-8D2DEEE63241}"/>
              </a:ext>
            </a:extLst>
          </p:cNvPr>
          <p:cNvSpPr>
            <a:spLocks noChangeArrowheads="1"/>
          </p:cNvSpPr>
          <p:nvPr/>
        </p:nvSpPr>
        <p:spPr bwMode="auto">
          <a:xfrm>
            <a:off x="142237" y="885429"/>
            <a:ext cx="95707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q"/>
            </a:pPr>
            <a:r>
              <a:rPr lang="en-GB" dirty="0"/>
              <a:t>Temperatures vary significantly across the day, with early morning (0–4 AM) being the coldest (~7–9°C on average) and late afternoon (12–15 PM) the warmest (~16°C on average).</a:t>
            </a:r>
          </a:p>
        </p:txBody>
      </p:sp>
      <p:pic>
        <p:nvPicPr>
          <p:cNvPr id="15" name="Picture 14">
            <a:extLst>
              <a:ext uri="{FF2B5EF4-FFF2-40B4-BE49-F238E27FC236}">
                <a16:creationId xmlns:a16="http://schemas.microsoft.com/office/drawing/2014/main" id="{E0D6147D-1445-455E-9657-3C2A356A9843}"/>
              </a:ext>
            </a:extLst>
          </p:cNvPr>
          <p:cNvPicPr>
            <a:picLocks noChangeAspect="1"/>
          </p:cNvPicPr>
          <p:nvPr/>
        </p:nvPicPr>
        <p:blipFill>
          <a:blip r:embed="rId5"/>
          <a:stretch>
            <a:fillRect/>
          </a:stretch>
        </p:blipFill>
        <p:spPr>
          <a:xfrm>
            <a:off x="5197386" y="2496946"/>
            <a:ext cx="6771092" cy="4145379"/>
          </a:xfrm>
          <a:prstGeom prst="rect">
            <a:avLst/>
          </a:prstGeom>
        </p:spPr>
      </p:pic>
      <p:sp>
        <p:nvSpPr>
          <p:cNvPr id="21" name="TextBox 20">
            <a:extLst>
              <a:ext uri="{FF2B5EF4-FFF2-40B4-BE49-F238E27FC236}">
                <a16:creationId xmlns:a16="http://schemas.microsoft.com/office/drawing/2014/main" id="{1F93402D-710F-471F-B5F4-E107E05FA12A}"/>
              </a:ext>
            </a:extLst>
          </p:cNvPr>
          <p:cNvSpPr txBox="1"/>
          <p:nvPr/>
        </p:nvSpPr>
        <p:spPr>
          <a:xfrm>
            <a:off x="142237" y="1754047"/>
            <a:ext cx="4937761" cy="3693319"/>
          </a:xfrm>
          <a:prstGeom prst="rect">
            <a:avLst/>
          </a:prstGeom>
          <a:noFill/>
        </p:spPr>
        <p:txBody>
          <a:bodyPr wrap="square">
            <a:spAutoFit/>
          </a:bodyPr>
          <a:lstStyle/>
          <a:p>
            <a:pPr marL="285750" indent="-285750">
              <a:buFont typeface="Wingdings" panose="05000000000000000000" pitchFamily="2" charset="2"/>
              <a:buChar char="q"/>
            </a:pPr>
            <a:r>
              <a:rPr lang="en-GB" dirty="0"/>
              <a:t>Minimum temperatures can drop below –21°C during early hours, while the maximum can reach ~39.9°C in the afternoon.</a:t>
            </a:r>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The 25th–75th percentile range shows moderate daily variation: early morning (~2–15°C), midday (~7–25°C), and evening (~4–22°C).</a:t>
            </a:r>
          </a:p>
          <a:p>
            <a:pPr marL="285750" indent="-285750">
              <a:buFont typeface="Wingdings" panose="05000000000000000000" pitchFamily="2" charset="2"/>
              <a:buChar char="q"/>
            </a:pPr>
            <a:endParaRPr lang="en-GB" dirty="0"/>
          </a:p>
          <a:p>
            <a:pPr marL="285750" indent="-285750">
              <a:buFont typeface="Wingdings" panose="05000000000000000000" pitchFamily="2" charset="2"/>
              <a:buChar char="q"/>
            </a:pPr>
            <a:r>
              <a:rPr lang="en-GB" dirty="0"/>
              <a:t>Median temperatures follow a smooth daily cycle, rising after sunrise and peaking around 13–14 PM, then gradually cooling toward midnight.</a:t>
            </a:r>
          </a:p>
        </p:txBody>
      </p:sp>
      <p:sp>
        <p:nvSpPr>
          <p:cNvPr id="22" name="Freeform: Shape 21">
            <a:extLst>
              <a:ext uri="{FF2B5EF4-FFF2-40B4-BE49-F238E27FC236}">
                <a16:creationId xmlns:a16="http://schemas.microsoft.com/office/drawing/2014/main" id="{58491423-F4E1-479F-A07E-6A276DBF619E}"/>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477643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7"/>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Temperature Summary by Hour (°C)</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43841" y="692781"/>
            <a:ext cx="11724637" cy="338554"/>
          </a:xfrm>
          <a:prstGeom prst="rect">
            <a:avLst/>
          </a:prstGeom>
          <a:noFill/>
          <a:ln>
            <a:noFill/>
          </a:ln>
        </p:spPr>
        <p:txBody>
          <a:bodyPr wrap="square" rtlCol="0">
            <a:spAutoFit/>
          </a:bodyPr>
          <a:lstStyle/>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9" name="Rectangle 2">
            <a:extLst>
              <a:ext uri="{FF2B5EF4-FFF2-40B4-BE49-F238E27FC236}">
                <a16:creationId xmlns:a16="http://schemas.microsoft.com/office/drawing/2014/main" id="{5BE6417A-C0C6-4B34-A8BA-8D2DEEE63241}"/>
              </a:ext>
            </a:extLst>
          </p:cNvPr>
          <p:cNvSpPr>
            <a:spLocks noChangeArrowheads="1"/>
          </p:cNvSpPr>
          <p:nvPr/>
        </p:nvSpPr>
        <p:spPr bwMode="auto">
          <a:xfrm>
            <a:off x="137709" y="642114"/>
            <a:ext cx="1119300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a:buFont typeface="Wingdings" panose="05000000000000000000" pitchFamily="2" charset="2"/>
              <a:buChar char="q"/>
            </a:pPr>
            <a:r>
              <a:rPr lang="en-GB" dirty="0"/>
              <a:t>Temperatures range from –21.82°C to 39.91°C.</a:t>
            </a:r>
          </a:p>
          <a:p>
            <a:pPr marL="285750" indent="-285750">
              <a:buFont typeface="Wingdings" panose="05000000000000000000" pitchFamily="2" charset="2"/>
              <a:buChar char="q"/>
            </a:pPr>
            <a:r>
              <a:rPr lang="en-GB" dirty="0"/>
              <a:t>0–5 AM: Coldest hours, mean ~7–8.8°C.</a:t>
            </a:r>
          </a:p>
          <a:p>
            <a:pPr marL="285750" indent="-285750">
              <a:buFont typeface="Wingdings" panose="05000000000000000000" pitchFamily="2" charset="2"/>
              <a:buChar char="q"/>
            </a:pPr>
            <a:r>
              <a:rPr lang="en-GB" dirty="0"/>
              <a:t>6–11 AM: Gradual warming.</a:t>
            </a:r>
          </a:p>
          <a:p>
            <a:pPr marL="285750" indent="-285750">
              <a:buFont typeface="Wingdings" panose="05000000000000000000" pitchFamily="2" charset="2"/>
              <a:buChar char="q"/>
            </a:pPr>
            <a:r>
              <a:rPr lang="en-GB" dirty="0"/>
              <a:t>12–15 PM: Hottest period, mean ~16°C, peaks near 39.9°C.</a:t>
            </a:r>
          </a:p>
          <a:p>
            <a:pPr marL="285750" indent="-285750">
              <a:buFont typeface="Wingdings" panose="05000000000000000000" pitchFamily="2" charset="2"/>
              <a:buChar char="q"/>
            </a:pPr>
            <a:r>
              <a:rPr lang="en-GB" dirty="0"/>
              <a:t>16–23 PM: Cooling trend toward night.</a:t>
            </a:r>
          </a:p>
          <a:p>
            <a:pPr marL="285750" indent="-285750">
              <a:buFont typeface="Wingdings" panose="05000000000000000000" pitchFamily="2" charset="2"/>
              <a:buChar char="q"/>
            </a:pPr>
            <a:r>
              <a:rPr lang="en-GB" dirty="0"/>
              <a:t>Median temperatures closely follow the mean; distributions slightly skewed in early hours and flatter in afternoon.</a:t>
            </a:r>
          </a:p>
        </p:txBody>
      </p:sp>
      <p:pic>
        <p:nvPicPr>
          <p:cNvPr id="11" name="Picture 10">
            <a:extLst>
              <a:ext uri="{FF2B5EF4-FFF2-40B4-BE49-F238E27FC236}">
                <a16:creationId xmlns:a16="http://schemas.microsoft.com/office/drawing/2014/main" id="{15FB5C82-F89C-4C71-95FF-F9E937918A78}"/>
              </a:ext>
            </a:extLst>
          </p:cNvPr>
          <p:cNvPicPr>
            <a:picLocks noChangeAspect="1"/>
          </p:cNvPicPr>
          <p:nvPr/>
        </p:nvPicPr>
        <p:blipFill>
          <a:blip r:embed="rId5"/>
          <a:stretch>
            <a:fillRect/>
          </a:stretch>
        </p:blipFill>
        <p:spPr>
          <a:xfrm>
            <a:off x="238621" y="2396504"/>
            <a:ext cx="11714757" cy="4286639"/>
          </a:xfrm>
          <a:prstGeom prst="rect">
            <a:avLst/>
          </a:prstGeom>
        </p:spPr>
      </p:pic>
      <p:sp>
        <p:nvSpPr>
          <p:cNvPr id="12" name="Freeform: Shape 11">
            <a:extLst>
              <a:ext uri="{FF2B5EF4-FFF2-40B4-BE49-F238E27FC236}">
                <a16:creationId xmlns:a16="http://schemas.microsoft.com/office/drawing/2014/main" id="{CCC2F79C-72A0-427B-AC81-B6A46C127924}"/>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103712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Precipitation Type Summary</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43842" y="692780"/>
            <a:ext cx="9549402" cy="2308324"/>
          </a:xfrm>
          <a:prstGeom prst="rect">
            <a:avLst/>
          </a:prstGeom>
          <a:noFill/>
          <a:ln>
            <a:noFill/>
          </a:ln>
        </p:spPr>
        <p:txBody>
          <a:bodyPr wrap="square" rtlCol="0">
            <a:spAutoFit/>
          </a:bodyPr>
          <a:lstStyle/>
          <a:p>
            <a:pPr marL="285750" indent="-285750">
              <a:buFont typeface="Wingdings" panose="05000000000000000000" pitchFamily="2" charset="2"/>
              <a:buChar char="q"/>
            </a:pPr>
            <a:r>
              <a:rPr lang="en-GB" sz="1600" dirty="0"/>
              <a:t>Out of 96,429 weather records, the majority of observations (approximately 85,717 records, or 88.9%) correspond to Rain, while Snow occurs in 10,712 records (11.1%).</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This indicates that rainfall is the predominant form of precipitation in the dataset, with snowfall being relatively rare.</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Sample records show that Rain (coded as 0) dominates the initial observations, consistent with the overall distribution.</a:t>
            </a:r>
          </a:p>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pic>
        <p:nvPicPr>
          <p:cNvPr id="11" name="Picture 10">
            <a:extLst>
              <a:ext uri="{FF2B5EF4-FFF2-40B4-BE49-F238E27FC236}">
                <a16:creationId xmlns:a16="http://schemas.microsoft.com/office/drawing/2014/main" id="{5B2FF148-90EC-4B00-87C6-948E8E4CFB73}"/>
              </a:ext>
            </a:extLst>
          </p:cNvPr>
          <p:cNvPicPr>
            <a:picLocks noChangeAspect="1"/>
          </p:cNvPicPr>
          <p:nvPr/>
        </p:nvPicPr>
        <p:blipFill>
          <a:blip r:embed="rId5"/>
          <a:stretch>
            <a:fillRect/>
          </a:stretch>
        </p:blipFill>
        <p:spPr>
          <a:xfrm>
            <a:off x="5597661" y="2770306"/>
            <a:ext cx="4094480" cy="3961006"/>
          </a:xfrm>
          <a:prstGeom prst="rect">
            <a:avLst/>
          </a:prstGeom>
        </p:spPr>
      </p:pic>
      <p:pic>
        <p:nvPicPr>
          <p:cNvPr id="3" name="Picture 2">
            <a:extLst>
              <a:ext uri="{FF2B5EF4-FFF2-40B4-BE49-F238E27FC236}">
                <a16:creationId xmlns:a16="http://schemas.microsoft.com/office/drawing/2014/main" id="{6AD996FA-88D5-4599-A5D8-7843AF042751}"/>
              </a:ext>
            </a:extLst>
          </p:cNvPr>
          <p:cNvPicPr>
            <a:picLocks noChangeAspect="1"/>
          </p:cNvPicPr>
          <p:nvPr/>
        </p:nvPicPr>
        <p:blipFill>
          <a:blip r:embed="rId6"/>
          <a:stretch>
            <a:fillRect/>
          </a:stretch>
        </p:blipFill>
        <p:spPr>
          <a:xfrm>
            <a:off x="243842" y="2762788"/>
            <a:ext cx="5108121" cy="3946763"/>
          </a:xfrm>
          <a:prstGeom prst="rect">
            <a:avLst/>
          </a:prstGeom>
        </p:spPr>
      </p:pic>
    </p:spTree>
    <p:extLst>
      <p:ext uri="{BB962C8B-B14F-4D97-AF65-F5344CB8AC3E}">
        <p14:creationId xmlns:p14="http://schemas.microsoft.com/office/powerpoint/2010/main" val="949209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Humidity Overview</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43841" y="692781"/>
            <a:ext cx="11724637" cy="3293209"/>
          </a:xfrm>
          <a:prstGeom prst="rect">
            <a:avLst/>
          </a:prstGeom>
          <a:noFill/>
          <a:ln>
            <a:noFill/>
          </a:ln>
        </p:spPr>
        <p:txBody>
          <a:bodyPr wrap="square" rtlCol="0">
            <a:spAutoFit/>
          </a:bodyPr>
          <a:lstStyle/>
          <a:p>
            <a:pPr marL="285750" indent="-285750">
              <a:buFont typeface="Wingdings" panose="05000000000000000000" pitchFamily="2" charset="2"/>
              <a:buChar char="q"/>
            </a:pPr>
            <a:r>
              <a:rPr lang="en-US" sz="1600" dirty="0"/>
              <a:t>Average humidity: ~73.5%, standard deviation: 19.5% → moderate variability in moisture levels.</a:t>
            </a:r>
          </a:p>
          <a:p>
            <a:pPr marL="285750" indent="-285750">
              <a:buFont typeface="Wingdings" panose="05000000000000000000" pitchFamily="2" charset="2"/>
              <a:buChar char="q"/>
            </a:pPr>
            <a:r>
              <a:rPr lang="en-US" sz="1600" dirty="0"/>
              <a:t>Range: 0% (completely dry) to 100% (fully saturated).</a:t>
            </a:r>
          </a:p>
          <a:p>
            <a:pPr marL="285750" indent="-285750">
              <a:buFont typeface="Wingdings" panose="05000000000000000000" pitchFamily="2" charset="2"/>
              <a:buChar char="q"/>
            </a:pPr>
            <a:r>
              <a:rPr lang="en-US" sz="1600" dirty="0"/>
              <a:t>Slightly left-skewed (skew ≈ –0.72) and flat (kurtosis ≈ –0.46), indicating most values are clustered toward higher </a:t>
            </a:r>
          </a:p>
          <a:p>
            <a:r>
              <a:rPr lang="en-US" sz="1600" dirty="0"/>
              <a:t>      humidity.</a:t>
            </a:r>
          </a:p>
          <a:p>
            <a:pPr marL="285750" indent="-285750">
              <a:buFont typeface="Wingdings" panose="05000000000000000000" pitchFamily="2" charset="2"/>
              <a:buChar char="q"/>
            </a:pPr>
            <a:r>
              <a:rPr lang="en-US" sz="1600" dirty="0"/>
              <a:t>Quartiles: 25% &lt; 60%, median ≈ 78%, 75% &lt; 89%. Most readings are moderately to highly humid.</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Ø"/>
            </a:pPr>
            <a:r>
              <a:rPr lang="en-US" sz="1600" dirty="0"/>
              <a:t>Rain (0): 85,717 records; mean ≈ 71.9%, median ≈ 76%, std ≈ 19.8%; range 0–100%.</a:t>
            </a:r>
          </a:p>
          <a:p>
            <a:pPr marL="285750" indent="-285750">
              <a:buFont typeface="Wingdings" panose="05000000000000000000" pitchFamily="2" charset="2"/>
              <a:buChar char="Ø"/>
            </a:pPr>
            <a:r>
              <a:rPr lang="en-US" sz="1600" dirty="0"/>
              <a:t>Snow (1): 10,712 records; mean ≈ 86.3%, median ≈ 88%, std ≈ 11.1%; range 0–100%; mostly consistently humid.</a:t>
            </a:r>
          </a:p>
          <a:p>
            <a:pPr marL="285750" indent="-285750">
              <a:buFont typeface="Wingdings" panose="05000000000000000000" pitchFamily="2" charset="2"/>
              <a:buChar char="q"/>
            </a:pPr>
            <a:endParaRPr lang="en-GB" sz="1600" dirty="0"/>
          </a:p>
          <a:p>
            <a:pPr marL="285750" indent="-285750">
              <a:buFont typeface="Wingdings" panose="05000000000000000000" pitchFamily="2" charset="2"/>
              <a:buChar char="q"/>
            </a:pPr>
            <a:r>
              <a:rPr lang="en-GB" sz="1600" dirty="0"/>
              <a:t>Representative humidity readings: 0.89, 0.86, 0.83, 0.95, 0.72, 0.54, 0.51, 0.47, 0.60, 0.70 (all Rain).</a:t>
            </a:r>
          </a:p>
          <a:p>
            <a:pPr marL="285750" indent="-285750">
              <a:buFont typeface="Wingdings" panose="05000000000000000000" pitchFamily="2" charset="2"/>
              <a:buChar char="q"/>
            </a:pPr>
            <a:r>
              <a:rPr lang="en-GB" sz="1600" dirty="0"/>
              <a:t>Snow generally occurs with higher, more stable humidity.</a:t>
            </a:r>
          </a:p>
          <a:p>
            <a:pPr marL="285750" indent="-285750">
              <a:buFont typeface="Wingdings" panose="05000000000000000000" pitchFamily="2" charset="2"/>
              <a:buChar char="q"/>
            </a:pPr>
            <a:r>
              <a:rPr lang="en-GB" sz="1600" dirty="0"/>
              <a:t>Rain conditions show slightly more variability in moisture levels.</a:t>
            </a:r>
          </a:p>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pic>
        <p:nvPicPr>
          <p:cNvPr id="4" name="Picture 3">
            <a:extLst>
              <a:ext uri="{FF2B5EF4-FFF2-40B4-BE49-F238E27FC236}">
                <a16:creationId xmlns:a16="http://schemas.microsoft.com/office/drawing/2014/main" id="{3F66B025-EB68-4CCD-9AFA-60405A16D008}"/>
              </a:ext>
            </a:extLst>
          </p:cNvPr>
          <p:cNvPicPr>
            <a:picLocks noChangeAspect="1"/>
          </p:cNvPicPr>
          <p:nvPr/>
        </p:nvPicPr>
        <p:blipFill>
          <a:blip r:embed="rId5"/>
          <a:stretch>
            <a:fillRect/>
          </a:stretch>
        </p:blipFill>
        <p:spPr>
          <a:xfrm>
            <a:off x="243840" y="3702208"/>
            <a:ext cx="6258559" cy="2959922"/>
          </a:xfrm>
          <a:prstGeom prst="rect">
            <a:avLst/>
          </a:prstGeom>
        </p:spPr>
      </p:pic>
      <p:pic>
        <p:nvPicPr>
          <p:cNvPr id="12" name="Picture 11">
            <a:extLst>
              <a:ext uri="{FF2B5EF4-FFF2-40B4-BE49-F238E27FC236}">
                <a16:creationId xmlns:a16="http://schemas.microsoft.com/office/drawing/2014/main" id="{EC845751-26B7-403D-BAA6-F65C00824C0D}"/>
              </a:ext>
            </a:extLst>
          </p:cNvPr>
          <p:cNvPicPr>
            <a:picLocks noChangeAspect="1"/>
          </p:cNvPicPr>
          <p:nvPr/>
        </p:nvPicPr>
        <p:blipFill>
          <a:blip r:embed="rId6"/>
          <a:stretch>
            <a:fillRect/>
          </a:stretch>
        </p:blipFill>
        <p:spPr>
          <a:xfrm>
            <a:off x="6654800" y="3193884"/>
            <a:ext cx="5303519" cy="3484981"/>
          </a:xfrm>
          <a:prstGeom prst="rect">
            <a:avLst/>
          </a:prstGeom>
        </p:spPr>
      </p:pic>
      <p:sp>
        <p:nvSpPr>
          <p:cNvPr id="20" name="Freeform: Shape 19">
            <a:extLst>
              <a:ext uri="{FF2B5EF4-FFF2-40B4-BE49-F238E27FC236}">
                <a16:creationId xmlns:a16="http://schemas.microsoft.com/office/drawing/2014/main" id="{58F47297-B043-4A7F-808C-CE3E188333FF}"/>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85262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7"/>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163005"/>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Humidity Variation by Hour</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243841" y="692781"/>
            <a:ext cx="11724637" cy="338554"/>
          </a:xfrm>
          <a:prstGeom prst="rect">
            <a:avLst/>
          </a:prstGeom>
          <a:noFill/>
          <a:ln>
            <a:noFill/>
          </a:ln>
        </p:spPr>
        <p:txBody>
          <a:bodyPr wrap="square" rtlCol="0">
            <a:spAutoFit/>
          </a:bodyPr>
          <a:lstStyle/>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pic>
        <p:nvPicPr>
          <p:cNvPr id="3" name="Picture 2">
            <a:extLst>
              <a:ext uri="{FF2B5EF4-FFF2-40B4-BE49-F238E27FC236}">
                <a16:creationId xmlns:a16="http://schemas.microsoft.com/office/drawing/2014/main" id="{C414076C-C9BE-48F7-85BD-E837114279C2}"/>
              </a:ext>
            </a:extLst>
          </p:cNvPr>
          <p:cNvPicPr>
            <a:picLocks noChangeAspect="1"/>
          </p:cNvPicPr>
          <p:nvPr/>
        </p:nvPicPr>
        <p:blipFill>
          <a:blip r:embed="rId5"/>
          <a:stretch>
            <a:fillRect/>
          </a:stretch>
        </p:blipFill>
        <p:spPr>
          <a:xfrm>
            <a:off x="137709" y="2395874"/>
            <a:ext cx="11830769" cy="4351493"/>
          </a:xfrm>
          <a:prstGeom prst="rect">
            <a:avLst/>
          </a:prstGeom>
        </p:spPr>
      </p:pic>
      <p:sp>
        <p:nvSpPr>
          <p:cNvPr id="9" name="Rectangle 2">
            <a:extLst>
              <a:ext uri="{FF2B5EF4-FFF2-40B4-BE49-F238E27FC236}">
                <a16:creationId xmlns:a16="http://schemas.microsoft.com/office/drawing/2014/main" id="{5BE6417A-C0C6-4B34-A8BA-8D2DEEE63241}"/>
              </a:ext>
            </a:extLst>
          </p:cNvPr>
          <p:cNvSpPr>
            <a:spLocks noChangeArrowheads="1"/>
          </p:cNvSpPr>
          <p:nvPr/>
        </p:nvSpPr>
        <p:spPr bwMode="auto">
          <a:xfrm>
            <a:off x="137709" y="561493"/>
            <a:ext cx="988616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rPr>
              <a:t>Early morning (03:00–04:00) is most humid (~0.87), midday lowest (~0.57–0.59), evening rises again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      (~0.78–0.84).</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rPr>
              <a:t>Morning skew negative (high values dominate), midday slightly positive (more balanced).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rPr>
              <a:t>Kurtosis shows peaked distributions early/late, flatter during the day.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rPr>
              <a:t>Clear daily pattern useful for weather analysis and urban planning.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rPr>
              <a:t>Minimum hourly humidity: 0.00, Maximum: 1.0.</a:t>
            </a:r>
          </a:p>
        </p:txBody>
      </p:sp>
      <p:sp>
        <p:nvSpPr>
          <p:cNvPr id="11" name="Freeform: Shape 10">
            <a:extLst>
              <a:ext uri="{FF2B5EF4-FFF2-40B4-BE49-F238E27FC236}">
                <a16:creationId xmlns:a16="http://schemas.microsoft.com/office/drawing/2014/main" id="{9C51E47B-58DF-4C5A-8890-B180B778930E}"/>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911750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Wind Speed (km/h) Summary</a:t>
            </a:r>
            <a:endParaRPr lang="en-US" sz="2800" b="1" dirty="0">
              <a:solidFill>
                <a:srgbClr val="002060"/>
              </a:solidFill>
              <a:latin typeface="Arial Black" panose="020B0A04020102020204" pitchFamily="34" charset="0"/>
            </a:endParaRPr>
          </a:p>
        </p:txBody>
      </p:sp>
      <p:sp>
        <p:nvSpPr>
          <p:cNvPr id="8" name="TextBox 7">
            <a:extLst>
              <a:ext uri="{FF2B5EF4-FFF2-40B4-BE49-F238E27FC236}">
                <a16:creationId xmlns:a16="http://schemas.microsoft.com/office/drawing/2014/main" id="{4E9B0A21-1EFF-4A80-B3D4-DC72A1BF5B82}"/>
              </a:ext>
            </a:extLst>
          </p:cNvPr>
          <p:cNvSpPr txBox="1"/>
          <p:nvPr/>
        </p:nvSpPr>
        <p:spPr>
          <a:xfrm>
            <a:off x="314962" y="694474"/>
            <a:ext cx="5851976" cy="2062103"/>
          </a:xfrm>
          <a:prstGeom prst="rect">
            <a:avLst/>
          </a:prstGeom>
          <a:noFill/>
          <a:ln>
            <a:noFill/>
          </a:ln>
        </p:spPr>
        <p:txBody>
          <a:bodyPr wrap="square" rtlCol="0">
            <a:spAutoFit/>
          </a:bodyPr>
          <a:lstStyle/>
          <a:p>
            <a:r>
              <a:rPr lang="en-GB" sz="1600" b="1" dirty="0"/>
              <a:t>Wind Speed by Wind Category</a:t>
            </a:r>
          </a:p>
          <a:p>
            <a:pPr marL="285750" indent="-285750">
              <a:buFont typeface="Wingdings" panose="05000000000000000000" pitchFamily="2" charset="2"/>
              <a:buChar char="q"/>
            </a:pPr>
            <a:r>
              <a:rPr lang="en-GB" sz="1600" dirty="0"/>
              <a:t>Category 0 (Light wind) is the most frequent among low-speed observations.</a:t>
            </a:r>
          </a:p>
          <a:p>
            <a:pPr marL="285750" indent="-285750">
              <a:buFont typeface="Wingdings" panose="05000000000000000000" pitchFamily="2" charset="2"/>
              <a:buChar char="q"/>
            </a:pPr>
            <a:r>
              <a:rPr lang="en-GB" sz="1600" dirty="0"/>
              <a:t>Category 1 (Moderate wind) dominates in overall data, mostly between 5–15 km/h.</a:t>
            </a:r>
          </a:p>
          <a:p>
            <a:pPr marL="285750" indent="-285750">
              <a:buFont typeface="Wingdings" panose="05000000000000000000" pitchFamily="2" charset="2"/>
              <a:buChar char="q"/>
            </a:pPr>
            <a:r>
              <a:rPr lang="en-GB" sz="1600" dirty="0"/>
              <a:t>Category 2 (Strong wind) shows high variability with some extreme gusts, causing positive skew.</a:t>
            </a:r>
          </a:p>
          <a:p>
            <a:pPr marL="285750" indent="-285750">
              <a:buFont typeface="Wingdings" panose="05000000000000000000" pitchFamily="2" charset="2"/>
              <a:buChar char="q"/>
            </a:pPr>
            <a:endParaRPr lang="en-GB" sz="1600" dirty="0"/>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pic>
        <p:nvPicPr>
          <p:cNvPr id="3" name="Picture 2">
            <a:extLst>
              <a:ext uri="{FF2B5EF4-FFF2-40B4-BE49-F238E27FC236}">
                <a16:creationId xmlns:a16="http://schemas.microsoft.com/office/drawing/2014/main" id="{27B38174-4AB5-4A0E-9671-B4AF59050FF6}"/>
              </a:ext>
            </a:extLst>
          </p:cNvPr>
          <p:cNvPicPr>
            <a:picLocks noChangeAspect="1"/>
          </p:cNvPicPr>
          <p:nvPr/>
        </p:nvPicPr>
        <p:blipFill>
          <a:blip r:embed="rId5"/>
          <a:stretch>
            <a:fillRect/>
          </a:stretch>
        </p:blipFill>
        <p:spPr>
          <a:xfrm>
            <a:off x="233680" y="2551260"/>
            <a:ext cx="5741842" cy="4099226"/>
          </a:xfrm>
          <a:prstGeom prst="rect">
            <a:avLst/>
          </a:prstGeom>
        </p:spPr>
      </p:pic>
      <p:pic>
        <p:nvPicPr>
          <p:cNvPr id="9" name="Picture 8">
            <a:extLst>
              <a:ext uri="{FF2B5EF4-FFF2-40B4-BE49-F238E27FC236}">
                <a16:creationId xmlns:a16="http://schemas.microsoft.com/office/drawing/2014/main" id="{39B8BE9B-C4FC-49DF-9F34-3BD33AFDE8A1}"/>
              </a:ext>
            </a:extLst>
          </p:cNvPr>
          <p:cNvPicPr>
            <a:picLocks noChangeAspect="1"/>
          </p:cNvPicPr>
          <p:nvPr/>
        </p:nvPicPr>
        <p:blipFill>
          <a:blip r:embed="rId6"/>
          <a:stretch>
            <a:fillRect/>
          </a:stretch>
        </p:blipFill>
        <p:spPr>
          <a:xfrm>
            <a:off x="6198229" y="3052253"/>
            <a:ext cx="5642701" cy="3624826"/>
          </a:xfrm>
          <a:prstGeom prst="rect">
            <a:avLst/>
          </a:prstGeom>
        </p:spPr>
      </p:pic>
      <p:sp>
        <p:nvSpPr>
          <p:cNvPr id="20" name="TextBox 19">
            <a:extLst>
              <a:ext uri="{FF2B5EF4-FFF2-40B4-BE49-F238E27FC236}">
                <a16:creationId xmlns:a16="http://schemas.microsoft.com/office/drawing/2014/main" id="{C3F960FD-73A9-41DB-B869-867EE9AE04F0}"/>
              </a:ext>
            </a:extLst>
          </p:cNvPr>
          <p:cNvSpPr txBox="1"/>
          <p:nvPr/>
        </p:nvSpPr>
        <p:spPr>
          <a:xfrm>
            <a:off x="6198230" y="743929"/>
            <a:ext cx="5419994" cy="2308324"/>
          </a:xfrm>
          <a:prstGeom prst="rect">
            <a:avLst/>
          </a:prstGeom>
          <a:noFill/>
        </p:spPr>
        <p:txBody>
          <a:bodyPr wrap="square">
            <a:spAutoFit/>
          </a:bodyPr>
          <a:lstStyle/>
          <a:p>
            <a:r>
              <a:rPr lang="en-US" sz="1600" b="1" dirty="0"/>
              <a:t>Wind Speed (km/h) Summary</a:t>
            </a:r>
            <a:endParaRPr lang="en-US" sz="1600" dirty="0"/>
          </a:p>
          <a:p>
            <a:pPr marL="285750" indent="-285750">
              <a:buFont typeface="Wingdings" panose="05000000000000000000" pitchFamily="2" charset="2"/>
              <a:buChar char="q"/>
            </a:pPr>
            <a:r>
              <a:rPr lang="en-US" sz="1600" dirty="0"/>
              <a:t>Total observations: 96,429</a:t>
            </a:r>
          </a:p>
          <a:p>
            <a:pPr marL="285750" indent="-285750">
              <a:buFont typeface="Wingdings" panose="05000000000000000000" pitchFamily="2" charset="2"/>
              <a:buChar char="q"/>
            </a:pPr>
            <a:r>
              <a:rPr lang="en-US" sz="1600" dirty="0"/>
              <a:t>Average wind speed: ~10.81 km/h</a:t>
            </a:r>
          </a:p>
          <a:p>
            <a:pPr marL="285750" indent="-285750">
              <a:buFont typeface="Wingdings" panose="05000000000000000000" pitchFamily="2" charset="2"/>
              <a:buChar char="q"/>
            </a:pPr>
            <a:r>
              <a:rPr lang="en-US" sz="1600" dirty="0"/>
              <a:t>Variation: Standard deviation ≈ 6.91 km/h</a:t>
            </a:r>
          </a:p>
          <a:p>
            <a:pPr marL="285750" indent="-285750">
              <a:buFont typeface="Wingdings" panose="05000000000000000000" pitchFamily="2" charset="2"/>
              <a:buChar char="q"/>
            </a:pPr>
            <a:r>
              <a:rPr lang="en-US" sz="1600" dirty="0"/>
              <a:t>Range: Minimum 0 km/h, Maximum </a:t>
            </a:r>
          </a:p>
          <a:p>
            <a:r>
              <a:rPr lang="en-US" sz="1600" dirty="0"/>
              <a:t>       63.85 km/h</a:t>
            </a:r>
          </a:p>
          <a:p>
            <a:pPr marL="285750" indent="-285750">
              <a:buFont typeface="Wingdings" panose="05000000000000000000" pitchFamily="2" charset="2"/>
              <a:buChar char="q"/>
            </a:pPr>
            <a:r>
              <a:rPr lang="en-US" sz="1600" dirty="0"/>
              <a:t>Quartiles: 25% = 5.83, Median = 9.97, 75% = 14.14 km/h</a:t>
            </a:r>
          </a:p>
          <a:p>
            <a:pPr marL="285750" indent="-285750">
              <a:buFont typeface="Wingdings" panose="05000000000000000000" pitchFamily="2" charset="2"/>
              <a:buChar char="q"/>
            </a:pPr>
            <a:r>
              <a:rPr lang="en-US" sz="1600" dirty="0"/>
              <a:t>Distribution: Positively skewed (skewness ≈ 1.11), moderate peak (kurtosis ≈ 1.77)</a:t>
            </a:r>
          </a:p>
        </p:txBody>
      </p:sp>
    </p:spTree>
    <p:extLst>
      <p:ext uri="{BB962C8B-B14F-4D97-AF65-F5344CB8AC3E}">
        <p14:creationId xmlns:p14="http://schemas.microsoft.com/office/powerpoint/2010/main" val="1241078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Visibility (km) Summary</a:t>
            </a:r>
            <a:endParaRPr lang="en-US" sz="2800" b="1" dirty="0">
              <a:solidFill>
                <a:srgbClr val="002060"/>
              </a:solidFill>
              <a:latin typeface="Arial Black" panose="020B0A04020102020204" pitchFamily="34" charset="0"/>
            </a:endParaRPr>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pic>
        <p:nvPicPr>
          <p:cNvPr id="13" name="Picture 12">
            <a:extLst>
              <a:ext uri="{FF2B5EF4-FFF2-40B4-BE49-F238E27FC236}">
                <a16:creationId xmlns:a16="http://schemas.microsoft.com/office/drawing/2014/main" id="{D617EE80-AA99-4FD8-843A-BC61961EB059}"/>
              </a:ext>
            </a:extLst>
          </p:cNvPr>
          <p:cNvPicPr>
            <a:picLocks noChangeAspect="1"/>
          </p:cNvPicPr>
          <p:nvPr/>
        </p:nvPicPr>
        <p:blipFill>
          <a:blip r:embed="rId5"/>
          <a:stretch>
            <a:fillRect/>
          </a:stretch>
        </p:blipFill>
        <p:spPr>
          <a:xfrm>
            <a:off x="142241" y="793244"/>
            <a:ext cx="7680852" cy="5849258"/>
          </a:xfrm>
          <a:prstGeom prst="rect">
            <a:avLst/>
          </a:prstGeom>
        </p:spPr>
      </p:pic>
      <p:sp>
        <p:nvSpPr>
          <p:cNvPr id="22" name="TextBox 21">
            <a:extLst>
              <a:ext uri="{FF2B5EF4-FFF2-40B4-BE49-F238E27FC236}">
                <a16:creationId xmlns:a16="http://schemas.microsoft.com/office/drawing/2014/main" id="{569E554A-1316-441D-A9F4-34F5663CCC1D}"/>
              </a:ext>
            </a:extLst>
          </p:cNvPr>
          <p:cNvSpPr txBox="1"/>
          <p:nvPr/>
        </p:nvSpPr>
        <p:spPr>
          <a:xfrm>
            <a:off x="7965334" y="2252572"/>
            <a:ext cx="4017838" cy="3785652"/>
          </a:xfrm>
          <a:prstGeom prst="rect">
            <a:avLst/>
          </a:prstGeom>
          <a:noFill/>
        </p:spPr>
        <p:txBody>
          <a:bodyPr wrap="square">
            <a:spAutoFit/>
          </a:bodyPr>
          <a:lstStyle/>
          <a:p>
            <a:r>
              <a:rPr lang="en-US" b="1" dirty="0"/>
              <a:t>Visibility (km) Summary</a:t>
            </a:r>
            <a:endParaRPr lang="en-US" sz="1600" b="1" dirty="0"/>
          </a:p>
          <a:p>
            <a:pPr marL="285750" indent="-285750">
              <a:buFont typeface="Wingdings" panose="05000000000000000000" pitchFamily="2" charset="2"/>
              <a:buChar char="q"/>
            </a:pPr>
            <a:r>
              <a:rPr lang="en-US" sz="1600" dirty="0"/>
              <a:t>Total observations: 96,429</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Average visibility: ~10.35 km</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Variation: Standard deviation ≈ 4.19 km</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Range: Minimum 0 km, Maximum 16.1 km</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Quartiles: 25% = 8.34, Median = 10.05, 75% = 14.81 km</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dirty="0"/>
              <a:t>Distribution: Slightly left-skewed (skewness ≈ -0.50), flat distribution (kurtosis ≈ -0.26)</a:t>
            </a:r>
          </a:p>
        </p:txBody>
      </p:sp>
    </p:spTree>
    <p:extLst>
      <p:ext uri="{BB962C8B-B14F-4D97-AF65-F5344CB8AC3E}">
        <p14:creationId xmlns:p14="http://schemas.microsoft.com/office/powerpoint/2010/main" val="181842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Pressure (millibars) Summary</a:t>
            </a:r>
            <a:endParaRPr lang="en-US" sz="2800" b="1" dirty="0">
              <a:solidFill>
                <a:srgbClr val="002060"/>
              </a:solidFill>
              <a:latin typeface="Arial Black" panose="020B0A04020102020204" pitchFamily="34" charset="0"/>
            </a:endParaRPr>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pic>
        <p:nvPicPr>
          <p:cNvPr id="3" name="Picture 2">
            <a:extLst>
              <a:ext uri="{FF2B5EF4-FFF2-40B4-BE49-F238E27FC236}">
                <a16:creationId xmlns:a16="http://schemas.microsoft.com/office/drawing/2014/main" id="{DAD0F9B9-AC9E-4CC5-82EC-AF533B271A61}"/>
              </a:ext>
            </a:extLst>
          </p:cNvPr>
          <p:cNvPicPr>
            <a:picLocks noChangeAspect="1"/>
          </p:cNvPicPr>
          <p:nvPr/>
        </p:nvPicPr>
        <p:blipFill>
          <a:blip r:embed="rId5"/>
          <a:stretch>
            <a:fillRect/>
          </a:stretch>
        </p:blipFill>
        <p:spPr>
          <a:xfrm>
            <a:off x="4693920" y="2082800"/>
            <a:ext cx="7264398" cy="4505325"/>
          </a:xfrm>
          <a:prstGeom prst="rect">
            <a:avLst/>
          </a:prstGeom>
        </p:spPr>
      </p:pic>
      <p:sp>
        <p:nvSpPr>
          <p:cNvPr id="20" name="Rectangle 1">
            <a:extLst>
              <a:ext uri="{FF2B5EF4-FFF2-40B4-BE49-F238E27FC236}">
                <a16:creationId xmlns:a16="http://schemas.microsoft.com/office/drawing/2014/main" id="{0CBC2A8F-787D-44A0-978A-F7912779D654}"/>
              </a:ext>
            </a:extLst>
          </p:cNvPr>
          <p:cNvSpPr>
            <a:spLocks noChangeArrowheads="1"/>
          </p:cNvSpPr>
          <p:nvPr/>
        </p:nvSpPr>
        <p:spPr bwMode="auto">
          <a:xfrm>
            <a:off x="71120" y="1009831"/>
            <a:ext cx="506729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Observations:</a:t>
            </a:r>
            <a:r>
              <a:rPr kumimoji="0" lang="en-US" altLang="en-US" sz="1600" b="0" i="0" u="none" strike="noStrike" cap="none" normalizeH="0" baseline="0" dirty="0">
                <a:ln>
                  <a:noFill/>
                </a:ln>
                <a:solidFill>
                  <a:schemeClr val="tx1"/>
                </a:solidFill>
                <a:effectLst/>
                <a:latin typeface="Arial" panose="020B0604020202020204" pitchFamily="34" charset="0"/>
              </a:rPr>
              <a:t> 96,429</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Average Pressure:</a:t>
            </a:r>
            <a:r>
              <a:rPr kumimoji="0" lang="en-US" altLang="en-US" sz="1600" b="0" i="0" u="none" strike="noStrike" cap="none" normalizeH="0" baseline="0" dirty="0">
                <a:ln>
                  <a:noFill/>
                </a:ln>
                <a:solidFill>
                  <a:schemeClr val="tx1"/>
                </a:solidFill>
                <a:effectLst/>
                <a:latin typeface="Arial" panose="020B0604020202020204" pitchFamily="34" charset="0"/>
              </a:rPr>
              <a:t> 1003.23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Standard Deviation:</a:t>
            </a:r>
            <a:r>
              <a:rPr kumimoji="0" lang="en-US" altLang="en-US" sz="1600" b="0" i="0" u="none" strike="noStrike" cap="none" normalizeH="0" baseline="0" dirty="0">
                <a:ln>
                  <a:noFill/>
                </a:ln>
                <a:solidFill>
                  <a:schemeClr val="tx1"/>
                </a:solidFill>
                <a:effectLst/>
                <a:latin typeface="Arial" panose="020B0604020202020204" pitchFamily="34" charset="0"/>
              </a:rPr>
              <a:t> 116.98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Minimum Pressure:</a:t>
            </a:r>
            <a:r>
              <a:rPr kumimoji="0" lang="en-US" altLang="en-US" sz="1600" b="0" i="0" u="none" strike="noStrike" cap="none" normalizeH="0" baseline="0" dirty="0">
                <a:ln>
                  <a:noFill/>
                </a:ln>
                <a:solidFill>
                  <a:schemeClr val="tx1"/>
                </a:solidFill>
                <a:effectLst/>
                <a:latin typeface="Arial" panose="020B0604020202020204" pitchFamily="34" charset="0"/>
              </a:rPr>
              <a:t> 0.0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25th Percentile:</a:t>
            </a:r>
            <a:r>
              <a:rPr kumimoji="0" lang="en-US" altLang="en-US" sz="1600" b="0" i="0" u="none" strike="noStrike" cap="none" normalizeH="0" baseline="0" dirty="0">
                <a:ln>
                  <a:noFill/>
                </a:ln>
                <a:solidFill>
                  <a:schemeClr val="tx1"/>
                </a:solidFill>
                <a:effectLst/>
                <a:latin typeface="Arial" panose="020B0604020202020204" pitchFamily="34" charset="0"/>
              </a:rPr>
              <a:t> 1011.90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Median (50th Percentile):</a:t>
            </a:r>
            <a:r>
              <a:rPr kumimoji="0" lang="en-US" altLang="en-US" sz="1600" b="0" i="0" u="none" strike="noStrike" cap="none" normalizeH="0" baseline="0" dirty="0">
                <a:ln>
                  <a:noFill/>
                </a:ln>
                <a:solidFill>
                  <a:schemeClr val="tx1"/>
                </a:solidFill>
                <a:effectLst/>
                <a:latin typeface="Arial" panose="020B0604020202020204" pitchFamily="34" charset="0"/>
              </a:rPr>
              <a:t> 1016.45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75th Percentile:</a:t>
            </a:r>
            <a:r>
              <a:rPr kumimoji="0" lang="en-US" altLang="en-US" sz="1600" b="0" i="0" u="none" strike="noStrike" cap="none" normalizeH="0" baseline="0" dirty="0">
                <a:ln>
                  <a:noFill/>
                </a:ln>
                <a:solidFill>
                  <a:schemeClr val="tx1"/>
                </a:solidFill>
                <a:effectLst/>
                <a:latin typeface="Arial" panose="020B0604020202020204" pitchFamily="34" charset="0"/>
              </a:rPr>
              <a:t> 1021.09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Maximum Pressure:</a:t>
            </a:r>
            <a:r>
              <a:rPr kumimoji="0" lang="en-US" altLang="en-US" sz="1600" b="0" i="0" u="none" strike="noStrike" cap="none" normalizeH="0" baseline="0" dirty="0">
                <a:ln>
                  <a:noFill/>
                </a:ln>
                <a:solidFill>
                  <a:schemeClr val="tx1"/>
                </a:solidFill>
                <a:effectLst/>
                <a:latin typeface="Arial" panose="020B0604020202020204" pitchFamily="34" charset="0"/>
              </a:rPr>
              <a:t> 1046.38 mb</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Skewness:</a:t>
            </a:r>
            <a:r>
              <a:rPr kumimoji="0" lang="en-US" altLang="en-US" sz="1600" b="0" i="0" u="none" strike="noStrike" cap="none" normalizeH="0" baseline="0" dirty="0">
                <a:ln>
                  <a:noFill/>
                </a:ln>
                <a:solidFill>
                  <a:schemeClr val="tx1"/>
                </a:solidFill>
                <a:effectLst/>
                <a:latin typeface="Arial" panose="020B0604020202020204" pitchFamily="34" charset="0"/>
              </a:rPr>
              <a:t> -8.42 → Highly left-skewed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Kurtosis:</a:t>
            </a:r>
            <a:r>
              <a:rPr kumimoji="0" lang="en-US" altLang="en-US" sz="1600" b="0" i="0" u="none" strike="noStrike" cap="none" normalizeH="0" baseline="0" dirty="0">
                <a:ln>
                  <a:noFill/>
                </a:ln>
                <a:solidFill>
                  <a:schemeClr val="tx1"/>
                </a:solidFill>
                <a:effectLst/>
                <a:latin typeface="Arial" panose="020B0604020202020204" pitchFamily="34" charset="0"/>
              </a:rPr>
              <a:t> 69.25 → Very heavy-tailed / peaked distribution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2922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sp>
        <p:nvSpPr>
          <p:cNvPr id="6" name="Title 2">
            <a:extLst>
              <a:ext uri="{FF2B5EF4-FFF2-40B4-BE49-F238E27FC236}">
                <a16:creationId xmlns:a16="http://schemas.microsoft.com/office/drawing/2014/main" id="{AE5DE1AB-3B6A-47FF-A482-6338953A8040}"/>
              </a:ext>
            </a:extLst>
          </p:cNvPr>
          <p:cNvSpPr txBox="1">
            <a:spLocks/>
          </p:cNvSpPr>
          <p:nvPr/>
        </p:nvSpPr>
        <p:spPr>
          <a:xfrm>
            <a:off x="351069" y="215498"/>
            <a:ext cx="9503217" cy="4789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800" b="1" dirty="0">
                <a:solidFill>
                  <a:srgbClr val="002060"/>
                </a:solidFill>
                <a:latin typeface="Arial Black" panose="020B0A04020102020204" pitchFamily="34" charset="0"/>
              </a:rPr>
              <a:t>Correlation Heatmap Summary</a:t>
            </a:r>
            <a:endParaRPr lang="en-US" sz="2800" b="1" dirty="0">
              <a:solidFill>
                <a:srgbClr val="002060"/>
              </a:solidFill>
              <a:latin typeface="Arial Black" panose="020B0A04020102020204" pitchFamily="34" charset="0"/>
            </a:endParaRPr>
          </a:p>
        </p:txBody>
      </p:sp>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2" name="TextBox 21">
            <a:extLst>
              <a:ext uri="{FF2B5EF4-FFF2-40B4-BE49-F238E27FC236}">
                <a16:creationId xmlns:a16="http://schemas.microsoft.com/office/drawing/2014/main" id="{569E554A-1316-441D-A9F4-34F5663CCC1D}"/>
              </a:ext>
            </a:extLst>
          </p:cNvPr>
          <p:cNvSpPr txBox="1"/>
          <p:nvPr/>
        </p:nvSpPr>
        <p:spPr>
          <a:xfrm>
            <a:off x="7498079" y="714794"/>
            <a:ext cx="4342852" cy="6247864"/>
          </a:xfrm>
          <a:prstGeom prst="rect">
            <a:avLst/>
          </a:prstGeom>
          <a:noFill/>
        </p:spPr>
        <p:txBody>
          <a:bodyPr wrap="square">
            <a:spAutoFit/>
          </a:bodyPr>
          <a:lstStyle/>
          <a:p>
            <a:pPr marL="285750" indent="-285750">
              <a:buFont typeface="Wingdings" panose="05000000000000000000" pitchFamily="2" charset="2"/>
              <a:buChar char="q"/>
            </a:pPr>
            <a:r>
              <a:rPr lang="en-US" sz="1600" b="1" dirty="0"/>
              <a:t>Temp &amp; Apparent Temp:</a:t>
            </a:r>
            <a:r>
              <a:rPr lang="en-US" sz="1600" dirty="0"/>
              <a:t> </a:t>
            </a:r>
          </a:p>
          <a:p>
            <a:r>
              <a:rPr lang="en-US" sz="1600" dirty="0"/>
              <a:t>      Very strong positive (0.99)</a:t>
            </a:r>
          </a:p>
          <a:p>
            <a:pPr marL="285750" indent="-285750">
              <a:buFont typeface="Wingdings" panose="05000000000000000000" pitchFamily="2" charset="2"/>
              <a:buChar char="q"/>
            </a:pPr>
            <a:endParaRPr lang="en-US" sz="1600" b="1" dirty="0"/>
          </a:p>
          <a:p>
            <a:pPr marL="285750" indent="-285750">
              <a:buFont typeface="Wingdings" panose="05000000000000000000" pitchFamily="2" charset="2"/>
              <a:buChar char="q"/>
            </a:pPr>
            <a:r>
              <a:rPr lang="en-US" sz="1600" b="1" dirty="0"/>
              <a:t>Temp &amp; </a:t>
            </a:r>
            <a:r>
              <a:rPr lang="en-US" sz="1600" b="1" dirty="0" err="1"/>
              <a:t>Temp_Diff</a:t>
            </a:r>
            <a:r>
              <a:rPr lang="en-US" sz="1600" b="1" dirty="0"/>
              <a:t>:</a:t>
            </a:r>
            <a:r>
              <a:rPr lang="en-US" sz="1600" dirty="0"/>
              <a:t> </a:t>
            </a:r>
          </a:p>
          <a:p>
            <a:r>
              <a:rPr lang="en-US" sz="1600" dirty="0"/>
              <a:t>       Strong positive (0.64), </a:t>
            </a:r>
          </a:p>
          <a:p>
            <a:r>
              <a:rPr lang="en-US" sz="1600" dirty="0"/>
              <a:t>       Apparent Temp &amp; Temp_</a:t>
            </a:r>
          </a:p>
          <a:p>
            <a:r>
              <a:rPr lang="en-US" sz="1600" dirty="0"/>
              <a:t>       Diff: Strong positive (0.72)</a:t>
            </a:r>
          </a:p>
          <a:p>
            <a:pPr marL="285750" indent="-285750">
              <a:buFont typeface="Wingdings" panose="05000000000000000000" pitchFamily="2" charset="2"/>
              <a:buChar char="q"/>
            </a:pPr>
            <a:endParaRPr lang="en-US" sz="1600" b="1" dirty="0"/>
          </a:p>
          <a:p>
            <a:pPr marL="285750" indent="-285750">
              <a:buFont typeface="Wingdings" panose="05000000000000000000" pitchFamily="2" charset="2"/>
              <a:buChar char="q"/>
            </a:pPr>
            <a:r>
              <a:rPr lang="en-US" sz="1600" b="1" dirty="0"/>
              <a:t>Temp &amp; Humidity:</a:t>
            </a:r>
            <a:r>
              <a:rPr lang="en-US" sz="1600" dirty="0"/>
              <a:t> Moderate negative (-0.63), Apparent Temp &amp; Humidity: Moderate negative (-0.60)</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b="1" dirty="0"/>
              <a:t>Humidity &amp; </a:t>
            </a:r>
            <a:r>
              <a:rPr lang="en-US" sz="1600" b="1" dirty="0" err="1"/>
              <a:t>Precip</a:t>
            </a:r>
            <a:r>
              <a:rPr lang="en-US" sz="1600" b="1" dirty="0"/>
              <a:t> Type:</a:t>
            </a:r>
            <a:r>
              <a:rPr lang="en-US" sz="1600" dirty="0"/>
              <a:t> Weak positive (0.23)</a:t>
            </a:r>
          </a:p>
          <a:p>
            <a:pPr marL="285750" indent="-285750">
              <a:buFont typeface="Wingdings" panose="05000000000000000000" pitchFamily="2" charset="2"/>
              <a:buChar char="q"/>
            </a:pPr>
            <a:r>
              <a:rPr lang="en-US" sz="1600" b="1" dirty="0"/>
              <a:t>Visibility &amp; Temp:</a:t>
            </a:r>
            <a:r>
              <a:rPr lang="en-US" sz="1600" dirty="0"/>
              <a:t> Moderate positive (0.39), Visibility &amp; Humidity: Moderate negative (-0.37)</a:t>
            </a:r>
          </a:p>
          <a:p>
            <a:pPr marL="285750" indent="-285750">
              <a:buFont typeface="Wingdings" panose="05000000000000000000" pitchFamily="2" charset="2"/>
              <a:buChar char="q"/>
            </a:pPr>
            <a:r>
              <a:rPr lang="en-US" sz="1600" b="1" dirty="0"/>
              <a:t>Wind Speed &amp; </a:t>
            </a:r>
            <a:r>
              <a:rPr lang="en-US" sz="1600" b="1" dirty="0" err="1"/>
              <a:t>Temp_Diff</a:t>
            </a:r>
            <a:r>
              <a:rPr lang="en-US" sz="1600" b="1" dirty="0"/>
              <a:t>:</a:t>
            </a:r>
            <a:r>
              <a:rPr lang="en-US" sz="1600" dirty="0"/>
              <a:t> Moderate negative (-0.41)</a:t>
            </a:r>
          </a:p>
          <a:p>
            <a:pPr marL="285750" indent="-285750">
              <a:buFont typeface="Wingdings" panose="05000000000000000000" pitchFamily="2" charset="2"/>
              <a:buChar char="q"/>
            </a:pPr>
            <a:r>
              <a:rPr lang="en-US" sz="1600" b="1" dirty="0" err="1"/>
              <a:t>Precip</a:t>
            </a:r>
            <a:r>
              <a:rPr lang="en-US" sz="1600" b="1" dirty="0"/>
              <a:t> Type &amp; Temp:</a:t>
            </a:r>
            <a:r>
              <a:rPr lang="en-US" sz="1600" dirty="0"/>
              <a:t> Moderate negative (-0.56), </a:t>
            </a:r>
            <a:r>
              <a:rPr lang="en-US" sz="1600" dirty="0" err="1"/>
              <a:t>Precip</a:t>
            </a:r>
            <a:r>
              <a:rPr lang="en-US" sz="1600" dirty="0"/>
              <a:t> Type &amp; </a:t>
            </a:r>
            <a:r>
              <a:rPr lang="en-US" sz="1600" dirty="0" err="1"/>
              <a:t>Temp_Diff</a:t>
            </a:r>
            <a:r>
              <a:rPr lang="en-US" sz="1600" dirty="0"/>
              <a:t>: Moderate negative (-0.40)</a:t>
            </a:r>
          </a:p>
          <a:p>
            <a:pPr marL="285750" indent="-285750">
              <a:buFont typeface="Wingdings" panose="05000000000000000000" pitchFamily="2" charset="2"/>
              <a:buChar char="q"/>
            </a:pPr>
            <a:endParaRPr lang="en-US" sz="1600" dirty="0"/>
          </a:p>
          <a:p>
            <a:pPr marL="285750" indent="-285750">
              <a:buFont typeface="Wingdings" panose="05000000000000000000" pitchFamily="2" charset="2"/>
              <a:buChar char="q"/>
            </a:pPr>
            <a:r>
              <a:rPr lang="en-US" sz="1600" b="1" dirty="0"/>
              <a:t>Other variables </a:t>
            </a:r>
            <a:r>
              <a:rPr lang="en-US" sz="1600" dirty="0"/>
              <a:t>(Wind Bearing, Pressure, Hour): Very weak correlations (≈0)</a:t>
            </a:r>
          </a:p>
          <a:p>
            <a:pPr marL="285750" indent="-285750">
              <a:buFont typeface="Wingdings" panose="05000000000000000000" pitchFamily="2" charset="2"/>
              <a:buChar char="q"/>
            </a:pPr>
            <a:endParaRPr lang="en-US" sz="1600" dirty="0"/>
          </a:p>
        </p:txBody>
      </p:sp>
      <p:pic>
        <p:nvPicPr>
          <p:cNvPr id="3" name="Picture 2">
            <a:extLst>
              <a:ext uri="{FF2B5EF4-FFF2-40B4-BE49-F238E27FC236}">
                <a16:creationId xmlns:a16="http://schemas.microsoft.com/office/drawing/2014/main" id="{24F241EF-045E-4B9A-884B-2F301660C9A7}"/>
              </a:ext>
            </a:extLst>
          </p:cNvPr>
          <p:cNvPicPr>
            <a:picLocks noChangeAspect="1"/>
          </p:cNvPicPr>
          <p:nvPr/>
        </p:nvPicPr>
        <p:blipFill>
          <a:blip r:embed="rId5"/>
          <a:stretch>
            <a:fillRect/>
          </a:stretch>
        </p:blipFill>
        <p:spPr>
          <a:xfrm>
            <a:off x="117387" y="694474"/>
            <a:ext cx="7380692" cy="6050908"/>
          </a:xfrm>
          <a:prstGeom prst="rect">
            <a:avLst/>
          </a:prstGeom>
        </p:spPr>
      </p:pic>
    </p:spTree>
    <p:extLst>
      <p:ext uri="{BB962C8B-B14F-4D97-AF65-F5344CB8AC3E}">
        <p14:creationId xmlns:p14="http://schemas.microsoft.com/office/powerpoint/2010/main" val="3033047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all" spc="0" normalizeH="0" baseline="0" noProof="0" dirty="0">
                <a:ln>
                  <a:noFill/>
                </a:ln>
                <a:solidFill>
                  <a:srgbClr val="002060"/>
                </a:solidFill>
                <a:effectLst/>
                <a:uLnTx/>
                <a:uFillTx/>
                <a:latin typeface="Arial Black"/>
                <a:ea typeface="+mj-ea"/>
                <a:cs typeface="+mj-cs"/>
              </a:rPr>
              <a:t>Over all Insights &amp; </a:t>
            </a:r>
            <a:r>
              <a:rPr lang="en-GB" sz="3200" b="1" kern="1200" dirty="0">
                <a:solidFill>
                  <a:srgbClr val="002060"/>
                </a:solidFill>
                <a:effectLst/>
                <a:latin typeface="Arial Black" panose="020B0A04020102020204" pitchFamily="34" charset="0"/>
                <a:ea typeface="+mn-ea"/>
                <a:cs typeface="+mn-cs"/>
              </a:rPr>
              <a:t>Summary</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23" name="TextBox 22">
            <a:extLst>
              <a:ext uri="{FF2B5EF4-FFF2-40B4-BE49-F238E27FC236}">
                <a16:creationId xmlns:a16="http://schemas.microsoft.com/office/drawing/2014/main" id="{DF1B146D-176C-47AC-8635-0DCF38D769D0}"/>
              </a:ext>
            </a:extLst>
          </p:cNvPr>
          <p:cNvSpPr txBox="1"/>
          <p:nvPr/>
        </p:nvSpPr>
        <p:spPr>
          <a:xfrm>
            <a:off x="233681" y="914343"/>
            <a:ext cx="11877039" cy="5139869"/>
          </a:xfrm>
          <a:prstGeom prst="rect">
            <a:avLst/>
          </a:prstGeom>
          <a:noFill/>
        </p:spPr>
        <p:txBody>
          <a:bodyPr wrap="square">
            <a:spAutoFit/>
          </a:bodyPr>
          <a:lstStyle/>
          <a:p>
            <a:r>
              <a:rPr lang="en-US" sz="2000" b="1" dirty="0"/>
              <a:t>Weather Dataset Overview</a:t>
            </a:r>
          </a:p>
          <a:p>
            <a:pPr marL="285750" indent="-285750">
              <a:buFont typeface="Wingdings" panose="05000000000000000000" pitchFamily="2" charset="2"/>
              <a:buChar char="q"/>
            </a:pPr>
            <a:r>
              <a:rPr lang="en-US" dirty="0"/>
              <a:t>Records: 96,429</a:t>
            </a:r>
          </a:p>
          <a:p>
            <a:pPr marL="285750" indent="-285750">
              <a:buFont typeface="Wingdings" panose="05000000000000000000" pitchFamily="2" charset="2"/>
              <a:buChar char="q"/>
            </a:pPr>
            <a:r>
              <a:rPr lang="en-US" dirty="0"/>
              <a:t>Temperature: Avg ~11.93°C, range -21.82°C to 39.91°C</a:t>
            </a:r>
          </a:p>
          <a:p>
            <a:pPr marL="285750" indent="-285750">
              <a:buFont typeface="Wingdings" panose="05000000000000000000" pitchFamily="2" charset="2"/>
              <a:buChar char="q"/>
            </a:pPr>
            <a:r>
              <a:rPr lang="en-US" dirty="0"/>
              <a:t>Humidity: Avg ~73% (median 78%)</a:t>
            </a:r>
          </a:p>
          <a:p>
            <a:pPr marL="285750" indent="-285750">
              <a:buFont typeface="Wingdings" panose="05000000000000000000" pitchFamily="2" charset="2"/>
              <a:buChar char="q"/>
            </a:pPr>
            <a:r>
              <a:rPr lang="en-US" dirty="0"/>
              <a:t>Wind Speed: Avg ~10.81 km/h, peaks up to 63.85 km/h</a:t>
            </a:r>
          </a:p>
          <a:p>
            <a:pPr marL="285750" indent="-285750">
              <a:buFont typeface="Wingdings" panose="05000000000000000000" pitchFamily="2" charset="2"/>
              <a:buChar char="q"/>
            </a:pPr>
            <a:r>
              <a:rPr lang="en-US" dirty="0"/>
              <a:t>Precipitation: ~11% of records</a:t>
            </a:r>
          </a:p>
          <a:p>
            <a:pPr marL="285750" indent="-285750">
              <a:buFont typeface="Wingdings" panose="05000000000000000000" pitchFamily="2" charset="2"/>
              <a:buChar char="q"/>
            </a:pPr>
            <a:r>
              <a:rPr lang="en-US" dirty="0"/>
              <a:t>Pressure: Avg ~1003.23 millibars, highly variable (std ~116.98)</a:t>
            </a:r>
          </a:p>
          <a:p>
            <a:pPr marL="285750" indent="-285750">
              <a:buFont typeface="Wingdings" panose="05000000000000000000" pitchFamily="2" charset="2"/>
              <a:buChar char="q"/>
            </a:pPr>
            <a:r>
              <a:rPr lang="en-US" dirty="0"/>
              <a:t>Visibility: Avg ~10.35 km</a:t>
            </a:r>
          </a:p>
          <a:p>
            <a:pPr marL="285750" indent="-285750">
              <a:buFont typeface="Wingdings" panose="05000000000000000000" pitchFamily="2" charset="2"/>
              <a:buChar char="q"/>
            </a:pPr>
            <a:endParaRPr lang="en-US" dirty="0"/>
          </a:p>
          <a:p>
            <a:r>
              <a:rPr lang="en-US" sz="2000" b="1" u="sng" dirty="0"/>
              <a:t>Key Insights</a:t>
            </a:r>
          </a:p>
          <a:p>
            <a:pPr marL="342900" indent="-342900">
              <a:buAutoNum type="arabicPeriod"/>
            </a:pPr>
            <a:r>
              <a:rPr lang="en-US" b="1" dirty="0"/>
              <a:t>Temperature: </a:t>
            </a:r>
          </a:p>
          <a:p>
            <a:pPr marL="285750" indent="-285750">
              <a:buFont typeface="Wingdings" panose="05000000000000000000" pitchFamily="2" charset="2"/>
              <a:buChar char="Ø"/>
            </a:pPr>
            <a:r>
              <a:rPr lang="en-US" dirty="0"/>
              <a:t>Apparent Temp strongly correlates with Temperature (0.99).</a:t>
            </a:r>
          </a:p>
          <a:p>
            <a:pPr marL="285750" indent="-285750">
              <a:buFont typeface="Wingdings" panose="05000000000000000000" pitchFamily="2" charset="2"/>
              <a:buChar char="Ø"/>
            </a:pPr>
            <a:r>
              <a:rPr lang="en-US" dirty="0" err="1"/>
              <a:t>AvgTemp_per_Day</a:t>
            </a:r>
            <a:r>
              <a:rPr lang="en-US" dirty="0"/>
              <a:t> correlates highly (0.92) → daily averages are good predictors.</a:t>
            </a:r>
          </a:p>
          <a:p>
            <a:pPr marL="285750" indent="-285750">
              <a:buFont typeface="Wingdings" panose="05000000000000000000" pitchFamily="2" charset="2"/>
              <a:buChar char="Ø"/>
            </a:pPr>
            <a:r>
              <a:rPr lang="en-US" dirty="0"/>
              <a:t>Hourly variability is significant (</a:t>
            </a:r>
            <a:r>
              <a:rPr lang="en-US" dirty="0" err="1"/>
              <a:t>Temp_std_per_Hour</a:t>
            </a:r>
            <a:r>
              <a:rPr lang="en-US" dirty="0"/>
              <a:t> ~8.99°C).</a:t>
            </a:r>
          </a:p>
          <a:p>
            <a:pPr marL="285750" indent="-285750">
              <a:buFont typeface="Wingdings" panose="05000000000000000000" pitchFamily="2" charset="2"/>
              <a:buChar char="Ø"/>
            </a:pPr>
            <a:endParaRPr lang="en-US" dirty="0"/>
          </a:p>
          <a:p>
            <a:r>
              <a:rPr lang="en-US" b="1" dirty="0"/>
              <a:t>2.  Humidity</a:t>
            </a:r>
          </a:p>
          <a:p>
            <a:pPr marL="285750" indent="-285750">
              <a:buFont typeface="Wingdings" panose="05000000000000000000" pitchFamily="2" charset="2"/>
              <a:buChar char="Ø"/>
            </a:pPr>
            <a:r>
              <a:rPr lang="en-US" dirty="0"/>
              <a:t>Negative correlation with Temperature (-0.63).</a:t>
            </a:r>
          </a:p>
          <a:p>
            <a:pPr marL="285750" indent="-285750">
              <a:buFont typeface="Wingdings" panose="05000000000000000000" pitchFamily="2" charset="2"/>
              <a:buChar char="Ø"/>
            </a:pPr>
            <a:r>
              <a:rPr lang="en-US" dirty="0"/>
              <a:t>Hourly variability substantial (</a:t>
            </a:r>
            <a:r>
              <a:rPr lang="en-US" dirty="0" err="1"/>
              <a:t>Humidity_cv_per_Hour</a:t>
            </a:r>
            <a:r>
              <a:rPr lang="en-US" dirty="0"/>
              <a:t> ~0.23).</a:t>
            </a:r>
          </a:p>
        </p:txBody>
      </p:sp>
    </p:spTree>
    <p:extLst>
      <p:ext uri="{BB962C8B-B14F-4D97-AF65-F5344CB8AC3E}">
        <p14:creationId xmlns:p14="http://schemas.microsoft.com/office/powerpoint/2010/main" val="316463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all" spc="0" normalizeH="0" baseline="0" noProof="0" dirty="0">
                <a:ln>
                  <a:noFill/>
                </a:ln>
                <a:solidFill>
                  <a:srgbClr val="002060"/>
                </a:solidFill>
                <a:effectLst/>
                <a:uLnTx/>
                <a:uFillTx/>
                <a:latin typeface="Arial Black"/>
                <a:ea typeface="+mj-ea"/>
                <a:cs typeface="+mj-cs"/>
              </a:rPr>
              <a:t>Over all Insights &amp; </a:t>
            </a:r>
            <a:r>
              <a:rPr lang="en-GB" sz="3200" b="1" kern="1200" dirty="0">
                <a:solidFill>
                  <a:srgbClr val="002060"/>
                </a:solidFill>
                <a:effectLst/>
                <a:latin typeface="Arial Black" panose="020B0A04020102020204" pitchFamily="34" charset="0"/>
                <a:ea typeface="+mn-ea"/>
                <a:cs typeface="+mn-cs"/>
              </a:rPr>
              <a:t>Summary</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25" name="TextBox 24">
            <a:extLst>
              <a:ext uri="{FF2B5EF4-FFF2-40B4-BE49-F238E27FC236}">
                <a16:creationId xmlns:a16="http://schemas.microsoft.com/office/drawing/2014/main" id="{6A86AE28-0C27-42CD-B6DF-B23948C6596D}"/>
              </a:ext>
            </a:extLst>
          </p:cNvPr>
          <p:cNvSpPr txBox="1"/>
          <p:nvPr/>
        </p:nvSpPr>
        <p:spPr>
          <a:xfrm>
            <a:off x="351069" y="803263"/>
            <a:ext cx="11489862" cy="5632311"/>
          </a:xfrm>
          <a:prstGeom prst="rect">
            <a:avLst/>
          </a:prstGeom>
          <a:noFill/>
        </p:spPr>
        <p:txBody>
          <a:bodyPr wrap="square">
            <a:spAutoFit/>
          </a:bodyPr>
          <a:lstStyle/>
          <a:p>
            <a:r>
              <a:rPr lang="en-US" b="1" dirty="0"/>
              <a:t>3. Wind</a:t>
            </a:r>
          </a:p>
          <a:p>
            <a:pPr marL="285750" indent="-285750">
              <a:buFont typeface="Wingdings" panose="05000000000000000000" pitchFamily="2" charset="2"/>
              <a:buChar char="Ø"/>
            </a:pPr>
            <a:r>
              <a:rPr lang="en-US" dirty="0"/>
              <a:t>Avg ~10.81 km/h, moderate variability (</a:t>
            </a:r>
            <a:r>
              <a:rPr lang="en-US" dirty="0" err="1"/>
              <a:t>WindSpeed_std_per_Hour</a:t>
            </a:r>
            <a:r>
              <a:rPr lang="en-US" dirty="0"/>
              <a:t> ~6.65 km/h).</a:t>
            </a:r>
          </a:p>
          <a:p>
            <a:pPr marL="285750" indent="-285750">
              <a:buFont typeface="Wingdings" panose="05000000000000000000" pitchFamily="2" charset="2"/>
              <a:buChar char="Ø"/>
            </a:pPr>
            <a:r>
              <a:rPr lang="en-US" dirty="0"/>
              <a:t>Strong correlation with </a:t>
            </a:r>
            <a:r>
              <a:rPr lang="en-US" dirty="0" err="1"/>
              <a:t>Wind_Humidity_Impact</a:t>
            </a:r>
            <a:r>
              <a:rPr lang="en-US" dirty="0"/>
              <a:t> (0.88) → affects weather perception.</a:t>
            </a:r>
          </a:p>
          <a:p>
            <a:pPr marL="285750" indent="-285750">
              <a:buFont typeface="Wingdings" panose="05000000000000000000" pitchFamily="2" charset="2"/>
              <a:buChar char="Ø"/>
            </a:pPr>
            <a:endParaRPr lang="en-US" dirty="0"/>
          </a:p>
          <a:p>
            <a:r>
              <a:rPr lang="en-US" b="1" dirty="0"/>
              <a:t>4. Visibility &amp; Pressure</a:t>
            </a:r>
          </a:p>
          <a:p>
            <a:pPr marL="285750" indent="-285750">
              <a:buFont typeface="Wingdings" panose="05000000000000000000" pitchFamily="2" charset="2"/>
              <a:buChar char="Ø"/>
            </a:pPr>
            <a:r>
              <a:rPr lang="en-US" dirty="0"/>
              <a:t>Visibility correlates moderately with Temperature (0.39).</a:t>
            </a:r>
          </a:p>
          <a:p>
            <a:pPr marL="285750" indent="-285750">
              <a:buFont typeface="Wingdings" panose="05000000000000000000" pitchFamily="2" charset="2"/>
              <a:buChar char="Ø"/>
            </a:pPr>
            <a:r>
              <a:rPr lang="en-US" dirty="0"/>
              <a:t>Pressure highly variable (std ~116.98), minimal correlation with other variables.</a:t>
            </a:r>
          </a:p>
          <a:p>
            <a:pPr marL="285750" indent="-285750">
              <a:buFont typeface="Wingdings" panose="05000000000000000000" pitchFamily="2" charset="2"/>
              <a:buChar char="Ø"/>
            </a:pPr>
            <a:endParaRPr lang="en-US" dirty="0"/>
          </a:p>
          <a:p>
            <a:r>
              <a:rPr lang="en-US" b="1" dirty="0"/>
              <a:t>5. Temporal Trends</a:t>
            </a:r>
          </a:p>
          <a:p>
            <a:pPr marL="285750" indent="-285750">
              <a:buFont typeface="Wingdings" panose="05000000000000000000" pitchFamily="2" charset="2"/>
              <a:buChar char="Ø"/>
            </a:pPr>
            <a:r>
              <a:rPr lang="en-US" dirty="0"/>
              <a:t>Temperature &amp; humidity fluctuate by hour, day, week, month, quarter.</a:t>
            </a:r>
          </a:p>
          <a:p>
            <a:pPr marL="285750" indent="-285750">
              <a:buFont typeface="Wingdings" panose="05000000000000000000" pitchFamily="2" charset="2"/>
              <a:buChar char="Ø"/>
            </a:pPr>
            <a:r>
              <a:rPr lang="en-US" dirty="0" err="1"/>
              <a:t>DayOfWeek</a:t>
            </a:r>
            <a:r>
              <a:rPr lang="en-US" dirty="0"/>
              <a:t> has minimal effect on weather patterns.</a:t>
            </a:r>
          </a:p>
          <a:p>
            <a:pPr marL="285750" indent="-285750">
              <a:buFont typeface="Wingdings" panose="05000000000000000000" pitchFamily="2" charset="2"/>
              <a:buChar char="Ø"/>
            </a:pPr>
            <a:endParaRPr lang="en-US" dirty="0"/>
          </a:p>
          <a:p>
            <a:r>
              <a:rPr lang="en-US" b="1" dirty="0"/>
              <a:t>6. Extreme Weather Events</a:t>
            </a:r>
          </a:p>
          <a:p>
            <a:pPr marL="285750" indent="-285750">
              <a:buFont typeface="Wingdings" panose="05000000000000000000" pitchFamily="2" charset="2"/>
              <a:buChar char="Ø"/>
            </a:pPr>
            <a:r>
              <a:rPr lang="en-US" dirty="0"/>
              <a:t>Precipitation correlates negatively with Temperature (-0.56) and Visibility (-0.31).</a:t>
            </a:r>
          </a:p>
          <a:p>
            <a:pPr marL="285750" indent="-285750">
              <a:buFont typeface="Wingdings" panose="05000000000000000000" pitchFamily="2" charset="2"/>
              <a:buChar char="Ø"/>
            </a:pPr>
            <a:r>
              <a:rPr lang="en-US" dirty="0" err="1"/>
              <a:t>Temp_Diff</a:t>
            </a:r>
            <a:r>
              <a:rPr lang="en-US" dirty="0"/>
              <a:t> moderately correlates with precipitation (0.40) → larger differences often precede precipitation.</a:t>
            </a:r>
          </a:p>
          <a:p>
            <a:pPr marL="285750" indent="-285750">
              <a:buFont typeface="Wingdings" panose="05000000000000000000" pitchFamily="2" charset="2"/>
              <a:buChar char="Ø"/>
            </a:pPr>
            <a:endParaRPr lang="en-US" dirty="0"/>
          </a:p>
          <a:p>
            <a:r>
              <a:rPr lang="en-US" b="1" dirty="0"/>
              <a:t>7. Correlation Highlights with Temperature</a:t>
            </a:r>
          </a:p>
          <a:p>
            <a:pPr marL="285750" indent="-285750">
              <a:buFont typeface="Wingdings" panose="05000000000000000000" pitchFamily="2" charset="2"/>
              <a:buChar char="Ø"/>
            </a:pPr>
            <a:r>
              <a:rPr lang="en-US" dirty="0"/>
              <a:t>Strong positive: Apparent Temp (0.99), </a:t>
            </a:r>
            <a:r>
              <a:rPr lang="en-US" dirty="0" err="1"/>
              <a:t>AvgTemp_per_Day</a:t>
            </a:r>
            <a:r>
              <a:rPr lang="en-US" dirty="0"/>
              <a:t> (0.92), Visibility (0.39)</a:t>
            </a:r>
          </a:p>
          <a:p>
            <a:pPr marL="285750" indent="-285750">
              <a:buFont typeface="Wingdings" panose="05000000000000000000" pitchFamily="2" charset="2"/>
              <a:buChar char="Ø"/>
            </a:pPr>
            <a:r>
              <a:rPr lang="en-US" dirty="0"/>
              <a:t>Negative: Humidity (-0.63), </a:t>
            </a:r>
            <a:r>
              <a:rPr lang="en-US" dirty="0" err="1"/>
              <a:t>Temp_Diff</a:t>
            </a:r>
            <a:r>
              <a:rPr lang="en-US" dirty="0"/>
              <a:t> (-0.72)</a:t>
            </a:r>
          </a:p>
          <a:p>
            <a:pPr marL="285750" indent="-285750">
              <a:buFont typeface="Wingdings" panose="05000000000000000000" pitchFamily="2" charset="2"/>
              <a:buChar char="Ø"/>
            </a:pPr>
            <a:r>
              <a:rPr lang="en-US" dirty="0"/>
              <a:t>Moderate correlations: </a:t>
            </a:r>
            <a:r>
              <a:rPr lang="en-US" dirty="0" err="1"/>
              <a:t>Temp_std_per_Hour</a:t>
            </a:r>
            <a:r>
              <a:rPr lang="en-US" dirty="0"/>
              <a:t>, </a:t>
            </a:r>
            <a:r>
              <a:rPr lang="en-US" dirty="0" err="1"/>
              <a:t>Humidity_std_per_Hour</a:t>
            </a:r>
            <a:r>
              <a:rPr lang="en-US" dirty="0"/>
              <a:t> (~0.30)</a:t>
            </a:r>
          </a:p>
        </p:txBody>
      </p:sp>
    </p:spTree>
    <p:extLst>
      <p:ext uri="{BB962C8B-B14F-4D97-AF65-F5344CB8AC3E}">
        <p14:creationId xmlns:p14="http://schemas.microsoft.com/office/powerpoint/2010/main" val="2177435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all" spc="0" normalizeH="0" baseline="0" noProof="0" dirty="0">
                <a:ln>
                  <a:noFill/>
                </a:ln>
                <a:solidFill>
                  <a:srgbClr val="002060"/>
                </a:solidFill>
                <a:effectLst/>
                <a:uLnTx/>
                <a:uFillTx/>
                <a:latin typeface="Arial Black"/>
                <a:ea typeface="+mj-ea"/>
                <a:cs typeface="+mj-cs"/>
              </a:rPr>
              <a:t>Over all Insights &amp; </a:t>
            </a:r>
            <a:r>
              <a:rPr lang="en-GB" sz="3200" b="1" kern="1200" dirty="0">
                <a:solidFill>
                  <a:srgbClr val="002060"/>
                </a:solidFill>
                <a:effectLst/>
                <a:latin typeface="Arial Black" panose="020B0A04020102020204" pitchFamily="34" charset="0"/>
                <a:ea typeface="+mn-ea"/>
                <a:cs typeface="+mn-cs"/>
              </a:rPr>
              <a:t>Summary</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25" name="TextBox 24">
            <a:extLst>
              <a:ext uri="{FF2B5EF4-FFF2-40B4-BE49-F238E27FC236}">
                <a16:creationId xmlns:a16="http://schemas.microsoft.com/office/drawing/2014/main" id="{6A86AE28-0C27-42CD-B6DF-B23948C6596D}"/>
              </a:ext>
            </a:extLst>
          </p:cNvPr>
          <p:cNvSpPr txBox="1"/>
          <p:nvPr/>
        </p:nvSpPr>
        <p:spPr>
          <a:xfrm>
            <a:off x="615228" y="1693666"/>
            <a:ext cx="10961544" cy="3785652"/>
          </a:xfrm>
          <a:prstGeom prst="rect">
            <a:avLst/>
          </a:prstGeom>
          <a:noFill/>
        </p:spPr>
        <p:txBody>
          <a:bodyPr wrap="square">
            <a:spAutoFit/>
          </a:bodyPr>
          <a:lstStyle/>
          <a:p>
            <a:pPr marL="285750" indent="-285750">
              <a:buFont typeface="Wingdings" panose="05000000000000000000" pitchFamily="2" charset="2"/>
              <a:buChar char="Ø"/>
            </a:pPr>
            <a:endParaRPr lang="en-US" sz="2000" dirty="0">
              <a:latin typeface="Consolas" panose="020B0609020204030204" pitchFamily="49" charset="0"/>
            </a:endParaRPr>
          </a:p>
          <a:p>
            <a:r>
              <a:rPr lang="en-US" sz="2000" b="1" dirty="0">
                <a:latin typeface="Consolas" panose="020B0609020204030204" pitchFamily="49" charset="0"/>
              </a:rPr>
              <a:t>Key Takeaways</a:t>
            </a:r>
          </a:p>
          <a:p>
            <a:pPr marL="285750" indent="-285750">
              <a:buFont typeface="Wingdings" panose="05000000000000000000" pitchFamily="2" charset="2"/>
              <a:buChar char="q"/>
            </a:pPr>
            <a:r>
              <a:rPr lang="en-US" sz="2000" dirty="0">
                <a:latin typeface="Consolas" panose="020B0609020204030204" pitchFamily="49" charset="0"/>
              </a:rPr>
              <a:t>Temperature prediction: Best explained by daily &amp; apparent temperature, humidity and visibility are secondary factors.</a:t>
            </a:r>
          </a:p>
          <a:p>
            <a:pPr marL="285750" indent="-285750">
              <a:buFont typeface="Wingdings" panose="05000000000000000000" pitchFamily="2" charset="2"/>
              <a:buChar char="q"/>
            </a:pPr>
            <a:r>
              <a:rPr lang="en-US" sz="2000" dirty="0">
                <a:latin typeface="Consolas" panose="020B0609020204030204" pitchFamily="49" charset="0"/>
              </a:rPr>
              <a:t>Humidity patterns: Inversely follow temperature trends; hourly variability significant.</a:t>
            </a:r>
          </a:p>
          <a:p>
            <a:pPr marL="285750" indent="-285750">
              <a:buFont typeface="Wingdings" panose="05000000000000000000" pitchFamily="2" charset="2"/>
              <a:buChar char="q"/>
            </a:pPr>
            <a:r>
              <a:rPr lang="en-US" sz="2000" dirty="0">
                <a:latin typeface="Consolas" panose="020B0609020204030204" pitchFamily="49" charset="0"/>
              </a:rPr>
              <a:t>Wind influence: Variability and humidity interactions affect weather perception.</a:t>
            </a:r>
          </a:p>
          <a:p>
            <a:pPr marL="285750" indent="-285750">
              <a:buFont typeface="Wingdings" panose="05000000000000000000" pitchFamily="2" charset="2"/>
              <a:buChar char="q"/>
            </a:pPr>
            <a:r>
              <a:rPr lang="en-US" sz="2000" dirty="0">
                <a:latin typeface="Consolas" panose="020B0609020204030204" pitchFamily="49" charset="0"/>
              </a:rPr>
              <a:t>Precipitation effects: Reduces visibility and affects temperature differences, indicating weather event severity.</a:t>
            </a:r>
          </a:p>
          <a:p>
            <a:pPr marL="285750" indent="-285750">
              <a:buFont typeface="Wingdings" panose="05000000000000000000" pitchFamily="2" charset="2"/>
              <a:buChar char="q"/>
            </a:pPr>
            <a:r>
              <a:rPr lang="en-US" sz="2000" dirty="0">
                <a:latin typeface="Consolas" panose="020B0609020204030204" pitchFamily="49" charset="0"/>
              </a:rPr>
              <a:t>Temporal effects: Month, week, and hour influence temperature trends; useful for seasonal modeling.</a:t>
            </a:r>
          </a:p>
        </p:txBody>
      </p:sp>
    </p:spTree>
    <p:extLst>
      <p:ext uri="{BB962C8B-B14F-4D97-AF65-F5344CB8AC3E}">
        <p14:creationId xmlns:p14="http://schemas.microsoft.com/office/powerpoint/2010/main" val="2515772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C473E88-4AA1-45EE-87ED-9FF873D78A7B}"/>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pic>
        <p:nvPicPr>
          <p:cNvPr id="6" name="Picture Placeholder 5" descr="Eclectus parrot perching">
            <a:extLst>
              <a:ext uri="{FF2B5EF4-FFF2-40B4-BE49-F238E27FC236}">
                <a16:creationId xmlns:a16="http://schemas.microsoft.com/office/drawing/2014/main" id="{06CF547E-04CC-8259-2CE8-58347D1DA0E6}"/>
              </a:ext>
            </a:extLst>
          </p:cNvPr>
          <p:cNvPicPr>
            <a:picLocks noGrp="1" noChangeAspect="1"/>
          </p:cNvPicPr>
          <p:nvPr>
            <p:ph type="pic" sz="quarter" idx="12"/>
          </p:nvPr>
        </p:nvPicPr>
        <p:blipFill>
          <a:blip r:embed="rId4"/>
          <a:srcRect t="10753" b="10753"/>
          <a:stretch/>
        </p:blipFill>
        <p:spPr>
          <a:xfrm>
            <a:off x="6577709" y="678128"/>
            <a:ext cx="4670749" cy="5498645"/>
          </a:xfrm>
        </p:spPr>
      </p:pic>
      <p:sp>
        <p:nvSpPr>
          <p:cNvPr id="10" name="Freeform: Shape 9">
            <a:extLst>
              <a:ext uri="{FF2B5EF4-FFF2-40B4-BE49-F238E27FC236}">
                <a16:creationId xmlns:a16="http://schemas.microsoft.com/office/drawing/2014/main" id="{E86688DC-ABDC-4576-9175-8271BFC363A2}"/>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grpSp>
        <p:nvGrpSpPr>
          <p:cNvPr id="11" name="Group 10">
            <a:extLst>
              <a:ext uri="{FF2B5EF4-FFF2-40B4-BE49-F238E27FC236}">
                <a16:creationId xmlns:a16="http://schemas.microsoft.com/office/drawing/2014/main" id="{27122262-785D-4C1C-B01E-180389DC8C3E}"/>
              </a:ext>
            </a:extLst>
          </p:cNvPr>
          <p:cNvGrpSpPr/>
          <p:nvPr/>
        </p:nvGrpSpPr>
        <p:grpSpPr>
          <a:xfrm>
            <a:off x="10026925" y="0"/>
            <a:ext cx="1931394" cy="2062480"/>
            <a:chOff x="980386" y="18857"/>
            <a:chExt cx="2055043" cy="2262260"/>
          </a:xfrm>
        </p:grpSpPr>
        <p:sp>
          <p:nvSpPr>
            <p:cNvPr id="12" name="Rectangle: Rounded Corners 11">
              <a:extLst>
                <a:ext uri="{FF2B5EF4-FFF2-40B4-BE49-F238E27FC236}">
                  <a16:creationId xmlns:a16="http://schemas.microsoft.com/office/drawing/2014/main" id="{287CC4A9-FB27-4FD2-92AD-404E8F587168}"/>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0CD9EABC-DE8C-4068-BCA1-F6AE40F5A5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4" name="TextBox 13">
              <a:extLst>
                <a:ext uri="{FF2B5EF4-FFF2-40B4-BE49-F238E27FC236}">
                  <a16:creationId xmlns:a16="http://schemas.microsoft.com/office/drawing/2014/main" id="{0B3FB6F2-16D4-418F-8C39-39536E51C33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5" name="Title 2">
            <a:extLst>
              <a:ext uri="{FF2B5EF4-FFF2-40B4-BE49-F238E27FC236}">
                <a16:creationId xmlns:a16="http://schemas.microsoft.com/office/drawing/2014/main" id="{9DD518B8-9F33-4D99-B449-186AC0423325}"/>
              </a:ext>
            </a:extLst>
          </p:cNvPr>
          <p:cNvSpPr txBox="1">
            <a:spLocks/>
          </p:cNvSpPr>
          <p:nvPr/>
        </p:nvSpPr>
        <p:spPr>
          <a:xfrm>
            <a:off x="-51781" y="10616"/>
            <a:ext cx="8165095"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all" spc="0" normalizeH="0" baseline="0" noProof="0" dirty="0">
                <a:ln>
                  <a:noFill/>
                </a:ln>
                <a:solidFill>
                  <a:srgbClr val="002060"/>
                </a:solidFill>
                <a:effectLst/>
                <a:uLnTx/>
                <a:uFillTx/>
                <a:latin typeface="Arial Black"/>
                <a:ea typeface="+mj-ea"/>
                <a:cs typeface="+mj-cs"/>
              </a:rPr>
              <a:t>Over all Insights &amp; </a:t>
            </a:r>
            <a:r>
              <a:rPr lang="en-GB" sz="3200" b="1" kern="1200" dirty="0">
                <a:solidFill>
                  <a:srgbClr val="002060"/>
                </a:solidFill>
                <a:effectLst/>
                <a:latin typeface="Arial Black" panose="020B0A04020102020204" pitchFamily="34" charset="0"/>
                <a:ea typeface="+mn-ea"/>
                <a:cs typeface="+mn-cs"/>
              </a:rPr>
              <a:t>Summary</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16" name="TextBox 15">
            <a:extLst>
              <a:ext uri="{FF2B5EF4-FFF2-40B4-BE49-F238E27FC236}">
                <a16:creationId xmlns:a16="http://schemas.microsoft.com/office/drawing/2014/main" id="{22EABA11-8A1F-46CA-8709-C01B2174BAF4}"/>
              </a:ext>
            </a:extLst>
          </p:cNvPr>
          <p:cNvSpPr txBox="1"/>
          <p:nvPr/>
        </p:nvSpPr>
        <p:spPr>
          <a:xfrm>
            <a:off x="233681" y="668730"/>
            <a:ext cx="5974079" cy="4801314"/>
          </a:xfrm>
          <a:prstGeom prst="rect">
            <a:avLst/>
          </a:prstGeom>
          <a:noFill/>
        </p:spPr>
        <p:txBody>
          <a:bodyPr wrap="square">
            <a:spAutoFit/>
          </a:bodyPr>
          <a:lstStyle/>
          <a:p>
            <a:pPr marL="285750" indent="-285750">
              <a:buFont typeface="Wingdings" panose="05000000000000000000" pitchFamily="2" charset="2"/>
              <a:buChar char="Ø"/>
            </a:pPr>
            <a:endParaRPr lang="en-US" dirty="0"/>
          </a:p>
          <a:p>
            <a:r>
              <a:rPr lang="en-US" b="1" dirty="0"/>
              <a:t>Key Takeaways</a:t>
            </a:r>
          </a:p>
          <a:p>
            <a:pPr marL="285750" indent="-285750">
              <a:buFont typeface="Wingdings" panose="05000000000000000000" pitchFamily="2" charset="2"/>
              <a:buChar char="q"/>
            </a:pPr>
            <a:r>
              <a:rPr lang="en-US" dirty="0"/>
              <a:t>Temperature prediction: Best explained by daily &amp; apparent temperature; humidity and visibility are secondary factors.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Humidity patterns: Inversely follow temperature trends; hourly variability significant.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Wind influence: Variability and humidity interactions affect weather perception.</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Precipitation effects: Reduces visibility and affects temperature differences, indicating weather event severity.</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Temporal effects: Month, week, and hour influence temperature trends; useful for seasonal modeling.</a:t>
            </a:r>
          </a:p>
        </p:txBody>
      </p:sp>
    </p:spTree>
    <p:extLst>
      <p:ext uri="{BB962C8B-B14F-4D97-AF65-F5344CB8AC3E}">
        <p14:creationId xmlns:p14="http://schemas.microsoft.com/office/powerpoint/2010/main" val="62909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all" spc="0" normalizeH="0" baseline="0" noProof="0" dirty="0">
                <a:ln>
                  <a:noFill/>
                </a:ln>
                <a:solidFill>
                  <a:srgbClr val="1F2C8F"/>
                </a:solidFill>
                <a:effectLst/>
                <a:uLnTx/>
                <a:uFillTx/>
                <a:latin typeface="Arial Black"/>
                <a:ea typeface="+mj-ea"/>
                <a:cs typeface="+mj-cs"/>
              </a:rPr>
              <a:t>RECOMMENDATIONS</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32" name="TextBox 31">
            <a:extLst>
              <a:ext uri="{FF2B5EF4-FFF2-40B4-BE49-F238E27FC236}">
                <a16:creationId xmlns:a16="http://schemas.microsoft.com/office/drawing/2014/main" id="{B06B6DA4-55B5-4FEF-AE61-39EFFCFE0E15}"/>
              </a:ext>
            </a:extLst>
          </p:cNvPr>
          <p:cNvSpPr txBox="1"/>
          <p:nvPr/>
        </p:nvSpPr>
        <p:spPr>
          <a:xfrm>
            <a:off x="233681" y="843846"/>
            <a:ext cx="11470639" cy="5570756"/>
          </a:xfrm>
          <a:prstGeom prst="rect">
            <a:avLst/>
          </a:prstGeom>
          <a:noFill/>
        </p:spPr>
        <p:txBody>
          <a:bodyPr wrap="square">
            <a:spAutoFit/>
          </a:bodyPr>
          <a:lstStyle/>
          <a:p>
            <a:r>
              <a:rPr lang="en-GB" b="1" dirty="0">
                <a:solidFill>
                  <a:srgbClr val="C00000"/>
                </a:solidFill>
                <a:effectLst/>
                <a:latin typeface="Consolas" panose="020B0609020204030204" pitchFamily="49" charset="0"/>
              </a:rPr>
              <a:t>1. </a:t>
            </a:r>
            <a:r>
              <a:rPr lang="en-GB" b="1" u="sng" dirty="0">
                <a:solidFill>
                  <a:srgbClr val="C00000"/>
                </a:solidFill>
                <a:effectLst/>
                <a:latin typeface="Consolas" panose="020B0609020204030204" pitchFamily="49" charset="0"/>
              </a:rPr>
              <a:t>Monitor Critical Weather Parameters</a:t>
            </a:r>
          </a:p>
          <a:p>
            <a:pPr marL="285750" indent="-285750">
              <a:buFont typeface="Wingdings" panose="05000000000000000000" pitchFamily="2" charset="2"/>
              <a:buChar char="q"/>
            </a:pPr>
            <a:r>
              <a:rPr lang="en-GB" sz="1600" b="0" dirty="0">
                <a:effectLst/>
                <a:latin typeface="Consolas" panose="020B0609020204030204" pitchFamily="49" charset="0"/>
              </a:rPr>
              <a:t>Track Temperature, Apparent Temperature, and Humidity closely; they are the most </a:t>
            </a:r>
          </a:p>
          <a:p>
            <a:r>
              <a:rPr lang="en-GB" sz="1600" dirty="0">
                <a:latin typeface="Consolas" panose="020B0609020204030204" pitchFamily="49" charset="0"/>
              </a:rPr>
              <a:t>   </a:t>
            </a:r>
            <a:r>
              <a:rPr lang="en-GB" sz="1600" b="0" dirty="0">
                <a:effectLst/>
                <a:latin typeface="Consolas" panose="020B0609020204030204" pitchFamily="49" charset="0"/>
              </a:rPr>
              <a:t>dynamic and significantly influence weather perception and comfort.</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Monitor </a:t>
            </a:r>
            <a:r>
              <a:rPr lang="en-GB" sz="1600" b="0" dirty="0" err="1">
                <a:effectLst/>
                <a:latin typeface="Consolas" panose="020B0609020204030204" pitchFamily="49" charset="0"/>
              </a:rPr>
              <a:t>Temp_Diff</a:t>
            </a:r>
            <a:r>
              <a:rPr lang="en-GB" sz="1600" b="0" dirty="0">
                <a:effectLst/>
                <a:latin typeface="Consolas" panose="020B0609020204030204" pitchFamily="49" charset="0"/>
              </a:rPr>
              <a:t> (temperature change per hour) and </a:t>
            </a:r>
            <a:r>
              <a:rPr lang="en-GB" sz="1600" b="0" dirty="0" err="1">
                <a:effectLst/>
                <a:latin typeface="Consolas" panose="020B0609020204030204" pitchFamily="49" charset="0"/>
              </a:rPr>
              <a:t>Temp_Apparent_Ratio</a:t>
            </a:r>
            <a:r>
              <a:rPr lang="en-GB" sz="1600" b="0" dirty="0">
                <a:effectLst/>
                <a:latin typeface="Consolas" panose="020B0609020204030204" pitchFamily="49" charset="0"/>
              </a:rPr>
              <a:t> to detect </a:t>
            </a:r>
          </a:p>
          <a:p>
            <a:r>
              <a:rPr lang="en-GB" sz="1600" dirty="0">
                <a:latin typeface="Consolas" panose="020B0609020204030204" pitchFamily="49" charset="0"/>
              </a:rPr>
              <a:t>   </a:t>
            </a:r>
            <a:r>
              <a:rPr lang="en-GB" sz="1600" b="0" dirty="0">
                <a:effectLst/>
                <a:latin typeface="Consolas" panose="020B0609020204030204" pitchFamily="49" charset="0"/>
              </a:rPr>
              <a:t>sudden weather shifts.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Regularly calibrate sensors to maintain reliable readings for Pressure, Wind Speed, and Visibility.</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Use </a:t>
            </a:r>
            <a:r>
              <a:rPr lang="en-GB" sz="1600" b="0" dirty="0" err="1">
                <a:effectLst/>
                <a:latin typeface="Consolas" panose="020B0609020204030204" pitchFamily="49" charset="0"/>
              </a:rPr>
              <a:t>Humidity_cv_per_Hour</a:t>
            </a:r>
            <a:r>
              <a:rPr lang="en-GB" sz="1600" b="0" dirty="0">
                <a:effectLst/>
                <a:latin typeface="Consolas" panose="020B0609020204030204" pitchFamily="49" charset="0"/>
              </a:rPr>
              <a:t> and </a:t>
            </a:r>
            <a:r>
              <a:rPr lang="en-GB" sz="1600" b="0" dirty="0" err="1">
                <a:effectLst/>
                <a:latin typeface="Consolas" panose="020B0609020204030204" pitchFamily="49" charset="0"/>
              </a:rPr>
              <a:t>Temp_cv_per_Hour</a:t>
            </a:r>
            <a:r>
              <a:rPr lang="en-GB" sz="1600" b="0" dirty="0">
                <a:effectLst/>
                <a:latin typeface="Consolas" panose="020B0609020204030204" pitchFamily="49" charset="0"/>
              </a:rPr>
              <a:t> to identify periods of high variability that may indicate unstable weather conditions.</a:t>
            </a:r>
          </a:p>
          <a:p>
            <a:br>
              <a:rPr lang="en-GB" sz="1600" b="0" dirty="0">
                <a:effectLst/>
                <a:latin typeface="Consolas" panose="020B0609020204030204" pitchFamily="49" charset="0"/>
              </a:rPr>
            </a:br>
            <a:r>
              <a:rPr lang="en-GB" b="1" dirty="0">
                <a:solidFill>
                  <a:srgbClr val="C00000"/>
                </a:solidFill>
                <a:effectLst/>
                <a:latin typeface="Consolas" panose="020B0609020204030204" pitchFamily="49" charset="0"/>
              </a:rPr>
              <a:t>2. </a:t>
            </a:r>
            <a:r>
              <a:rPr lang="en-GB" b="1" u="sng" dirty="0">
                <a:solidFill>
                  <a:srgbClr val="C00000"/>
                </a:solidFill>
                <a:effectLst/>
                <a:latin typeface="Consolas" panose="020B0609020204030204" pitchFamily="49" charset="0"/>
              </a:rPr>
              <a:t>Seasonal and Temporal Planning</a:t>
            </a:r>
          </a:p>
          <a:p>
            <a:pPr marL="285750" indent="-285750">
              <a:buFont typeface="Wingdings" panose="05000000000000000000" pitchFamily="2" charset="2"/>
              <a:buChar char="q"/>
            </a:pPr>
            <a:r>
              <a:rPr lang="en-GB" sz="1600" b="0" dirty="0">
                <a:effectLst/>
                <a:latin typeface="Consolas" panose="020B0609020204030204" pitchFamily="49" charset="0"/>
              </a:rPr>
              <a:t>Summer months (June–July): Prepare for high temperatures; leverage </a:t>
            </a:r>
            <a:r>
              <a:rPr lang="en-GB" sz="1600" b="0" dirty="0" err="1">
                <a:effectLst/>
                <a:latin typeface="Consolas" panose="020B0609020204030204" pitchFamily="49" charset="0"/>
              </a:rPr>
              <a:t>AvgTemp_per_Day</a:t>
            </a:r>
            <a:r>
              <a:rPr lang="en-GB" sz="1600" b="0" dirty="0">
                <a:effectLst/>
                <a:latin typeface="Consolas" panose="020B0609020204030204" pitchFamily="49" charset="0"/>
              </a:rPr>
              <a:t> trends for heatwave planning.</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Monsoon season: Plan around high humidity and precipitation (~11% of records), using </a:t>
            </a:r>
            <a:r>
              <a:rPr lang="en-GB" sz="1600" b="0" dirty="0" err="1">
                <a:effectLst/>
                <a:latin typeface="Consolas" panose="020B0609020204030204" pitchFamily="49" charset="0"/>
              </a:rPr>
              <a:t>AvgHumidity_per_Day</a:t>
            </a:r>
            <a:r>
              <a:rPr lang="en-GB" sz="1600" b="0" dirty="0">
                <a:effectLst/>
                <a:latin typeface="Consolas" panose="020B0609020204030204" pitchFamily="49" charset="0"/>
              </a:rPr>
              <a:t> for preparedness.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Use </a:t>
            </a:r>
            <a:r>
              <a:rPr lang="en-GB" sz="1600" b="0" dirty="0" err="1">
                <a:effectLst/>
                <a:latin typeface="Consolas" panose="020B0609020204030204" pitchFamily="49" charset="0"/>
              </a:rPr>
              <a:t>WeekOfYear</a:t>
            </a:r>
            <a:r>
              <a:rPr lang="en-GB" sz="1600" b="0" dirty="0">
                <a:effectLst/>
                <a:latin typeface="Consolas" panose="020B0609020204030204" pitchFamily="49" charset="0"/>
              </a:rPr>
              <a:t>, Month, and Quarter trends to forecast seasonal patterns.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Create alerts for sudden drops or spikes in temperature to mitigate seasonal hazards.</a:t>
            </a:r>
          </a:p>
        </p:txBody>
      </p:sp>
    </p:spTree>
    <p:extLst>
      <p:ext uri="{BB962C8B-B14F-4D97-AF65-F5344CB8AC3E}">
        <p14:creationId xmlns:p14="http://schemas.microsoft.com/office/powerpoint/2010/main" val="546900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all" spc="0" normalizeH="0" baseline="0" noProof="0" dirty="0">
                <a:ln>
                  <a:noFill/>
                </a:ln>
                <a:solidFill>
                  <a:srgbClr val="1F2C8F"/>
                </a:solidFill>
                <a:effectLst/>
                <a:uLnTx/>
                <a:uFillTx/>
                <a:latin typeface="Arial Black"/>
                <a:ea typeface="+mj-ea"/>
                <a:cs typeface="+mj-cs"/>
              </a:rPr>
              <a:t>RECOMMENDATIONS</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12" name="TextBox 11">
            <a:extLst>
              <a:ext uri="{FF2B5EF4-FFF2-40B4-BE49-F238E27FC236}">
                <a16:creationId xmlns:a16="http://schemas.microsoft.com/office/drawing/2014/main" id="{2739F8E9-45DB-404A-BB3D-605330BD4D2E}"/>
              </a:ext>
            </a:extLst>
          </p:cNvPr>
          <p:cNvSpPr txBox="1"/>
          <p:nvPr/>
        </p:nvSpPr>
        <p:spPr>
          <a:xfrm>
            <a:off x="351069" y="1096817"/>
            <a:ext cx="11363411" cy="5324535"/>
          </a:xfrm>
          <a:prstGeom prst="rect">
            <a:avLst/>
          </a:prstGeom>
          <a:noFill/>
        </p:spPr>
        <p:txBody>
          <a:bodyPr wrap="square">
            <a:spAutoFit/>
          </a:bodyPr>
          <a:lstStyle/>
          <a:p>
            <a:r>
              <a:rPr lang="en-GB" b="1" dirty="0">
                <a:solidFill>
                  <a:srgbClr val="C00000"/>
                </a:solidFill>
                <a:effectLst/>
                <a:latin typeface="Consolas" panose="020B0609020204030204" pitchFamily="49" charset="0"/>
              </a:rPr>
              <a:t>3. </a:t>
            </a:r>
            <a:r>
              <a:rPr lang="en-GB" b="1" u="sng" dirty="0">
                <a:solidFill>
                  <a:srgbClr val="C00000"/>
                </a:solidFill>
                <a:effectLst/>
                <a:latin typeface="Consolas" panose="020B0609020204030204" pitchFamily="49" charset="0"/>
              </a:rPr>
              <a:t>Safety &amp; Public Awareness</a:t>
            </a:r>
          </a:p>
          <a:p>
            <a:pPr marL="285750" indent="-285750">
              <a:buFont typeface="Wingdings" panose="05000000000000000000" pitchFamily="2" charset="2"/>
              <a:buChar char="q"/>
            </a:pPr>
            <a:r>
              <a:rPr lang="en-GB" sz="1600" b="0" dirty="0">
                <a:effectLst/>
                <a:latin typeface="Consolas" panose="020B0609020204030204" pitchFamily="49" charset="0"/>
              </a:rPr>
              <a:t>Issue advisories during extreme temperatures, high winds, or storm events.</a:t>
            </a:r>
          </a:p>
          <a:p>
            <a:pPr marL="285750" indent="-285750">
              <a:buFont typeface="Wingdings" panose="05000000000000000000" pitchFamily="2" charset="2"/>
              <a:buChar char="q"/>
            </a:pPr>
            <a:endParaRPr lang="en-GB" sz="1600" dirty="0">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Monitor Visibility (km) to provide warnings for road, air, and marine transport.</a:t>
            </a:r>
          </a:p>
          <a:p>
            <a:pPr marL="285750" indent="-285750">
              <a:buFont typeface="Wingdings" panose="05000000000000000000" pitchFamily="2" charset="2"/>
              <a:buChar char="q"/>
            </a:pPr>
            <a:endParaRPr lang="en-GB" sz="1600" dirty="0">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Educate the public on heat index, humidity impacts, and wind-humidity interactions.</a:t>
            </a:r>
          </a:p>
          <a:p>
            <a:pPr marL="285750" indent="-285750">
              <a:buFont typeface="Wingdings" panose="05000000000000000000" pitchFamily="2" charset="2"/>
              <a:buChar char="q"/>
            </a:pPr>
            <a:endParaRPr lang="en-GB" sz="1600" dirty="0">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Implement storm-warning systems, especially in high-precipitation or high </a:t>
            </a:r>
            <a:r>
              <a:rPr lang="en-GB" sz="1600" b="0" dirty="0" err="1">
                <a:effectLst/>
                <a:latin typeface="Consolas" panose="020B0609020204030204" pitchFamily="49" charset="0"/>
              </a:rPr>
              <a:t>Wind_Humidity_Impact</a:t>
            </a:r>
            <a:r>
              <a:rPr lang="en-GB" sz="1600" b="0" dirty="0">
                <a:effectLst/>
                <a:latin typeface="Consolas" panose="020B0609020204030204" pitchFamily="49" charset="0"/>
              </a:rPr>
              <a:t> areas.</a:t>
            </a:r>
          </a:p>
          <a:p>
            <a:br>
              <a:rPr lang="en-GB" sz="1600" b="0" dirty="0">
                <a:effectLst/>
                <a:latin typeface="Consolas" panose="020B0609020204030204" pitchFamily="49" charset="0"/>
              </a:rPr>
            </a:br>
            <a:r>
              <a:rPr lang="en-GB" b="1" dirty="0">
                <a:solidFill>
                  <a:srgbClr val="C00000"/>
                </a:solidFill>
                <a:effectLst/>
                <a:latin typeface="Consolas" panose="020B0609020204030204" pitchFamily="49" charset="0"/>
              </a:rPr>
              <a:t>4. </a:t>
            </a:r>
            <a:r>
              <a:rPr lang="en-GB" b="1" u="sng" dirty="0">
                <a:solidFill>
                  <a:srgbClr val="C00000"/>
                </a:solidFill>
                <a:effectLst/>
                <a:latin typeface="Consolas" panose="020B0609020204030204" pitchFamily="49" charset="0"/>
              </a:rPr>
              <a:t>Infrastructure &amp; Environmental Preparedness</a:t>
            </a:r>
          </a:p>
          <a:p>
            <a:pPr marL="285750" indent="-285750">
              <a:buFont typeface="Wingdings" panose="05000000000000000000" pitchFamily="2" charset="2"/>
              <a:buChar char="q"/>
            </a:pPr>
            <a:r>
              <a:rPr lang="en-GB" sz="1600" b="0" dirty="0">
                <a:effectLst/>
                <a:latin typeface="Consolas" panose="020B0609020204030204" pitchFamily="49" charset="0"/>
              </a:rPr>
              <a:t>Design urban infrastructure to adapt to temperature extremes and high humidity: cooling shelters, </a:t>
            </a:r>
          </a:p>
          <a:p>
            <a:r>
              <a:rPr lang="en-GB" sz="1600" dirty="0">
                <a:latin typeface="Consolas" panose="020B0609020204030204" pitchFamily="49" charset="0"/>
              </a:rPr>
              <a:t>  </a:t>
            </a:r>
            <a:r>
              <a:rPr lang="en-GB" sz="1600" b="0" dirty="0">
                <a:effectLst/>
                <a:latin typeface="Consolas" panose="020B0609020204030204" pitchFamily="49" charset="0"/>
              </a:rPr>
              <a:t>shaded areas, and efficient storm drainage.</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Track Pressure (millibars) for early storm detection.</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Use wind speed and visibility data to enhance safety in airports, roads, and shipping routes.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Promote green building practices to buffer temperature and humidity effects.</a:t>
            </a:r>
          </a:p>
          <a:p>
            <a:br>
              <a:rPr lang="en-GB" sz="1600" b="0" dirty="0">
                <a:effectLst/>
                <a:latin typeface="Consolas" panose="020B0609020204030204" pitchFamily="49" charset="0"/>
              </a:rPr>
            </a:br>
            <a:endParaRPr lang="en-GB" sz="1600" b="0" dirty="0">
              <a:effectLst/>
              <a:latin typeface="Consolas" panose="020B0609020204030204" pitchFamily="49" charset="0"/>
            </a:endParaRPr>
          </a:p>
        </p:txBody>
      </p:sp>
    </p:spTree>
    <p:extLst>
      <p:ext uri="{BB962C8B-B14F-4D97-AF65-F5344CB8AC3E}">
        <p14:creationId xmlns:p14="http://schemas.microsoft.com/office/powerpoint/2010/main" val="1403246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all" spc="0" normalizeH="0" baseline="0" noProof="0" dirty="0">
                <a:ln>
                  <a:noFill/>
                </a:ln>
                <a:solidFill>
                  <a:srgbClr val="1F2C8F"/>
                </a:solidFill>
                <a:effectLst/>
                <a:uLnTx/>
                <a:uFillTx/>
                <a:latin typeface="Arial Black"/>
                <a:ea typeface="+mj-ea"/>
                <a:cs typeface="+mj-cs"/>
              </a:rPr>
              <a:t>RECOMMENDATIONS</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12" name="TextBox 11">
            <a:extLst>
              <a:ext uri="{FF2B5EF4-FFF2-40B4-BE49-F238E27FC236}">
                <a16:creationId xmlns:a16="http://schemas.microsoft.com/office/drawing/2014/main" id="{2739F8E9-45DB-404A-BB3D-605330BD4D2E}"/>
              </a:ext>
            </a:extLst>
          </p:cNvPr>
          <p:cNvSpPr txBox="1"/>
          <p:nvPr/>
        </p:nvSpPr>
        <p:spPr>
          <a:xfrm>
            <a:off x="351069" y="659781"/>
            <a:ext cx="11607249" cy="5791819"/>
          </a:xfrm>
          <a:prstGeom prst="rect">
            <a:avLst/>
          </a:prstGeom>
          <a:noFill/>
        </p:spPr>
        <p:txBody>
          <a:bodyPr wrap="square">
            <a:spAutoFit/>
          </a:bodyPr>
          <a:lstStyle/>
          <a:p>
            <a:r>
              <a:rPr lang="en-GB" b="1" dirty="0">
                <a:solidFill>
                  <a:srgbClr val="C00000"/>
                </a:solidFill>
                <a:effectLst/>
                <a:latin typeface="Consolas" panose="020B0609020204030204" pitchFamily="49" charset="0"/>
              </a:rPr>
              <a:t>5. </a:t>
            </a:r>
            <a:r>
              <a:rPr lang="en-GB" b="1" u="sng" dirty="0">
                <a:solidFill>
                  <a:srgbClr val="C00000"/>
                </a:solidFill>
                <a:effectLst/>
                <a:latin typeface="Consolas" panose="020B0609020204030204" pitchFamily="49" charset="0"/>
              </a:rPr>
              <a:t>Data-Driven Forecasting</a:t>
            </a:r>
          </a:p>
          <a:p>
            <a:pPr marL="285750" indent="-285750">
              <a:buFont typeface="Wingdings" panose="05000000000000000000" pitchFamily="2" charset="2"/>
              <a:buChar char="q"/>
            </a:pPr>
            <a:r>
              <a:rPr lang="en-GB" sz="1600" b="0" dirty="0">
                <a:effectLst/>
                <a:latin typeface="Consolas" panose="020B0609020204030204" pitchFamily="49" charset="0"/>
              </a:rPr>
              <a:t>Use hourly averages (</a:t>
            </a:r>
            <a:r>
              <a:rPr lang="en-GB" sz="1600" b="0" dirty="0" err="1">
                <a:effectLst/>
                <a:latin typeface="Consolas" panose="020B0609020204030204" pitchFamily="49" charset="0"/>
              </a:rPr>
              <a:t>AvgTemp_per_Hour</a:t>
            </a:r>
            <a:r>
              <a:rPr lang="en-GB" sz="1600" b="0" dirty="0">
                <a:effectLst/>
                <a:latin typeface="Consolas" panose="020B0609020204030204" pitchFamily="49" charset="0"/>
              </a:rPr>
              <a:t>, </a:t>
            </a:r>
            <a:r>
              <a:rPr lang="en-GB" sz="1600" b="0" dirty="0" err="1">
                <a:effectLst/>
                <a:latin typeface="Consolas" panose="020B0609020204030204" pitchFamily="49" charset="0"/>
              </a:rPr>
              <a:t>AvgHumidity_per_Hour</a:t>
            </a:r>
            <a:r>
              <a:rPr lang="en-GB" sz="1600" b="0" dirty="0">
                <a:effectLst/>
                <a:latin typeface="Consolas" panose="020B0609020204030204" pitchFamily="49" charset="0"/>
              </a:rPr>
              <a:t>, </a:t>
            </a:r>
            <a:r>
              <a:rPr lang="en-GB" sz="1600" b="0" dirty="0" err="1">
                <a:effectLst/>
                <a:latin typeface="Consolas" panose="020B0609020204030204" pitchFamily="49" charset="0"/>
              </a:rPr>
              <a:t>AvgPressure_per_Hour</a:t>
            </a:r>
            <a:r>
              <a:rPr lang="en-GB" sz="1600" b="0" dirty="0">
                <a:effectLst/>
                <a:latin typeface="Consolas" panose="020B0609020204030204" pitchFamily="49" charset="0"/>
              </a:rPr>
              <a:t>) </a:t>
            </a:r>
          </a:p>
          <a:p>
            <a:r>
              <a:rPr lang="en-GB" sz="1600" dirty="0">
                <a:latin typeface="Consolas" panose="020B0609020204030204" pitchFamily="49" charset="0"/>
              </a:rPr>
              <a:t>  </a:t>
            </a:r>
            <a:r>
              <a:rPr lang="en-GB" sz="1600" b="0" dirty="0">
                <a:effectLst/>
                <a:latin typeface="Consolas" panose="020B0609020204030204" pitchFamily="49" charset="0"/>
              </a:rPr>
              <a:t>for precise short-term forecasts.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Combine daily and seasonal averages for longer-term predictions.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Utilize correlations (e.g., Temperature vs. Apparent Temp 0.99, vs. Humidity -0.63) to refine models.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Employ variability metrics (</a:t>
            </a:r>
            <a:r>
              <a:rPr lang="en-GB" sz="1600" b="0" dirty="0" err="1">
                <a:effectLst/>
                <a:latin typeface="Consolas" panose="020B0609020204030204" pitchFamily="49" charset="0"/>
              </a:rPr>
              <a:t>Temp_std_per_Hour</a:t>
            </a:r>
            <a:r>
              <a:rPr lang="en-GB" sz="1600" b="0" dirty="0">
                <a:effectLst/>
                <a:latin typeface="Consolas" panose="020B0609020204030204" pitchFamily="49" charset="0"/>
              </a:rPr>
              <a:t>, </a:t>
            </a:r>
            <a:r>
              <a:rPr lang="en-GB" sz="1600" b="0" dirty="0" err="1">
                <a:effectLst/>
                <a:latin typeface="Consolas" panose="020B0609020204030204" pitchFamily="49" charset="0"/>
              </a:rPr>
              <a:t>Humidity_std_per_Hour</a:t>
            </a:r>
            <a:r>
              <a:rPr lang="en-GB" sz="1600" b="0" dirty="0">
                <a:effectLst/>
                <a:latin typeface="Consolas" panose="020B0609020204030204" pitchFamily="49" charset="0"/>
              </a:rPr>
              <a:t>) to anticipate extreme weather events.</a:t>
            </a:r>
          </a:p>
          <a:p>
            <a:br>
              <a:rPr lang="en-GB" sz="1600" b="0" dirty="0">
                <a:effectLst/>
                <a:latin typeface="Consolas" panose="020B0609020204030204" pitchFamily="49" charset="0"/>
              </a:rPr>
            </a:br>
            <a:r>
              <a:rPr lang="en-GB" b="1" dirty="0">
                <a:solidFill>
                  <a:srgbClr val="C00000"/>
                </a:solidFill>
                <a:effectLst/>
                <a:latin typeface="Consolas" panose="020B0609020204030204" pitchFamily="49" charset="0"/>
              </a:rPr>
              <a:t>6. </a:t>
            </a:r>
            <a:r>
              <a:rPr lang="en-GB" b="1" u="sng" dirty="0">
                <a:solidFill>
                  <a:srgbClr val="C00000"/>
                </a:solidFill>
                <a:effectLst/>
                <a:latin typeface="Consolas" panose="020B0609020204030204" pitchFamily="49" charset="0"/>
              </a:rPr>
              <a:t>Environmental &amp; Climate Impact</a:t>
            </a:r>
            <a:endParaRPr lang="en-GB" sz="1600" b="1" u="sng" dirty="0">
              <a:solidFill>
                <a:srgbClr val="C00000"/>
              </a:solidFill>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Identify areas with high </a:t>
            </a:r>
            <a:r>
              <a:rPr lang="en-GB" sz="1600" b="0" dirty="0" err="1">
                <a:effectLst/>
                <a:latin typeface="Consolas" panose="020B0609020204030204" pitchFamily="49" charset="0"/>
              </a:rPr>
              <a:t>Temp_std_per_Hour</a:t>
            </a:r>
            <a:r>
              <a:rPr lang="en-GB" sz="1600" b="0" dirty="0">
                <a:effectLst/>
                <a:latin typeface="Consolas" panose="020B0609020204030204" pitchFamily="49" charset="0"/>
              </a:rPr>
              <a:t> and </a:t>
            </a:r>
            <a:r>
              <a:rPr lang="en-GB" sz="1600" b="0" dirty="0" err="1">
                <a:effectLst/>
                <a:latin typeface="Consolas" panose="020B0609020204030204" pitchFamily="49" charset="0"/>
              </a:rPr>
              <a:t>Wind_Humidity_Impact</a:t>
            </a:r>
            <a:r>
              <a:rPr lang="en-GB" sz="1600" b="0" dirty="0">
                <a:effectLst/>
                <a:latin typeface="Consolas" panose="020B0609020204030204" pitchFamily="49" charset="0"/>
              </a:rPr>
              <a:t> to evaluate environmental risk zones.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Monitor extreme weather events to strengthen climate resilience policies.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Use variability and correlation metrics to improve early warning systems for environmental hazards.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Track pollution and weather patterns together for urban health and environmental planning.</a:t>
            </a:r>
          </a:p>
          <a:p>
            <a:br>
              <a:rPr lang="en-GB" sz="1600" b="0" dirty="0">
                <a:effectLst/>
                <a:latin typeface="Consolas" panose="020B0609020204030204" pitchFamily="49" charset="0"/>
              </a:rPr>
            </a:br>
            <a:endParaRPr lang="en-GB" sz="1600" b="0" dirty="0">
              <a:effectLst/>
              <a:latin typeface="Consolas" panose="020B0609020204030204" pitchFamily="49" charset="0"/>
            </a:endParaRPr>
          </a:p>
        </p:txBody>
      </p:sp>
    </p:spTree>
    <p:extLst>
      <p:ext uri="{BB962C8B-B14F-4D97-AF65-F5344CB8AC3E}">
        <p14:creationId xmlns:p14="http://schemas.microsoft.com/office/powerpoint/2010/main" val="186497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4108E3-700B-4A9F-A319-2EA3CBB14C29}"/>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9428"/>
            <a:ext cx="12192000" cy="6867427"/>
          </a:xfrm>
          <a:prstGeom prst="rect">
            <a:avLst/>
          </a:prstGeom>
        </p:spPr>
      </p:pic>
      <p:grpSp>
        <p:nvGrpSpPr>
          <p:cNvPr id="16" name="Group 15">
            <a:extLst>
              <a:ext uri="{FF2B5EF4-FFF2-40B4-BE49-F238E27FC236}">
                <a16:creationId xmlns:a16="http://schemas.microsoft.com/office/drawing/2014/main" id="{A89AF1FF-B803-4BF3-ADE6-36B82A9FF4F2}"/>
              </a:ext>
            </a:extLst>
          </p:cNvPr>
          <p:cNvGrpSpPr/>
          <p:nvPr/>
        </p:nvGrpSpPr>
        <p:grpSpPr>
          <a:xfrm>
            <a:off x="10026925" y="0"/>
            <a:ext cx="1931394" cy="2062480"/>
            <a:chOff x="980386" y="18857"/>
            <a:chExt cx="2055043" cy="2262260"/>
          </a:xfrm>
        </p:grpSpPr>
        <p:sp>
          <p:nvSpPr>
            <p:cNvPr id="17" name="Rectangle: Rounded Corners 16">
              <a:extLst>
                <a:ext uri="{FF2B5EF4-FFF2-40B4-BE49-F238E27FC236}">
                  <a16:creationId xmlns:a16="http://schemas.microsoft.com/office/drawing/2014/main" id="{14DFA0BA-E049-40EA-A1C0-780412BDA92C}"/>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F693377F-83E4-4E61-84F8-E4E478F34C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9" name="TextBox 18">
              <a:extLst>
                <a:ext uri="{FF2B5EF4-FFF2-40B4-BE49-F238E27FC236}">
                  <a16:creationId xmlns:a16="http://schemas.microsoft.com/office/drawing/2014/main" id="{5C7535C9-2717-4702-ACA3-812F45AC3280}"/>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11" name="Freeform: Shape 10">
            <a:extLst>
              <a:ext uri="{FF2B5EF4-FFF2-40B4-BE49-F238E27FC236}">
                <a16:creationId xmlns:a16="http://schemas.microsoft.com/office/drawing/2014/main" id="{87343BD0-8EFD-4360-A149-B36BF97A8745}"/>
              </a:ext>
            </a:extLst>
          </p:cNvPr>
          <p:cNvSpPr/>
          <p:nvPr/>
        </p:nvSpPr>
        <p:spPr>
          <a:xfrm>
            <a:off x="0" y="-29748"/>
            <a:ext cx="12192000" cy="6887748"/>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
        <p:nvSpPr>
          <p:cNvPr id="20" name="Title 2">
            <a:extLst>
              <a:ext uri="{FF2B5EF4-FFF2-40B4-BE49-F238E27FC236}">
                <a16:creationId xmlns:a16="http://schemas.microsoft.com/office/drawing/2014/main" id="{0FFC62EF-566C-4B5F-B504-2B271741AF63}"/>
              </a:ext>
            </a:extLst>
          </p:cNvPr>
          <p:cNvSpPr txBox="1">
            <a:spLocks/>
          </p:cNvSpPr>
          <p:nvPr/>
        </p:nvSpPr>
        <p:spPr>
          <a:xfrm>
            <a:off x="351069" y="135020"/>
            <a:ext cx="10262586" cy="668243"/>
          </a:xfrm>
          <a:prstGeom prst="rect">
            <a:avLst/>
          </a:prstGeom>
        </p:spPr>
        <p:txBody>
          <a:bodyPr vert="horz" lIns="91440" tIns="0" rIns="91440" bIns="0" rtlCol="0" anchor="b"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all" spc="0" normalizeH="0" baseline="0" noProof="0" dirty="0">
                <a:ln>
                  <a:noFill/>
                </a:ln>
                <a:solidFill>
                  <a:srgbClr val="1F2C8F"/>
                </a:solidFill>
                <a:effectLst/>
                <a:uLnTx/>
                <a:uFillTx/>
                <a:latin typeface="Arial Black"/>
                <a:ea typeface="+mj-ea"/>
                <a:cs typeface="+mj-cs"/>
              </a:rPr>
              <a:t>RECOMMENDATIONS</a:t>
            </a:r>
            <a:endParaRPr kumimoji="0" lang="en-US" sz="3200" b="1" i="0" u="none" strike="noStrike" kern="1200" cap="all" spc="0" normalizeH="0" baseline="0" noProof="0" dirty="0">
              <a:ln>
                <a:noFill/>
              </a:ln>
              <a:solidFill>
                <a:srgbClr val="002060"/>
              </a:solidFill>
              <a:effectLst/>
              <a:uLnTx/>
              <a:uFillTx/>
              <a:latin typeface="Arial Black"/>
              <a:ea typeface="+mj-ea"/>
              <a:cs typeface="+mj-cs"/>
            </a:endParaRPr>
          </a:p>
        </p:txBody>
      </p:sp>
      <p:sp>
        <p:nvSpPr>
          <p:cNvPr id="12" name="TextBox 11">
            <a:extLst>
              <a:ext uri="{FF2B5EF4-FFF2-40B4-BE49-F238E27FC236}">
                <a16:creationId xmlns:a16="http://schemas.microsoft.com/office/drawing/2014/main" id="{2739F8E9-45DB-404A-BB3D-605330BD4D2E}"/>
              </a:ext>
            </a:extLst>
          </p:cNvPr>
          <p:cNvSpPr txBox="1"/>
          <p:nvPr/>
        </p:nvSpPr>
        <p:spPr>
          <a:xfrm>
            <a:off x="351069" y="823583"/>
            <a:ext cx="11363411" cy="5816977"/>
          </a:xfrm>
          <a:prstGeom prst="rect">
            <a:avLst/>
          </a:prstGeom>
          <a:noFill/>
        </p:spPr>
        <p:txBody>
          <a:bodyPr wrap="square">
            <a:spAutoFit/>
          </a:bodyPr>
          <a:lstStyle/>
          <a:p>
            <a:r>
              <a:rPr lang="en-GB" b="1" dirty="0">
                <a:solidFill>
                  <a:srgbClr val="C00000"/>
                </a:solidFill>
                <a:effectLst/>
                <a:latin typeface="Consolas" panose="020B0609020204030204" pitchFamily="49" charset="0"/>
              </a:rPr>
              <a:t>7. </a:t>
            </a:r>
            <a:r>
              <a:rPr lang="en-GB" b="1" u="sng" dirty="0">
                <a:solidFill>
                  <a:srgbClr val="C00000"/>
                </a:solidFill>
                <a:effectLst/>
                <a:latin typeface="Consolas" panose="020B0609020204030204" pitchFamily="49" charset="0"/>
              </a:rPr>
              <a:t>Community Engagement &amp; Awareness</a:t>
            </a:r>
            <a:endParaRPr lang="en-GB" sz="1600" b="1" u="sng" dirty="0">
              <a:solidFill>
                <a:srgbClr val="C00000"/>
              </a:solidFill>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Provide real-time dashboards for public weather alerts and forecasts.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Educate citizens on interpreting weather metrics and warnings.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Collaborate with local agencies for rapid response to extreme weather.</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Encourage community reporting of unusual weather phenomena to improve dataset accuracy.</a:t>
            </a:r>
          </a:p>
          <a:p>
            <a:br>
              <a:rPr lang="en-GB" sz="1600" b="0" dirty="0">
                <a:effectLst/>
                <a:latin typeface="Consolas" panose="020B0609020204030204" pitchFamily="49" charset="0"/>
              </a:rPr>
            </a:br>
            <a:r>
              <a:rPr lang="en-GB" b="1" dirty="0">
                <a:solidFill>
                  <a:srgbClr val="C00000"/>
                </a:solidFill>
                <a:effectLst/>
                <a:latin typeface="Consolas" panose="020B0609020204030204" pitchFamily="49" charset="0"/>
              </a:rPr>
              <a:t>8. </a:t>
            </a:r>
            <a:r>
              <a:rPr lang="en-GB" b="1" u="sng" dirty="0">
                <a:solidFill>
                  <a:srgbClr val="C00000"/>
                </a:solidFill>
                <a:effectLst/>
                <a:latin typeface="Consolas" panose="020B0609020204030204" pitchFamily="49" charset="0"/>
              </a:rPr>
              <a:t>Key Takeaways for Action</a:t>
            </a:r>
            <a:endParaRPr lang="en-GB" sz="1600" b="1" u="sng" dirty="0">
              <a:solidFill>
                <a:srgbClr val="C00000"/>
              </a:solidFill>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Always track Temperature and Apparent Temperature together; they are the most predictive variables.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Humidity patterns strongly affect comfort, visibility, and environmental conditions.</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Hourly and daily averages are crucial for accurate forecasting.</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Monitor wind and visibility in real-time for transport safety.</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Precipitation, </a:t>
            </a:r>
            <a:r>
              <a:rPr lang="en-GB" sz="1600" b="0" dirty="0" err="1">
                <a:effectLst/>
                <a:latin typeface="Consolas" panose="020B0609020204030204" pitchFamily="49" charset="0"/>
              </a:rPr>
              <a:t>Temp_Diff</a:t>
            </a:r>
            <a:r>
              <a:rPr lang="en-GB" sz="1600" b="0" dirty="0">
                <a:effectLst/>
                <a:latin typeface="Consolas" panose="020B0609020204030204" pitchFamily="49" charset="0"/>
              </a:rPr>
              <a:t>, and </a:t>
            </a:r>
            <a:r>
              <a:rPr lang="en-GB" sz="1600" b="0" dirty="0" err="1">
                <a:effectLst/>
                <a:latin typeface="Consolas" panose="020B0609020204030204" pitchFamily="49" charset="0"/>
              </a:rPr>
              <a:t>Wind_Humidity_Impact</a:t>
            </a:r>
            <a:r>
              <a:rPr lang="en-GB" sz="1600" b="0" dirty="0">
                <a:effectLst/>
                <a:latin typeface="Consolas" panose="020B0609020204030204" pitchFamily="49" charset="0"/>
              </a:rPr>
              <a:t> metrics help predict extreme weather severity.</a:t>
            </a:r>
          </a:p>
          <a:p>
            <a:pPr marL="285750" indent="-285750">
              <a:buFont typeface="Wingdings" panose="05000000000000000000" pitchFamily="2" charset="2"/>
              <a:buChar char="q"/>
            </a:pPr>
            <a:endParaRPr lang="en-GB" sz="1600" b="0" dirty="0">
              <a:effectLst/>
              <a:latin typeface="Consolas" panose="020B0609020204030204" pitchFamily="49" charset="0"/>
            </a:endParaRPr>
          </a:p>
          <a:p>
            <a:pPr marL="285750" indent="-285750">
              <a:buFont typeface="Wingdings" panose="05000000000000000000" pitchFamily="2" charset="2"/>
              <a:buChar char="q"/>
            </a:pPr>
            <a:r>
              <a:rPr lang="en-GB" sz="1600" b="0" dirty="0">
                <a:effectLst/>
                <a:latin typeface="Consolas" panose="020B0609020204030204" pitchFamily="49" charset="0"/>
              </a:rPr>
              <a:t>Implement data-driven monitoring systems to improve public safety, seasonal planning, and resilience.</a:t>
            </a:r>
          </a:p>
        </p:txBody>
      </p:sp>
    </p:spTree>
    <p:extLst>
      <p:ext uri="{BB962C8B-B14F-4D97-AF65-F5344CB8AC3E}">
        <p14:creationId xmlns:p14="http://schemas.microsoft.com/office/powerpoint/2010/main" val="2747582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3DAC2101-CE35-6065-B114-2DB6D5F5D4B9}"/>
              </a:ext>
            </a:extLst>
          </p:cNvPr>
          <p:cNvSpPr>
            <a:spLocks noGrp="1"/>
          </p:cNvSpPr>
          <p:nvPr>
            <p:ph type="ctrTitle"/>
          </p:nvPr>
        </p:nvSpPr>
        <p:spPr>
          <a:xfrm>
            <a:off x="2914391" y="2641600"/>
            <a:ext cx="6342896" cy="1574800"/>
          </a:xfrm>
        </p:spPr>
        <p:txBody>
          <a:bodyPr/>
          <a:lstStyle/>
          <a:p>
            <a:r>
              <a:rPr lang="en-US" sz="7200" b="1" dirty="0"/>
              <a:t>THANK YOU</a:t>
            </a:r>
            <a:br>
              <a:rPr lang="en-US" sz="7200" b="1" dirty="0"/>
            </a:br>
            <a:r>
              <a:rPr lang="en-US" sz="2400" b="1" dirty="0"/>
              <a:t>- End of Slide</a:t>
            </a:r>
            <a:endParaRPr lang="en-US" sz="7200" b="1" dirty="0"/>
          </a:p>
        </p:txBody>
      </p:sp>
      <p:sp>
        <p:nvSpPr>
          <p:cNvPr id="13" name="Subtitle 12">
            <a:extLst>
              <a:ext uri="{FF2B5EF4-FFF2-40B4-BE49-F238E27FC236}">
                <a16:creationId xmlns:a16="http://schemas.microsoft.com/office/drawing/2014/main" id="{33693D95-5724-F0FE-E4CC-0590AB45C9A1}"/>
              </a:ext>
            </a:extLst>
          </p:cNvPr>
          <p:cNvSpPr>
            <a:spLocks noGrp="1"/>
          </p:cNvSpPr>
          <p:nvPr>
            <p:ph type="subTitle" idx="1"/>
          </p:nvPr>
        </p:nvSpPr>
        <p:spPr>
          <a:xfrm>
            <a:off x="3598225" y="320611"/>
            <a:ext cx="4975229" cy="690880"/>
          </a:xfrm>
        </p:spPr>
        <p:txBody>
          <a:bodyPr>
            <a:normAutofit/>
          </a:bodyPr>
          <a:lstStyle/>
          <a:p>
            <a:pPr marL="0" algn="ctr" rtl="0" eaLnBrk="1" latinLnBrk="0" hangingPunct="1">
              <a:spcBef>
                <a:spcPts val="0"/>
              </a:spcBef>
              <a:spcAft>
                <a:spcPts val="0"/>
              </a:spcAft>
            </a:pPr>
            <a:r>
              <a:rPr lang="en-US" sz="3600" b="1" kern="1200" dirty="0">
                <a:solidFill>
                  <a:srgbClr val="000000"/>
                </a:solidFill>
                <a:effectLst>
                  <a:outerShdw blurRad="38100" dist="38100" dir="2700000" algn="tl" rotWithShape="0">
                    <a:srgbClr val="000000">
                      <a:alpha val="43000"/>
                    </a:srgbClr>
                  </a:outerShdw>
                </a:effectLst>
                <a:latin typeface="Curlz MT" panose="04040404050702020202" pitchFamily="82" charset="0"/>
                <a:ea typeface="+mn-ea"/>
                <a:cs typeface="+mn-cs"/>
              </a:rPr>
              <a:t>Weather Impact Analysis </a:t>
            </a:r>
            <a:endParaRPr lang="en-US" sz="3600" dirty="0">
              <a:effectLst/>
            </a:endParaRPr>
          </a:p>
        </p:txBody>
      </p:sp>
      <p:sp>
        <p:nvSpPr>
          <p:cNvPr id="7" name="Rectangle: Diagonal Corners Rounded 6">
            <a:extLst>
              <a:ext uri="{FF2B5EF4-FFF2-40B4-BE49-F238E27FC236}">
                <a16:creationId xmlns:a16="http://schemas.microsoft.com/office/drawing/2014/main" id="{E0D439D8-3545-4251-8BE3-23B7DC377ACE}"/>
              </a:ext>
            </a:extLst>
          </p:cNvPr>
          <p:cNvSpPr/>
          <p:nvPr/>
        </p:nvSpPr>
        <p:spPr>
          <a:xfrm>
            <a:off x="10263066" y="5995575"/>
            <a:ext cx="1847654" cy="792480"/>
          </a:xfrm>
          <a:prstGeom prst="round2DiagRect">
            <a:avLst>
              <a:gd name="adj1" fmla="val 50000"/>
              <a:gd name="adj2" fmla="val 20940"/>
            </a:avLst>
          </a:prstGeom>
          <a:solidFill>
            <a:schemeClr val="tx1">
              <a:lumMod val="95000"/>
              <a:lumOff val="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Presented By</a:t>
            </a:r>
          </a:p>
          <a:p>
            <a:pPr algn="ctr"/>
            <a:r>
              <a:rPr lang="en-US" b="1" dirty="0"/>
              <a:t>MDZ</a:t>
            </a:r>
          </a:p>
        </p:txBody>
      </p:sp>
      <p:grpSp>
        <p:nvGrpSpPr>
          <p:cNvPr id="8" name="Group 7">
            <a:extLst>
              <a:ext uri="{FF2B5EF4-FFF2-40B4-BE49-F238E27FC236}">
                <a16:creationId xmlns:a16="http://schemas.microsoft.com/office/drawing/2014/main" id="{D92AC20A-BF7B-4458-94E9-AF34C91142B6}"/>
              </a:ext>
            </a:extLst>
          </p:cNvPr>
          <p:cNvGrpSpPr/>
          <p:nvPr/>
        </p:nvGrpSpPr>
        <p:grpSpPr>
          <a:xfrm>
            <a:off x="10016765" y="-121920"/>
            <a:ext cx="1931394" cy="2062480"/>
            <a:chOff x="980386" y="18857"/>
            <a:chExt cx="2055043" cy="2262260"/>
          </a:xfrm>
        </p:grpSpPr>
        <p:sp>
          <p:nvSpPr>
            <p:cNvPr id="9" name="Rectangle: Rounded Corners 8">
              <a:extLst>
                <a:ext uri="{FF2B5EF4-FFF2-40B4-BE49-F238E27FC236}">
                  <a16:creationId xmlns:a16="http://schemas.microsoft.com/office/drawing/2014/main" id="{850A454A-99A6-4D76-B189-D8762B3ED38F}"/>
                </a:ext>
              </a:extLst>
            </p:cNvPr>
            <p:cNvSpPr/>
            <p:nvPr/>
          </p:nvSpPr>
          <p:spPr>
            <a:xfrm>
              <a:off x="980386" y="18857"/>
              <a:ext cx="2055043" cy="2215296"/>
            </a:xfrm>
            <a:prstGeom prst="roundRect">
              <a:avLst>
                <a:gd name="adj" fmla="val 291"/>
              </a:avLst>
            </a:prstGeom>
            <a:ln w="9525">
              <a:solidFill>
                <a:schemeClr val="bg1">
                  <a:lumMod val="9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C228A4C4-F6BD-4C9B-92CA-0D4536966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5291" y="166957"/>
              <a:ext cx="1805234" cy="1709621"/>
            </a:xfrm>
            <a:prstGeom prst="rect">
              <a:avLst/>
            </a:prstGeom>
            <a:ln w="9525">
              <a:solidFill>
                <a:schemeClr val="tx1"/>
              </a:solidFill>
            </a:ln>
          </p:spPr>
        </p:pic>
        <p:sp>
          <p:nvSpPr>
            <p:cNvPr id="11" name="TextBox 10">
              <a:extLst>
                <a:ext uri="{FF2B5EF4-FFF2-40B4-BE49-F238E27FC236}">
                  <a16:creationId xmlns:a16="http://schemas.microsoft.com/office/drawing/2014/main" id="{C36902A5-D4D6-472A-89C1-4D030986B313}"/>
                </a:ext>
              </a:extLst>
            </p:cNvPr>
            <p:cNvSpPr txBox="1"/>
            <p:nvPr/>
          </p:nvSpPr>
          <p:spPr>
            <a:xfrm>
              <a:off x="980386" y="1518858"/>
              <a:ext cx="2055042" cy="762259"/>
            </a:xfrm>
            <a:prstGeom prst="rect">
              <a:avLst/>
            </a:prstGeom>
            <a:noFill/>
            <a:ln w="9525">
              <a:noFill/>
            </a:ln>
          </p:spPr>
          <p:txBody>
            <a:bodyPr wrap="square" rtlCol="0">
              <a:spAutoFit/>
            </a:bodyPr>
            <a:lstStyle/>
            <a:p>
              <a:pPr algn="ctr"/>
              <a:r>
                <a:rPr lang="en-GB" b="1" dirty="0">
                  <a:solidFill>
                    <a:schemeClr val="bg1"/>
                  </a:solidFill>
                  <a:highlight>
                    <a:srgbClr val="000080"/>
                  </a:highlight>
                  <a:latin typeface="Candara" panose="020E0502030303020204" pitchFamily="34" charset="0"/>
                </a:rPr>
                <a:t>Weather Impact </a:t>
              </a:r>
              <a:r>
                <a:rPr lang="en-GB" b="1" dirty="0">
                  <a:solidFill>
                    <a:schemeClr val="bg1"/>
                  </a:solidFill>
                  <a:latin typeface="Candara" panose="020E0502030303020204" pitchFamily="34" charset="0"/>
                </a:rPr>
                <a:t>&amp; Forecast</a:t>
              </a:r>
              <a:endParaRPr lang="en-US" b="1" dirty="0">
                <a:solidFill>
                  <a:schemeClr val="bg1"/>
                </a:solidFill>
                <a:latin typeface="Candara" panose="020E0502030303020204" pitchFamily="34" charset="0"/>
              </a:endParaRPr>
            </a:p>
          </p:txBody>
        </p:sp>
      </p:grpSp>
      <p:sp>
        <p:nvSpPr>
          <p:cNvPr id="4" name="Freeform: Shape 3">
            <a:extLst>
              <a:ext uri="{FF2B5EF4-FFF2-40B4-BE49-F238E27FC236}">
                <a16:creationId xmlns:a16="http://schemas.microsoft.com/office/drawing/2014/main" id="{952437EB-DB5C-428C-B96B-1C952B0364E2}"/>
              </a:ext>
            </a:extLst>
          </p:cNvPr>
          <p:cNvSpPr/>
          <p:nvPr/>
        </p:nvSpPr>
        <p:spPr>
          <a:xfrm>
            <a:off x="-152400" y="-132080"/>
            <a:ext cx="12476480" cy="7101840"/>
          </a:xfrm>
          <a:custGeom>
            <a:avLst/>
            <a:gdLst>
              <a:gd name="connsiteX0" fmla="*/ 177842 w 12192000"/>
              <a:gd name="connsiteY0" fmla="*/ 60228 h 6867427"/>
              <a:gd name="connsiteX1" fmla="*/ 50800 w 12192000"/>
              <a:gd name="connsiteY1" fmla="*/ 187270 h 6867427"/>
              <a:gd name="connsiteX2" fmla="*/ 50800 w 12192000"/>
              <a:gd name="connsiteY2" fmla="*/ 6669265 h 6867427"/>
              <a:gd name="connsiteX3" fmla="*/ 177842 w 12192000"/>
              <a:gd name="connsiteY3" fmla="*/ 6796307 h 6867427"/>
              <a:gd name="connsiteX4" fmla="*/ 12024318 w 12192000"/>
              <a:gd name="connsiteY4" fmla="*/ 6796307 h 6867427"/>
              <a:gd name="connsiteX5" fmla="*/ 12151360 w 12192000"/>
              <a:gd name="connsiteY5" fmla="*/ 6669265 h 6867427"/>
              <a:gd name="connsiteX6" fmla="*/ 12151360 w 12192000"/>
              <a:gd name="connsiteY6" fmla="*/ 187270 h 6867427"/>
              <a:gd name="connsiteX7" fmla="*/ 12024318 w 12192000"/>
              <a:gd name="connsiteY7" fmla="*/ 60228 h 6867427"/>
              <a:gd name="connsiteX8" fmla="*/ 0 w 12192000"/>
              <a:gd name="connsiteY8" fmla="*/ 0 h 6867427"/>
              <a:gd name="connsiteX9" fmla="*/ 12192000 w 12192000"/>
              <a:gd name="connsiteY9" fmla="*/ 0 h 6867427"/>
              <a:gd name="connsiteX10" fmla="*/ 12192000 w 12192000"/>
              <a:gd name="connsiteY10" fmla="*/ 6867427 h 6867427"/>
              <a:gd name="connsiteX11" fmla="*/ 0 w 12192000"/>
              <a:gd name="connsiteY11" fmla="*/ 6867427 h 686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67427">
                <a:moveTo>
                  <a:pt x="177842" y="60228"/>
                </a:moveTo>
                <a:cubicBezTo>
                  <a:pt x="107679" y="60228"/>
                  <a:pt x="50800" y="117107"/>
                  <a:pt x="50800" y="187270"/>
                </a:cubicBezTo>
                <a:lnTo>
                  <a:pt x="50800" y="6669265"/>
                </a:lnTo>
                <a:cubicBezTo>
                  <a:pt x="50800" y="6739428"/>
                  <a:pt x="107679" y="6796307"/>
                  <a:pt x="177842" y="6796307"/>
                </a:cubicBezTo>
                <a:lnTo>
                  <a:pt x="12024318" y="6796307"/>
                </a:lnTo>
                <a:cubicBezTo>
                  <a:pt x="12094481" y="6796307"/>
                  <a:pt x="12151360" y="6739428"/>
                  <a:pt x="12151360" y="6669265"/>
                </a:cubicBezTo>
                <a:lnTo>
                  <a:pt x="12151360" y="187270"/>
                </a:lnTo>
                <a:cubicBezTo>
                  <a:pt x="12151360" y="117107"/>
                  <a:pt x="12094481" y="60228"/>
                  <a:pt x="12024318" y="60228"/>
                </a:cubicBezTo>
                <a:close/>
                <a:moveTo>
                  <a:pt x="0" y="0"/>
                </a:moveTo>
                <a:lnTo>
                  <a:pt x="12192000" y="0"/>
                </a:lnTo>
                <a:lnTo>
                  <a:pt x="12192000" y="6867427"/>
                </a:lnTo>
                <a:lnTo>
                  <a:pt x="0" y="6867427"/>
                </a:lnTo>
                <a:close/>
              </a:path>
            </a:pathLst>
          </a:custGeom>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94657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2930</Words>
  <Application>Microsoft Office PowerPoint</Application>
  <PresentationFormat>Widescreen</PresentationFormat>
  <Paragraphs>333</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Black</vt:lpstr>
      <vt:lpstr>Calibri</vt:lpstr>
      <vt:lpstr>Calibri Light</vt:lpstr>
      <vt:lpstr>Candara</vt:lpstr>
      <vt:lpstr>Consolas</vt:lpstr>
      <vt:lpstr>Courier New</vt:lpstr>
      <vt:lpstr>Curlz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 End of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INDN</dc:creator>
  <cp:lastModifiedBy>M INDN</cp:lastModifiedBy>
  <cp:revision>52</cp:revision>
  <dcterms:created xsi:type="dcterms:W3CDTF">2025-10-14T05:05:13Z</dcterms:created>
  <dcterms:modified xsi:type="dcterms:W3CDTF">2025-10-16T06:50:54Z</dcterms:modified>
</cp:coreProperties>
</file>